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283aed1c564039" /><Relationship Type="http://schemas.openxmlformats.org/officeDocument/2006/relationships/extended-properties" Target="/docProps/app.xml" Id="R92b3b7759e8846f5" /><Relationship Type="http://schemas.openxmlformats.org/officeDocument/2006/relationships/officeDocument" Target="/ppt/presentation.xml" Id="R5357d732408c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b93bdef57744f3"/>
  </p:sldMasterIdLst>
  <p:notesMasterIdLst>
    <p:notesMasterId xmlns:r="http://schemas.openxmlformats.org/officeDocument/2006/relationships" r:id="R508f8870680649ac"/>
  </p:notesMasterIdLst>
  <p:sldIdLst>
    <p:sldId xmlns:r="http://schemas.openxmlformats.org/officeDocument/2006/relationships" id="256" r:id="Rdb7bb7b06c104019"/>
    <p:sldId xmlns:r="http://schemas.openxmlformats.org/officeDocument/2006/relationships" id="257" r:id="R622e5b791ddd4cdb"/>
    <p:sldId xmlns:r="http://schemas.openxmlformats.org/officeDocument/2006/relationships" id="258" r:id="Rf4e23462bd6f445b"/>
    <p:sldId xmlns:r="http://schemas.openxmlformats.org/officeDocument/2006/relationships" id="259" r:id="R12c746dfbad54e90"/>
    <p:sldId xmlns:r="http://schemas.openxmlformats.org/officeDocument/2006/relationships" id="260" r:id="R875e8d6f36514f4b"/>
    <p:sldId xmlns:r="http://schemas.openxmlformats.org/officeDocument/2006/relationships" id="261" r:id="R98bbfc51a90c4792"/>
    <p:sldId xmlns:r="http://schemas.openxmlformats.org/officeDocument/2006/relationships" id="262" r:id="Ra0d7b60b3c8544fc"/>
    <p:sldId xmlns:r="http://schemas.openxmlformats.org/officeDocument/2006/relationships" id="263" r:id="Rcb2f028d903a4423"/>
    <p:sldId xmlns:r="http://schemas.openxmlformats.org/officeDocument/2006/relationships" id="264" r:id="R67ca7388c8934db1"/>
    <p:sldId xmlns:r="http://schemas.openxmlformats.org/officeDocument/2006/relationships" id="265" r:id="Rc884772c80aa41b0"/>
    <p:sldId xmlns:r="http://schemas.openxmlformats.org/officeDocument/2006/relationships" id="266" r:id="Rf23b55876df54da2"/>
    <p:sldId xmlns:r="http://schemas.openxmlformats.org/officeDocument/2006/relationships" id="267" r:id="R45a153aeec584a7d"/>
    <p:sldId xmlns:r="http://schemas.openxmlformats.org/officeDocument/2006/relationships" id="268" r:id="Rf52e78d134934c44"/>
    <p:sldId xmlns:r="http://schemas.openxmlformats.org/officeDocument/2006/relationships" id="269" r:id="Re10e926087aa4b3c"/>
    <p:sldId xmlns:r="http://schemas.openxmlformats.org/officeDocument/2006/relationships" id="270" r:id="Rb9f7b9bf48aa46f2"/>
    <p:sldId xmlns:r="http://schemas.openxmlformats.org/officeDocument/2006/relationships" id="271" r:id="Rd21b282dfbc146ff"/>
    <p:sldId xmlns:r="http://schemas.openxmlformats.org/officeDocument/2006/relationships" id="272" r:id="Ra160b9a5bf3a4f98"/>
    <p:sldId xmlns:r="http://schemas.openxmlformats.org/officeDocument/2006/relationships" id="273" r:id="R2d5d8c3ee45b490d"/>
    <p:sldId xmlns:r="http://schemas.openxmlformats.org/officeDocument/2006/relationships" id="274" r:id="R50bde22b633545e0"/>
    <p:sldId xmlns:r="http://schemas.openxmlformats.org/officeDocument/2006/relationships" id="275" r:id="Rc67b12bf3a874938"/>
    <p:sldId xmlns:r="http://schemas.openxmlformats.org/officeDocument/2006/relationships" id="276" r:id="R78936e1894074be4"/>
    <p:sldId xmlns:r="http://schemas.openxmlformats.org/officeDocument/2006/relationships" id="277" r:id="Rd57a73f2f61346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cd347ac48c4d24" /><Relationship Type="http://schemas.openxmlformats.org/officeDocument/2006/relationships/slideMaster" Target="/ppt/slideMasters/slideMaster1.xml" Id="R8cb93bdef57744f3" /><Relationship Type="http://schemas.openxmlformats.org/officeDocument/2006/relationships/notesMaster" Target="/ppt/notesMasters/notesMaster1.xml" Id="R508f8870680649ac" /><Relationship Type="http://schemas.openxmlformats.org/officeDocument/2006/relationships/presProps" Target="/ppt/presProps.xml" Id="R1a5942ca8fdb43c4" /><Relationship Type="http://schemas.openxmlformats.org/officeDocument/2006/relationships/tableStyles" Target="/ppt/tableStyles.xml" Id="R8cf2bdc0f7dd49fa" /><Relationship Type="http://schemas.openxmlformats.org/officeDocument/2006/relationships/slide" Target="/ppt/slides/slide1.xml" Id="Rdb7bb7b06c104019" /><Relationship Type="http://schemas.openxmlformats.org/officeDocument/2006/relationships/slide" Target="/ppt/slides/slide2.xml" Id="R622e5b791ddd4cdb" /><Relationship Type="http://schemas.openxmlformats.org/officeDocument/2006/relationships/slide" Target="/ppt/slides/slide3.xml" Id="Rf4e23462bd6f445b" /><Relationship Type="http://schemas.openxmlformats.org/officeDocument/2006/relationships/slide" Target="/ppt/slides/slide4.xml" Id="R12c746dfbad54e90" /><Relationship Type="http://schemas.openxmlformats.org/officeDocument/2006/relationships/slide" Target="/ppt/slides/slide5.xml" Id="R875e8d6f36514f4b" /><Relationship Type="http://schemas.openxmlformats.org/officeDocument/2006/relationships/slide" Target="/ppt/slides/slide6.xml" Id="R98bbfc51a90c4792" /><Relationship Type="http://schemas.openxmlformats.org/officeDocument/2006/relationships/slide" Target="/ppt/slides/slide7.xml" Id="Ra0d7b60b3c8544fc" /><Relationship Type="http://schemas.openxmlformats.org/officeDocument/2006/relationships/slide" Target="/ppt/slides/slide8.xml" Id="Rcb2f028d903a4423" /><Relationship Type="http://schemas.openxmlformats.org/officeDocument/2006/relationships/slide" Target="/ppt/slides/slide9.xml" Id="R67ca7388c8934db1" /><Relationship Type="http://schemas.openxmlformats.org/officeDocument/2006/relationships/slide" Target="/ppt/slides/slide10.xml" Id="Rc884772c80aa41b0" /><Relationship Type="http://schemas.openxmlformats.org/officeDocument/2006/relationships/slide" Target="/ppt/slides/slide11.xml" Id="Rf23b55876df54da2" /><Relationship Type="http://schemas.openxmlformats.org/officeDocument/2006/relationships/slide" Target="/ppt/slides/slide12.xml" Id="R45a153aeec584a7d" /><Relationship Type="http://schemas.openxmlformats.org/officeDocument/2006/relationships/slide" Target="/ppt/slides/slide13.xml" Id="Rf52e78d134934c44" /><Relationship Type="http://schemas.openxmlformats.org/officeDocument/2006/relationships/slide" Target="/ppt/slides/slide14.xml" Id="Re10e926087aa4b3c" /><Relationship Type="http://schemas.openxmlformats.org/officeDocument/2006/relationships/slide" Target="/ppt/slides/slide15.xml" Id="Rb9f7b9bf48aa46f2" /><Relationship Type="http://schemas.openxmlformats.org/officeDocument/2006/relationships/slide" Target="/ppt/slides/slide16.xml" Id="Rd21b282dfbc146ff" /><Relationship Type="http://schemas.openxmlformats.org/officeDocument/2006/relationships/slide" Target="/ppt/slides/slide17.xml" Id="Ra160b9a5bf3a4f98" /><Relationship Type="http://schemas.openxmlformats.org/officeDocument/2006/relationships/slide" Target="/ppt/slides/slide18.xml" Id="R2d5d8c3ee45b490d" /><Relationship Type="http://schemas.openxmlformats.org/officeDocument/2006/relationships/slide" Target="/ppt/slides/slide19.xml" Id="R50bde22b633545e0" /><Relationship Type="http://schemas.openxmlformats.org/officeDocument/2006/relationships/slide" Target="/ppt/slides/slide20.xml" Id="Rc67b12bf3a874938" /><Relationship Type="http://schemas.openxmlformats.org/officeDocument/2006/relationships/slide" Target="/ppt/slides/slide21.xml" Id="R78936e1894074be4" /><Relationship Type="http://schemas.openxmlformats.org/officeDocument/2006/relationships/slide" Target="/ppt/slides/slide22.xml" Id="Rd57a73f2f61346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23caeb69a741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30d56c2ec94a19" /><Relationship Type="http://schemas.openxmlformats.org/officeDocument/2006/relationships/notesMaster" Target="/ppt/notesMasters/notesMaster1.xml" Id="Rb589749e77e04a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def65278564a16" /><Relationship Type="http://schemas.openxmlformats.org/officeDocument/2006/relationships/notesMaster" Target="/ppt/notesMasters/notesMaster1.xml" Id="R523e932eedfb42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1685995d6c4f84" /><Relationship Type="http://schemas.openxmlformats.org/officeDocument/2006/relationships/notesMaster" Target="/ppt/notesMasters/notesMaster1.xml" Id="R8aebe9c1500645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6ac87efc9c4922" /><Relationship Type="http://schemas.openxmlformats.org/officeDocument/2006/relationships/notesMaster" Target="/ppt/notesMasters/notesMaster1.xml" Id="R5f746ad1b2cf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5df67be00441a0" /><Relationship Type="http://schemas.openxmlformats.org/officeDocument/2006/relationships/notesMaster" Target="/ppt/notesMasters/notesMaster1.xml" Id="R390f72b2b6424e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d8396063a84785" /><Relationship Type="http://schemas.openxmlformats.org/officeDocument/2006/relationships/notesMaster" Target="/ppt/notesMasters/notesMaster1.xml" Id="R30ab09f2af6e47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1c1f23a7474cb0" /><Relationship Type="http://schemas.openxmlformats.org/officeDocument/2006/relationships/notesMaster" Target="/ppt/notesMasters/notesMaster1.xml" Id="Ra9c70369bd3f4e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4f3c63fcbc4671" /><Relationship Type="http://schemas.openxmlformats.org/officeDocument/2006/relationships/notesMaster" Target="/ppt/notesMasters/notesMaster1.xml" Id="R8c1fee917e334a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caf9c9cf654c19" /><Relationship Type="http://schemas.openxmlformats.org/officeDocument/2006/relationships/notesMaster" Target="/ppt/notesMasters/notesMaster1.xml" Id="R4263560f61424f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a147cf2ea346ee" /><Relationship Type="http://schemas.openxmlformats.org/officeDocument/2006/relationships/notesMaster" Target="/ppt/notesMasters/notesMaster1.xml" Id="R9fde45c4cfd749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216f14a6e246a4" /><Relationship Type="http://schemas.openxmlformats.org/officeDocument/2006/relationships/notesMaster" Target="/ppt/notesMasters/notesMaster1.xml" Id="Redc2959f1f3a4a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8b8d57c1984d5a" /><Relationship Type="http://schemas.openxmlformats.org/officeDocument/2006/relationships/notesMaster" Target="/ppt/notesMasters/notesMaster1.xml" Id="R9601ee1239a84c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9f932ff4844467" /><Relationship Type="http://schemas.openxmlformats.org/officeDocument/2006/relationships/notesMaster" Target="/ppt/notesMasters/notesMaster1.xml" Id="Ref20504ed87e4d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1476ee471641b3" /><Relationship Type="http://schemas.openxmlformats.org/officeDocument/2006/relationships/notesMaster" Target="/ppt/notesMasters/notesMaster1.xml" Id="Ra5ee4718f80b41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09d46a21fe4d30" /><Relationship Type="http://schemas.openxmlformats.org/officeDocument/2006/relationships/notesMaster" Target="/ppt/notesMasters/notesMaster1.xml" Id="R1c67a46ceff540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6d60c8b95754052" /><Relationship Type="http://schemas.openxmlformats.org/officeDocument/2006/relationships/notesMaster" Target="/ppt/notesMasters/notesMaster1.xml" Id="R16b227dbe13f40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21535b2a9940d7" /><Relationship Type="http://schemas.openxmlformats.org/officeDocument/2006/relationships/notesMaster" Target="/ppt/notesMasters/notesMaster1.xml" Id="R8ee52d2f5ba443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1e4976ae4245b7" /><Relationship Type="http://schemas.openxmlformats.org/officeDocument/2006/relationships/notesMaster" Target="/ppt/notesMasters/notesMaster1.xml" Id="R27d147ba3d284f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10f63bd0e34a76" /><Relationship Type="http://schemas.openxmlformats.org/officeDocument/2006/relationships/notesMaster" Target="/ppt/notesMasters/notesMaster1.xml" Id="R31abad4b764045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346487d3914035" /><Relationship Type="http://schemas.openxmlformats.org/officeDocument/2006/relationships/notesMaster" Target="/ppt/notesMasters/notesMaster1.xml" Id="R209d8dc9d15a42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702b5af03864d23" /><Relationship Type="http://schemas.openxmlformats.org/officeDocument/2006/relationships/notesMaster" Target="/ppt/notesMasters/notesMaster1.xml" Id="Rfa3c6a6150d943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acc86b57d447df" /><Relationship Type="http://schemas.openxmlformats.org/officeDocument/2006/relationships/notesMaster" Target="/ppt/notesMasters/notesMaster1.xml" Id="Rad7f777dba514f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本页问题：面向制造企业的可追溽物料计划助手</a:t>
            </a:r>
          </a:p>
          <a:p xmlns:a="http://schemas.openxmlformats.org/drawingml/2006/main">
            <a:r>
              <a:t>可支持结论：项目定位为辅助数量核对和证据查询</a:t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本页问题：围绕任务、方法、证据与边界展开汇报</a:t>
            </a:r>
          </a:p>
          <a:p xmlns:a="http://schemas.openxmlformats.org/drawingml/2006/main">
            <a:r>
              <a:t>可支持结论：22页主文组织为四章节</a:t>
            </a:r>
          </a:p>
          <a:p xmlns:a="http://schemas.openxmlformats.org/drawingml/2006/main">
            <a:r>
              <a:t>依据：README.md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本页问题：计划员提出生产数量后，需要哪些事实才能判断？</a:t>
            </a:r>
          </a:p>
          <a:p xmlns:a="http://schemas.openxmlformats.org/drawingml/2006/main">
            <a:r>
              <a:t>可支持结论：齐套判断依赖版本化BOM和权威可用库存</a:t>
            </a:r>
          </a:p>
          <a:p xmlns:a="http://schemas.openxmlformats.org/drawingml/2006/main">
            <a:r>
              <a:t>依据：README.md；services/published_planning_service.py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本页问题：哪些信息问题会让一个看似完整的回答失去依据？</a:t>
            </a:r>
          </a:p>
          <a:p xmlns:a="http://schemas.openxmlformats.org/drawingml/2006/main">
            <a:r>
              <a:t>可支持结论：不能从语言猜测缺失业务条件</a:t>
            </a:r>
          </a:p>
          <a:p xmlns:a="http://schemas.openxmlformats.org/drawingml/2006/main">
            <a:r>
              <a:t>依据：agents/context_resolver.py；services/published_planning_service.py；agents/response_generator.py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本页问题：如何让自然语言任务得到可验证的业务结果？</a:t>
            </a:r>
          </a:p>
          <a:p xmlns:a="http://schemas.openxmlformats.org/drawingml/2006/main">
            <a:r>
              <a:t>可支持结论：建立理解、计算和证据的职责边界</a:t>
            </a:r>
          </a:p>
          <a:p xmlns:a="http://schemas.openxmlformats.org/drawingml/2006/main">
            <a:r>
              <a:t>依据：agents/orchestrator.py；services/published_planning_service.py；agents/response_generator.py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本页问题：当前 Trial 如何完成从页面到事实再到回答的调用？</a:t>
            </a:r>
          </a:p>
          <a:p xmlns:a="http://schemas.openxmlformats.org/drawingml/2006/main">
            <a:r>
              <a:t>可支持结论：Trial独立事实库与规则模式形成实测闭环</a:t>
            </a:r>
          </a:p>
          <a:p xmlns:a="http://schemas.openxmlformats.org/drawingml/2006/main">
            <a:r>
              <a:t>依据：services/persistent_agent_service.py；agents/orchestrator.py；tools/demo_scenario_tools.py；api/trial_app.py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本页问题：原始 BOM 在什么条件下可以进入可查询事实？</a:t>
            </a:r>
          </a:p>
          <a:p xmlns:a="http://schemas.openxmlformats.org/drawingml/2006/main">
            <a:r>
              <a:t>可支持结论：发布前存在校验与按条件人工确认</a:t>
            </a:r>
          </a:p>
          <a:p xmlns:a="http://schemas.openxmlformats.org/drawingml/2006/main">
            <a:r>
              <a:t>依据：services/bom_import_service.py；repositories/fact_repository.py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本页问题：怎样避免产品歧义与上一轮条件污染？</a:t>
            </a:r>
          </a:p>
          <a:p xmlns:a="http://schemas.openxmlformats.org/drawingml/2006/main">
            <a:r>
              <a:t>可支持结论：区分企业目录解析和Trial固定产品上下文</a:t>
            </a:r>
          </a:p>
          <a:p xmlns:a="http://schemas.openxmlformats.org/drawingml/2006/main">
            <a:r>
              <a:t>依据：agents/planner.py；agents/context_resolver.py；agents/product_resolver.py；services/persistent_agent_service.py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本页问题：多层 BOM 如何转化为需求、缺口和理论数量？</a:t>
            </a:r>
          </a:p>
          <a:p xmlns:a="http://schemas.openxmlformats.org/drawingml/2006/main">
            <a:r>
              <a:t>可支持结论：effective_date存在时实际进入多层PublishedPlanningService</a:t>
            </a:r>
          </a:p>
          <a:p xmlns:a="http://schemas.openxmlformats.org/drawingml/2006/main">
            <a:r>
              <a:t>依据：services/published_planning_service.py；services/production_feasibility_query_service.py；tools/demo_scenario_tools.py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本页问题：工具结果如何进入回答，语言层又能改动什么？</a:t>
            </a:r>
          </a:p>
          <a:p xmlns:a="http://schemas.openxmlformats.org/drawingml/2006/main">
            <a:r>
              <a:t>可支持结论：模型仅受约束组织事实说明，失败回退业务模板</a:t>
            </a:r>
          </a:p>
          <a:p xmlns:a="http://schemas.openxmlformats.org/drawingml/2006/main">
            <a:r>
              <a:t>依据：agents/orchestrator.py；agents/evidence.py；agents/response_generator.py；services/persistent_agent_service.py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本页问题：“为什么不能生产”是否需要再次计算库存？</a:t>
            </a:r>
          </a:p>
          <a:p xmlns:a="http://schemas.openxmlformats.org/drawingml/2006/main">
            <a:r>
              <a:t>可支持结论：实测原因追问复用100台turn，completed_steps为空</a:t>
            </a:r>
          </a:p>
          <a:p xmlns:a="http://schemas.openxmlformats.org/drawingml/2006/main">
            <a:r>
              <a:t>依据：agents/orchestrator.py；services/persistent_agent_service.py；outputs/PMC-Agent-report/runtime-responses.json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本页问题：同一数据版本下，任务修改与原因追问得到什么结果？</a:t>
            </a:r>
          </a:p>
          <a:p xmlns:a="http://schemas.openxmlformats.org/drawingml/2006/main">
            <a:r>
              <a:t>可支持结论：仅支持合成数据上的数量和采购案例</a:t>
            </a:r>
          </a:p>
          <a:p xmlns:a="http://schemas.openxmlformats.org/drawingml/2006/main">
            <a:r>
              <a:t>依据：outputs/PMC-Agent-report/runtime-responses.json；services/published_planning_service.py；services/published_purchase_planning_service.py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本页问题：这些结果在哪个环境、模式和数据时点下产生？</a:t>
            </a:r>
          </a:p>
          <a:p xmlns:a="http://schemas.openxmlformats.org/drawingml/2006/main">
            <a:r>
              <a:t>可支持结论：本地隔离合成Trial复测，非LLM效果实验</a:t>
            </a:r>
          </a:p>
          <a:p xmlns:a="http://schemas.openxmlformats.org/drawingml/2006/main">
            <a:r>
              <a:t>依据：api/trial_app.py；repositories/demo_scenario_repository.py；outputs/PMC-Agent-report/runtime-responses.json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本页问题：75台与76台的分界能否由原始用量和库存复算？</a:t>
            </a:r>
          </a:p>
          <a:p xmlns:a="http://schemas.openxmlformats.org/drawingml/2006/main">
            <a:r>
              <a:t>可支持结论：min floor(库存/单位用量)=75，与实跑一致</a:t>
            </a:r>
          </a:p>
          <a:p xmlns:a="http://schemas.openxmlformats.org/drawingml/2006/main">
            <a:r>
              <a:t>依据：services/published_planning_service.py；outputs/PMC-Agent-report/runtime-responses.json；data/demo/demo_scenario_50_vs_100/bom_facts.json；data/demo/demo_scenario_50_vs_100/inventory_facts.json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本页问题：非法数量和证据追问如何影响工具调用？</a:t>
            </a:r>
          </a:p>
          <a:p xmlns:a="http://schemas.openxmlformats.org/drawingml/2006/main">
            <a:r>
              <a:t>可支持结论：0台拒绝且无completed_steps；追问复用证据</a:t>
            </a:r>
          </a:p>
          <a:p xmlns:a="http://schemas.openxmlformats.org/drawingml/2006/main">
            <a:r>
              <a:t>依据：agents/orchestrator.py；outputs/PMC-Agent-report/runtime-responses.json；tests/test_remote_trial.py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本页问题：当前证据足以支持哪些结论，哪些比较仍无法开展？</a:t>
            </a:r>
          </a:p>
          <a:p xmlns:a="http://schemas.openxmlformats.org/drawingml/2006/main">
            <a:r>
              <a:t>可支持结论：仅报告案例与专项测试，不宣称胜过人工</a:t>
            </a:r>
          </a:p>
          <a:p xmlns:a="http://schemas.openxmlformats.org/drawingml/2006/main">
            <a:r>
              <a:t>依据：outputs/PMC-Agent-report/runtime-responses.json；tests/test_demo_scenario_50_100.py；tests/test_demo_purchase_parameters.py；tests/test_remote_trial.py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本页问题：页面是否展示与真实响应一致的缺口？</a:t>
            </a:r>
          </a:p>
          <a:p xmlns:a="http://schemas.openxmlformats.org/drawingml/2006/main">
            <a:r>
              <a:t>可支持结论：实跑四项缺料，页面原始截图与响应一致</a:t>
            </a:r>
          </a:p>
          <a:p xmlns:a="http://schemas.openxmlformats.org/drawingml/2006/main">
            <a:r>
              <a:t>依据：outputs/PMC-Agent-report/runtime-responses.json；raw-screenshots/01-100.png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本页问题：从解释原因到修改数量，页面是否同步新任务？</a:t>
            </a:r>
          </a:p>
          <a:p xmlns:a="http://schemas.openxmlformats.org/drawingml/2006/main">
            <a:r>
              <a:t>可支持结论：追问说明证据复用，50台页面齐套</a:t>
            </a:r>
          </a:p>
          <a:p xmlns:a="http://schemas.openxmlformats.org/drawingml/2006/main">
            <a:r>
              <a:t>依据：outputs/PMC-Agent-report/runtime-responses.json；raw-screenshots/02-reason.png；raw-screenshots/03-50.png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本页问题：结论能否定位到具体事实文件、版本和库存时点？</a:t>
            </a:r>
          </a:p>
          <a:p xmlns:a="http://schemas.openxmlformats.org/drawingml/2006/main">
            <a:r>
              <a:t>可支持结论：实际来源展开含事实文件与快照信息</a:t>
            </a:r>
          </a:p>
          <a:p xmlns:a="http://schemas.openxmlformats.org/drawingml/2006/main">
            <a:r>
              <a:t>依据：outputs/PMC-Agent-report/runtime-responses.json；raw-screenshots/04-source.png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本页问题：系统的计算结果能否直接用于排产、采购或交期承诺？</a:t>
            </a:r>
          </a:p>
          <a:p xmlns:a="http://schemas.openxmlformats.org/drawingml/2006/main">
            <a:r>
              <a:t>可支持结论：只能支持数据条件下的辅助分析</a:t>
            </a:r>
          </a:p>
          <a:p xmlns:a="http://schemas.openxmlformats.org/drawingml/2006/main">
            <a:r>
              <a:t>依据：README.md；services/published_planning_service.py；services/published_purchase_planning_service.py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本页问题：当前演示与真实生产部署之间还缺哪些证据？</a:t>
            </a:r>
          </a:p>
          <a:p xmlns:a="http://schemas.openxmlformats.org/drawingml/2006/main">
            <a:r>
              <a:t>可支持结论：合成场景验证不能外推真实生产效果</a:t>
            </a:r>
          </a:p>
          <a:p xmlns:a="http://schemas.openxmlformats.org/drawingml/2006/main">
            <a:r>
              <a:t>依据：README.md；outputs/PMC-Agent-report/runtime-responses.json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本页问题：本次可验证的项目贡献是什么？</a:t>
            </a:r>
          </a:p>
          <a:p xmlns:a="http://schemas.openxmlformats.org/drawingml/2006/main">
            <a:r>
              <a:t>可支持结论：职责分工和固定场景闭环成立，效果泛化待验证</a:t>
            </a:r>
          </a:p>
          <a:p xmlns:a="http://schemas.openxmlformats.org/drawingml/2006/main">
            <a:r>
              <a:t>依据：agents/orchestrator.py；services/published_planning_service.py；outputs/PMC-Agent-report/runtime-responses.json</a:t>
            </a:r>
          </a:p>
          <a:p xmlns:a="http://schemas.openxmlformats.org/drawingml/2006/main">
            <a:r>
              <a:t>版本：工作区 HEAD 95a526b + 未提交修改，关键文件 SHA256 见 version-manifest.json。Demo V01，合成事实，2026-10-12 本地隔离 Trial，规则理解与 rule_fallback 表达。</a:t>
            </a:r>
          </a:p>
          <a:p xmlns:a="http://schemas.openxmlformats.org/drawingml/2006/main">
            <a:r>
              <a:t>蓝色：受控主路径；绿色：证据/满足；红色：异常/拒绝；虚线：备选模式，非本次 Demo 实测路径。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5db4bbfcb43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9c1b3498a47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1a6d43a4646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2d563196546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696f15cbd47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71df17ff94d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92934E-D734-4729-A655-43056B41C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3443A3-C03E-4D46-80A5-85827F8B6D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8DECB0-D087-44B0-8118-A0A743E0D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163B9E-C1BA-483A-8450-7F79EC1B0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6429FF-0B3E-4855-8B30-68F0CC0042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B61CB3-567F-4D9C-B80E-769BAF071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90F8B7-6EE8-46E7-BE89-D0084DADE1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B01A9E-EE1D-4D6C-8293-8F85E13C95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AFF647-AFAC-4E0A-8598-28CC0E2121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92AF3E-21F8-42A0-81DF-47EC2E8D07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d7a036cf441c7" /><Relationship Type="http://schemas.openxmlformats.org/officeDocument/2006/relationships/slideLayout" Target="/ppt/slideLayouts/slideLayout1.xml" Id="Rfbb333c9dc20493d" /><Relationship Type="http://schemas.openxmlformats.org/officeDocument/2006/relationships/slideLayout" Target="/ppt/slideLayouts/slideLayout2.xml" Id="R4681c149b5b546fc" /><Relationship Type="http://schemas.openxmlformats.org/officeDocument/2006/relationships/slideLayout" Target="/ppt/slideLayouts/slideLayout3.xml" Id="Rcf3f16260bc34a82" /><Relationship Type="http://schemas.openxmlformats.org/officeDocument/2006/relationships/slideLayout" Target="/ppt/slideLayouts/slideLayout4.xml" Id="R680759aafabd4cba" /><Relationship Type="http://schemas.openxmlformats.org/officeDocument/2006/relationships/slideLayout" Target="/ppt/slideLayouts/slideLayout5.xml" Id="R47a3c66f154042dc" /><Relationship Type="http://schemas.openxmlformats.org/officeDocument/2006/relationships/slideLayout" Target="/ppt/slideLayouts/slideLayout6.xml" Id="R18e93e0dad7f44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b333c9dc20493d"/>
    <p:sldLayoutId xmlns:r="http://schemas.openxmlformats.org/officeDocument/2006/relationships" id="2147483650" r:id="R4681c149b5b546fc"/>
    <p:sldLayoutId xmlns:r="http://schemas.openxmlformats.org/officeDocument/2006/relationships" id="2147483651" r:id="Rcf3f16260bc34a82"/>
    <p:sldLayoutId xmlns:r="http://schemas.openxmlformats.org/officeDocument/2006/relationships" id="2147483652" r:id="R680759aafabd4cba"/>
    <p:sldLayoutId xmlns:r="http://schemas.openxmlformats.org/officeDocument/2006/relationships" id="2147483653" r:id="R47a3c66f154042dc"/>
    <p:sldLayoutId xmlns:r="http://schemas.openxmlformats.org/officeDocument/2006/relationships" id="2147483654" r:id="R18e93e0dad7f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af6ba382343a8" /><Relationship Type="http://schemas.openxmlformats.org/officeDocument/2006/relationships/notesSlide" Target="/ppt/notesSlides/notesSlide1.xml" Id="R21af3554a37740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97bdd9f454768" /><Relationship Type="http://schemas.openxmlformats.org/officeDocument/2006/relationships/notesSlide" Target="/ppt/notesSlides/notesSlide2.xml" Id="R7e1a486f1d4c46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151ba1a794dbb" /><Relationship Type="http://schemas.openxmlformats.org/officeDocument/2006/relationships/notesSlide" Target="/ppt/notesSlides/notesSlide3.xml" Id="R951d56e5d0314f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65b3846104749" /><Relationship Type="http://schemas.openxmlformats.org/officeDocument/2006/relationships/notesSlide" Target="/ppt/notesSlides/notesSlide4.xml" Id="R58f4893a13ef4a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79d3457f8406f" /><Relationship Type="http://schemas.openxmlformats.org/officeDocument/2006/relationships/notesSlide" Target="/ppt/notesSlides/notesSlide5.xml" Id="R4d92930a29e349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ff04f104b4453" /><Relationship Type="http://schemas.openxmlformats.org/officeDocument/2006/relationships/notesSlide" Target="/ppt/notesSlides/notesSlide6.xml" Id="Rd8c9eade190742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fd039c69447ab" /><Relationship Type="http://schemas.openxmlformats.org/officeDocument/2006/relationships/notesSlide" Target="/ppt/notesSlides/notesSlide7.xml" Id="R19026dcf52ab41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9dedb221641ae" /><Relationship Type="http://schemas.openxmlformats.org/officeDocument/2006/relationships/notesSlide" Target="/ppt/notesSlides/notesSlide8.xml" Id="R6ad5ee50b4b144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c87cabbf84bd9" /><Relationship Type="http://schemas.openxmlformats.org/officeDocument/2006/relationships/notesSlide" Target="/ppt/notesSlides/notesSlide9.xml" Id="Rcbdf8a0319cd41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1c8a5c41d4156" /><Relationship Type="http://schemas.openxmlformats.org/officeDocument/2006/relationships/notesSlide" Target="/ppt/notesSlides/notesSlide10.xml" Id="R3dbb0ed4186e43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cb5a37c794c95" /><Relationship Type="http://schemas.openxmlformats.org/officeDocument/2006/relationships/notesSlide" Target="/ppt/notesSlides/notesSlide11.xml" Id="R5937e38b857e4b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6f68ec0584bba" /><Relationship Type="http://schemas.openxmlformats.org/officeDocument/2006/relationships/notesSlide" Target="/ppt/notesSlides/notesSlide12.xml" Id="R2ae8838986fa4b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2053b2a7846cb" /><Relationship Type="http://schemas.openxmlformats.org/officeDocument/2006/relationships/notesSlide" Target="/ppt/notesSlides/notesSlide13.xml" Id="Rd4e4459bbc8d44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b8041ea724406" /><Relationship Type="http://schemas.openxmlformats.org/officeDocument/2006/relationships/notesSlide" Target="/ppt/notesSlides/notesSlide14.xml" Id="R26a70cb6592647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f6073d17d4bec" /><Relationship Type="http://schemas.openxmlformats.org/officeDocument/2006/relationships/notesSlide" Target="/ppt/notesSlides/notesSlide15.xml" Id="Ra3251f3799154b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9fe9d2b004464" /><Relationship Type="http://schemas.openxmlformats.org/officeDocument/2006/relationships/notesSlide" Target="/ppt/notesSlides/notesSlide16.xml" Id="Rf1435afbf0f842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42e0fa5e24855" /><Relationship Type="http://schemas.openxmlformats.org/officeDocument/2006/relationships/image" Target="/ppt/media/image.png" Id="R78b1120d14ca40b8" /><Relationship Type="http://schemas.openxmlformats.org/officeDocument/2006/relationships/image" Target="/ppt/media/image2.png" Id="Ra884a92923834d0b" /><Relationship Type="http://schemas.openxmlformats.org/officeDocument/2006/relationships/notesSlide" Target="/ppt/notesSlides/notesSlide17.xml" Id="R221cf3ef587742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d9cc0558a4e00" /><Relationship Type="http://schemas.openxmlformats.org/officeDocument/2006/relationships/image" Target="/ppt/media/image3.png" Id="R347af5744b3242c3" /><Relationship Type="http://schemas.openxmlformats.org/officeDocument/2006/relationships/image" Target="/ppt/media/image4.png" Id="R6673e083bbb24907" /><Relationship Type="http://schemas.openxmlformats.org/officeDocument/2006/relationships/notesSlide" Target="/ppt/notesSlides/notesSlide18.xml" Id="Rb43a150b92fe46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36615c7b4441db" /><Relationship Type="http://schemas.openxmlformats.org/officeDocument/2006/relationships/image" Target="/ppt/media/image5.png" Id="R3773b53d00054219" /><Relationship Type="http://schemas.openxmlformats.org/officeDocument/2006/relationships/image" Target="/ppt/media/image6.png" Id="Ref66ccb6d7c14fdf" /><Relationship Type="http://schemas.openxmlformats.org/officeDocument/2006/relationships/notesSlide" Target="/ppt/notesSlides/notesSlide19.xml" Id="R734373ccb2134c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6661babc9f4f6c" /><Relationship Type="http://schemas.openxmlformats.org/officeDocument/2006/relationships/notesSlide" Target="/ppt/notesSlides/notesSlide20.xml" Id="R8c1aa66e800743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2b67149b34bd4" /><Relationship Type="http://schemas.openxmlformats.org/officeDocument/2006/relationships/notesSlide" Target="/ppt/notesSlides/notesSlide21.xml" Id="Rb1eaae065d8845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c62162f664ae9" /><Relationship Type="http://schemas.openxmlformats.org/officeDocument/2006/relationships/notesSlide" Target="/ppt/notesSlides/notesSlide22.xml" Id="R1b5216d488d942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77911-AFCA-4AA8-BACA-293C8350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A9AA6-4B0D-4C8E-87C0-30716EE3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2187F-9651-482C-B436-9B159EAD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2E9CB-4EFB-4296-B666-CF300F7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35DCA-E9D0-4544-B26D-E6F3D585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70860-A3C6-4534-8D63-858D8E39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FF096-A37A-414A-A9DB-514E0C4A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BFEFD-A021-442F-A72C-C4672755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8297D-49D6-4799-A829-27367EC2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F1E43-5286-41D9-AE1B-925D8C6D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智造 PMC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DE8DF-3C42-4ED2-B3DF-AC3C542E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72946-881F-4225-BA67-3530F7EE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面向制造企业的可追溽物料计划助手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AC4BA-F5E3-493B-9D82-5B99BF1D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C1B6E-02BC-4B22-8058-81907FE6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0F13D-A174-4CAC-A433-8CE8BA12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53F73"/>
                </a:solidFill>
              </a:defRPr>
            </a:pPr>
            <a:r>
              <a:rPr sz="3900" b="1">
                <a:solidFill>
                  <a:srgbClr val="153F73"/>
                </a:solidFill>
              </a:rPr>
              <a:t>受控事实与确定性计算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0BC41-0D3F-42FE-A0C9-6AEDAC1C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861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D40"/>
                </a:solidFill>
              </a:defRPr>
            </a:pPr>
            <a:r>
              <a:rPr sz="2400" b="0">
                <a:solidFill>
                  <a:srgbClr val="172D40"/>
                </a:solidFill>
              </a:rPr>
              <a:t>连续对话中的 BOM、库存与采购分析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01614-A227-494D-BDCD-23678729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673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项目研究汇报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2026年10月12日</a:t>
            </a:r>
          </a:p>
        </p:txBody>
      </p:sp>
    </p:spTree>
    <p:extLst>
      <p:ext uri="{BB962C8B-B14F-4D97-AF65-F5344CB8AC3E}">
        <p14:creationId xmlns:p14="http://schemas.microsoft.com/office/powerpoint/2010/main" val="1401288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D2C63-1F0B-4D9C-8A9F-710401F2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48FC0-CEFD-4FFB-9EC3-AF0DB414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8E0D0-933F-4BEF-83A6-38D555F7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4231F-BDB1-4E75-9036-FA36028E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8C98B-5935-48E0-8FCD-E4B83CF5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33B2E-9091-4BF3-A3CA-12F4487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2793B-1BE5-4149-8A04-11D889B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426C9-FAFA-47D0-BC00-8FC9A016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D67C3-516C-43E2-BAD5-5A8CDEC8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C6052-1182-4C63-A5E8-0C1893C3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目录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523AF-DC02-4B60-8BAD-E276F0E1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58732-0D22-4E38-8F2F-ABDDDA09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围绕任务、方法、证据与边界展开汇报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15666-E30A-4B39-9949-EA784207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A18AF-0D2C-4763-8189-F19D46E0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02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8A4DB-998F-4CC3-A079-15A0BCB3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73F78-765B-4BE2-8D59-6FBD6F59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7663C-B0C8-4597-AEC4-A2186A9B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业务场景、困难、研究问题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F992E-B380-4E86-B5FD-EE35C498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F3175-C684-491E-A53B-87C15062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11DA4-9D0D-4244-80BD-CD334656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系统总览及图4—9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23445-2FE1-4DB0-82BF-5EA6E36A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09B92-F8C5-48A8-AAA0-0642DF4D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E2389-A2FE-4CF1-9A03-26DBCD76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完整案例、数量边界、验收与真实截图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1ABC1-8BFE-464B-8F1C-DD2A9DE6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3F73"/>
                </a:solidFill>
              </a:defRPr>
            </a:pPr>
            <a:r>
              <a:rPr sz="3000" b="1">
                <a:solidFill>
                  <a:srgbClr val="153F73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08AE6F-C5E4-4F0B-B721-9B7209BA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BC280-ED02-4C77-A37A-B06197BF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能力边界、局限及结论</a:t>
            </a:r>
          </a:p>
        </p:txBody>
      </p:sp>
    </p:spTree>
    <p:extLst>
      <p:ext uri="{BB962C8B-B14F-4D97-AF65-F5344CB8AC3E}">
        <p14:creationId xmlns:p14="http://schemas.microsoft.com/office/powerpoint/2010/main" val="19773862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44E64-595E-4954-B1E3-35DC7070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92A25-A8A6-4637-BF06-EEE3C007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F9D64-AD5A-46C2-B004-A942F83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BA564-5FCE-4AEF-8B40-737B8935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628B4-AFC8-4417-BBAE-6DBEE85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D3526-7F35-4514-968D-DEAEE2EE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E7CD7-4780-4D71-93CB-C5B7A05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265C2-18C9-4F30-9AA6-81106BEB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DFC52-67DE-4DB6-90F7-A2CFD15B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AED37-5057-4022-941A-838D05BE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业务场景：生产任务的物料核对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AEEF5-470A-4A68-B503-C5BC5F7B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126EC-23E7-4A61-BE5C-E006A2A7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计划员提出生产数量后，需要哪些事实才能判断？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F3519-CFBC-463C-B313-0D040DAF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CF4AD-88D0-46F6-AE4E-D9D4E652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03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C39A6-D0A4-4E5C-817F-2E47329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输入任务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5BB17-7783-482E-AA4A-63EBDA22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“生产100台，物料是否齐套？”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产品与目标数量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BOM版本和生效日期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库存分析时点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A6EC5-CCA8-4CAA-9677-279CDB74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DD1EC-0B82-46C5-847D-95FDEB7B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核对输出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D72DA-673F-498A-AFC5-0C38B216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每种物料的需求、可用量与缺口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完整性与异常原因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可追溯的数据来源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符合条件时的采购建议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17000-CE90-47E7-A939-533B7BC8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本稿案例全部使用 DEMO-PMC-01 合成数据，不展示企业原始库存。</a:t>
            </a:r>
          </a:p>
        </p:txBody>
      </p:sp>
    </p:spTree>
    <p:extLst>
      <p:ext uri="{BB962C8B-B14F-4D97-AF65-F5344CB8AC3E}">
        <p14:creationId xmlns:p14="http://schemas.microsoft.com/office/powerpoint/2010/main" val="1639555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4D753-5AB9-4C52-A8F3-84A8233C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07D4B-A67B-4D7F-ACC4-950F05F8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B7328-9356-464C-9E0C-BA45DA8C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1A522-1FB9-4DA3-8342-C95F6734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97E21-5F15-455D-BF3A-8AEB54FB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B443D-6816-4AC1-811F-F242CC7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F5103-5027-4F63-9918-8881547C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3BFF2-1924-4F60-9C42-7A4D0FAC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7A4A0-9284-4473-9E80-158681E7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534A5-77BF-43D3-B6AB-B2B22314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现有困难：缺失、歧义与时点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0552B-1AB8-49FB-B667-636A687A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EEA74-C029-4BFA-AEBD-031CD752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哪些信息问题会让一个看似完整的回答失去依据？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561FC-49BC-46BC-91EB-47E47238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00E4C-928D-46BF-8421-50521C6F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04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9017C-FC21-4B86-9930-D06E1AD5AC84}"/>
              </a:ext>
            </a:extLst>
          </p:cNvPr>
          <p:cNvGraphicFramePr/>
          <p:nvPr/>
        </p:nvGraphicFramePr>
        <p:xfrm>
          <a:off xmlns:a="http://schemas.openxmlformats.org/drawingml/2006/main" x="523875" y="2333625"/>
          <a:ext xmlns:a="http://schemas.openxmlformats.org/drawingml/2006/main" cx="1114425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困难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可能影响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项目处理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版本或产品不唯一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核对对象错误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精确匹配，歧义先澄清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数量、单位、时点缺失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不可比或不可计算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参数校验与明确补充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库存记录不完整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未知误作零或可用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保留 null 和完整性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回答脱离来源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难以核查缺料原因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结构化证据与来源查询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C759D-A346-4774-A389-87347AC0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困难来自当前代码的校验分支，未引用无来源行业占比。</a:t>
            </a:r>
          </a:p>
        </p:txBody>
      </p:sp>
    </p:spTree>
    <p:extLst>
      <p:ext uri="{BB962C8B-B14F-4D97-AF65-F5344CB8AC3E}">
        <p14:creationId xmlns:p14="http://schemas.microsoft.com/office/powerpoint/2010/main" val="384092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8B20-A5E4-4E89-9C9B-FF657774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2943C-331A-4EA3-B255-D1A1675C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E210A-4BFD-481E-819D-25C1A91B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研究背景及动机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5494E-F063-4837-9832-303C32FB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EFAA0-AB4B-45CA-951E-058F0C96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9D55C-04D9-4FC1-A61E-B00DE623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31798-031D-4A1F-BD84-D6E5C15B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663B1-3536-482D-83D7-50F379EB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C548D-308D-418C-90A7-F582084E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6C859-ADD8-4033-B13C-B5A8DC66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研究问题与实现目标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B1646-4013-488D-AEE4-17356168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CBC3E-B8C7-4540-9352-D38352E9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如何让自然语言任务得到可验证的业务结果？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203D1-A5DD-434C-8844-4CD1007F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7CFFB-BB75-44CB-A042-440C31D4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05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6109C-DFBA-44A1-89C1-85AAE227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问题一：事实从哪里来？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262D5-F560-4EE9-9086-F0921BDF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受控导入、发布状态与来源绑定限定查询范围。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C3649-0773-4E50-A88C-5A79A3FA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问题二：业务数字由谁产生？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ECF49-FFBF-48D8-BD28-B8F166C4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白名单工具调用 Python Service，语言层组织受约束的事实说明。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612C6-0C8F-438E-971C-BA957E15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问题三：追问如何保持同一任务？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E9A2D-6F00-47BD-8AC2-B5D4EFF4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40"/>
                </a:solidFill>
              </a:defRPr>
            </a:pPr>
            <a:r>
              <a:rPr sz="2025" b="0">
                <a:solidFill>
                  <a:srgbClr val="172D40"/>
                </a:solidFill>
              </a:rPr>
              <a:t>核对产品、数量、版本与时点后复用 Evidence。</a:t>
            </a:r>
          </a:p>
        </p:txBody>
      </p:sp>
    </p:spTree>
    <p:extLst>
      <p:ext uri="{BB962C8B-B14F-4D97-AF65-F5344CB8AC3E}">
        <p14:creationId xmlns:p14="http://schemas.microsoft.com/office/powerpoint/2010/main" val="1894639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A95C97-E210-457F-83C7-71DEE00C19BF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096500" y="50006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038FE-518D-4F9E-B41D-3042BA52131E}"/>
              </a:ext>
            </a:extLst>
          </p:cNvPr>
          <p:cNvCxnSpPr>
            <a:stCxn xmlns:a="http://schemas.openxmlformats.org/drawingml/2006/main" id="22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0096500" y="3286125"/>
            <a:ext cx="238125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A572F-136B-4DE9-8D32-383746C783F7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048625" y="4572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E1768-4901-409F-9563-A8AB233F1427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6786563" y="3286125"/>
            <a:ext cx="2381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FFDBF-7E45-4079-A3EB-DC7058AF99C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7750" y="288131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2DB63-33B8-4A75-92F9-60CC78F2ABF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095500" y="2790825"/>
            <a:ext cx="47625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6D646-AD2C-4F56-89AC-791C521E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A088E-2FB1-4901-B205-1689DE7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6D42F-6882-4D61-9017-7E9AF3B1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69596-D46D-492F-BEED-EEA9384F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01C33-B039-41D4-84DB-1496C714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21888-91E4-4DCC-B980-BDDB8B8A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7D55E-20C3-413D-A882-CCE1BDD8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C78B2-31E9-492E-9ED8-3EB1A2AD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AC6C6-6097-4EB1-B01C-E5436CA2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3A05B-A14F-41C7-9C90-B47F79AA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图5  系统总览与职责分工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8A136-57E8-4ED6-B82D-0C70AFDC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D8B27-8AE5-4303-A423-4FB86ADB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 Trial 如何完成从页面到事实再到回答的调用？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40FCE-6488-4B27-8383-DB63DC24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0A6D0-8E4F-4C78-9F83-B9BF0D69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06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14959-EC41-4C62-B4BE-04F26B73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Vue 工作台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6B9CD-2EE1-4B79-8116-C9734DCC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Trial FastAPI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会话所有权校验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A62AF-3D6C-43BB-8B67-CC3338DE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7650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Persistent Service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Planner / Orchestrator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7A74A-7230-4A05-AD5C-9F875EC5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Evidence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回答与历史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CE09C-3921-44F6-8E03-8124B370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43375"/>
            <a:ext cx="2524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Tool Registry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白名单与参数校验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8A1AE-CD0D-4CD0-98B6-6671606F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Published Service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BOM / 库存 / 采购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628A8-81C7-4403-A82E-CAF28009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816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独立 Demo SQLite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已发布合成事实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43BE4D-54FD-4BB5-A8F0-A9EF6667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其他入口（未混入本次链路）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企业：受控账面查询优先</a:t>
            </a:r>
          </a:p>
          <a:p xmlns:a="http://schemas.openxmlformats.org/drawingml/2006/main">
            <a:pPr>
              <a:defRPr sz="1875" b="0">
                <a:solidFill>
                  <a:srgbClr val="627487"/>
                </a:solidFill>
              </a:defRPr>
            </a:pPr>
            <a:r>
              <a:rPr sz="1875" b="0">
                <a:solidFill>
                  <a:srgbClr val="627487"/>
                </a:solidFill>
              </a:rPr>
              <a:t>旧生产路径：LangGraph PMC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D9B3C6-B68F-40C7-9F8A-031BB7C3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本次模式：Trial 禁用模型出站；开发环境可选 LLM，旧路径单独保留。</a:t>
            </a:r>
          </a:p>
        </p:txBody>
      </p:sp>
    </p:spTree>
    <p:extLst>
      <p:ext uri="{BB962C8B-B14F-4D97-AF65-F5344CB8AC3E}">
        <p14:creationId xmlns:p14="http://schemas.microsoft.com/office/powerpoint/2010/main" val="281278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66CE9-2E1D-45E7-9D13-A0445051D591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096500" y="49053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7460C-4750-4CA0-BA0D-50F0414724B9}"/>
              </a:ext>
            </a:extLst>
          </p:cNvPr>
          <p:cNvCxnSpPr>
            <a:stCxn xmlns:a="http://schemas.openxmlformats.org/drawingml/2006/main" id="20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0096500" y="30003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4A49F-78CB-4D84-A9C7-8EC108416A5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905750" y="4500563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CEF20-9D46-4DD2-B9D5-984426362C8D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429500" y="2881313"/>
            <a:ext cx="1381125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D3F2C-70F5-45DD-943A-4800C7FA7D7B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619875" y="3286125"/>
            <a:ext cx="23812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FCB72-21C8-48D3-B255-261024BA6F7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429500" y="2595563"/>
            <a:ext cx="1381125" cy="28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BD35D-7CCE-4AA0-AF1E-F58421E9FAD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191125" y="28813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A4ACA-19FA-450E-BEDC-54BAEB7444A5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428875" y="2790825"/>
            <a:ext cx="523875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1AE0DB-6CF1-43E5-9869-E12BFBBE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DC261-C7B6-4875-BFBF-8C8486B6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C27B0-DBA0-4E62-B274-7E52CA15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BD7EC-D3D0-4545-8568-EC3D3B05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B212E-241D-49E1-8E2F-6189316F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E8E62-7667-4DA6-B42A-6248C987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721B5-E410-4BF5-BA0C-32BD2F4D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245DA-5EDA-4171-A608-57314179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803A7-4EAC-4CA4-AEBE-B76341DB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34AF0-758C-4B67-9F04-20DAE648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图4  受控事实导入与发布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D641D-71F0-4DC6-97FC-24316C42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C3DD0-9987-4F68-A4A4-7D4BE446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原始 BOM 在什么条件下可以进入可查询事实？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65346-8833-4CBB-90DC-9D3C6DA2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1875F-73B7-438E-BC43-6C0E803B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07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2DDCD-F16B-4544-8A33-BD7BF8F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90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来源文件与映射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F4714-BA05-4D84-AB5F-A869F119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2238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stage_bom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暂存与逐行校验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3E1A5-0A91-4229-8D3B-2F7347E7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1619250" cy="809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校验结果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30D18-61C4-4C6E-BFC6-ED04DF5A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INVALID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保留错误，不发布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A0215-504C-4F06-A2B9-2434AD15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待确认字段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人工确认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FBA76-FFEA-43C5-9C8C-674A80CF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9575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READY_TO_PUBLISH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E389B-2562-459F-8FDA-D0A347A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340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publish_batch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原子发布及来源审计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57D032-D0DE-4DF2-AF10-1D3F66C8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44635"/>
                </a:solidFill>
              </a:defRPr>
            </a:pPr>
            <a:r>
              <a:rPr sz="1425" b="0">
                <a:solidFill>
                  <a:srgbClr val="B44635"/>
                </a:solidFill>
              </a:rPr>
              <a:t>有错误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71C009-6597-43B2-90BF-561FC383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D40"/>
                </a:solidFill>
              </a:defRPr>
            </a:pPr>
            <a:r>
              <a:rPr sz="1425" b="0">
                <a:solidFill>
                  <a:srgbClr val="172D40"/>
                </a:solidFill>
              </a:rPr>
              <a:t>需确认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D4E378-E479-47E6-9AA7-961C85B0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86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D40"/>
                </a:solidFill>
              </a:defRPr>
            </a:pPr>
            <a:r>
              <a:rPr sz="1425" b="0">
                <a:solidFill>
                  <a:srgbClr val="172D40"/>
                </a:solidFill>
              </a:rPr>
              <a:t>已满足条件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C2A95F-39A4-4285-82D4-56B417B5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457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确认不是统一必经步骤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只对待确认字段执行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Demo 由场景包幂等发布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不冒充企业人工导入过程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D2A401-2332-4F4E-924E-9B76C5F5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图示为企业 BOM 导入路径。本次 Demo 初始化是独立场景发布路径。</a:t>
            </a:r>
          </a:p>
        </p:txBody>
      </p:sp>
    </p:spTree>
    <p:extLst>
      <p:ext uri="{BB962C8B-B14F-4D97-AF65-F5344CB8AC3E}">
        <p14:creationId xmlns:p14="http://schemas.microsoft.com/office/powerpoint/2010/main" val="6104674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CE14DD-444E-4595-82CA-6D0EB7E0CD2D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144000" y="4572000"/>
            <a:ext cx="1452563" cy="928688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3400D-B5D3-4D63-84F8-F04E25EA9312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5667375" y="4143375"/>
            <a:ext cx="3810000" cy="500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578FE-19CC-434E-A4FB-20D8FD64603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239250" y="2738438"/>
            <a:ext cx="1357313" cy="97631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9EE88-83B7-45A6-892D-968C950380FA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286250" y="3286125"/>
            <a:ext cx="166688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DC84B-51F7-4CB1-9320-B5234449E66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334000" y="2738438"/>
            <a:ext cx="11430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5BEA1-D609-46B9-A25E-3A79B28FBDA9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667000" y="2790825"/>
            <a:ext cx="57150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0F349-F322-4F52-A41E-477314E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C9DD7-B1B1-4A54-B9CA-3A5C724C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AE5F3-D2EE-47FD-BC07-E0B2FB9F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8344D-EA95-48D6-A7F7-2AA752FD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57AF3-6BE1-4D69-A32A-7684EDDD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318CD-C2D1-4AA2-9836-879A0EFF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2A414-1B97-4FB7-8ADF-14F20523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C61D2-7255-438C-B785-F11ED40C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ADB27-C747-464A-9044-D4D8587F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4EB5A-FB2E-47C9-AF03-8017F96C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图6  问题规划及产品上下文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9F340-0AB3-4619-8A64-C8EF23FE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A2239-E5EB-402F-AFE0-B94A199D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怎样避免产品歧义与上一轮条件污染？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EC757-C6E8-40AF-8EC4-7DAC2F0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181B3-EB85-4E35-9529-BD06CE2D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08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BFFB8-75F4-43BE-8C0F-A14456AE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2143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用户问题与历史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F4F3F-819E-4CBB-A2E6-E2D45F6C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095500" cy="8096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入口模式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35EE9-6A01-41C9-885A-62FB222C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2762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企业 / Review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权限目录精确解析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C68DB-1521-4AB9-969D-DA5053E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Trial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固定 Demo 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A8873-C353-429F-99F6-64BA97D7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147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Planner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任务与缺失参数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3923B-95A8-4183-8913-FEE4CEB3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澄清 / 拒绝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不执行工具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0AA892-DC31-46EF-ADFD-7A74259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企业路径：明确编码优先，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多候选澄清，目录浏览不切换。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E4CC0-6173-471B-8F81-4212C31F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05375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D40"/>
                </a:solidFill>
              </a:defRPr>
            </a:pPr>
            <a:r>
              <a:rPr sz="1575" b="0">
                <a:solidFill>
                  <a:srgbClr val="172D40"/>
                </a:solidFill>
              </a:rPr>
              <a:t>参数完整时调用工具</a:t>
            </a:r>
          </a:p>
          <a:p xmlns:a="http://schemas.openxmlformats.org/drawingml/2006/main">
            <a:pPr>
              <a:defRPr sz="1575" b="0">
                <a:solidFill>
                  <a:srgbClr val="172D40"/>
                </a:solidFill>
              </a:defRPr>
            </a:pPr>
            <a:r>
              <a:rPr sz="1575" b="0">
                <a:solidFill>
                  <a:srgbClr val="172D40"/>
                </a:solidFill>
              </a:rPr>
              <a:t>上下文解析失败返回说明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D7CF61-6048-48D1-B60A-BEBD8A4B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企业产品切换与 Trial 固定场景是两种入口，不能拼成统一必经流程。</a:t>
            </a:r>
          </a:p>
        </p:txBody>
      </p:sp>
    </p:spTree>
    <p:extLst>
      <p:ext uri="{BB962C8B-B14F-4D97-AF65-F5344CB8AC3E}">
        <p14:creationId xmlns:p14="http://schemas.microsoft.com/office/powerpoint/2010/main" val="316192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C9E1C9-D114-4F35-AC69-43E446F0B6CD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5381625" y="50006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8427AF-B1F9-4DED-9EB8-981BD7FF9D2E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 flipV="1">
            <a:off x="3238500" y="4524375"/>
            <a:ext cx="90487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E4343C-2E1A-4027-BB62-AFF572864186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6619875" y="45720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D8330-D6EA-446F-8B68-C5A1F7F5369C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429750" y="314325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E2629-80C7-4647-A7BF-B6417B7AB479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572250" y="2738438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28F23-2454-404C-98D5-1804C132584B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143250" y="2738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6AE95E-D5D9-452D-8A45-FB2CBBD2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F3848-B1BB-4B41-9092-DF436FA8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D287B-CB8A-467B-B62E-9414E6C1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085FC-12D8-4B2C-B044-DBBD1E8F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25E01-53E4-496E-9FC5-F4A5FF5C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D51EA-2C3F-4200-A617-26D042E9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18149-D3CB-485A-8EB6-2A1E686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C6130-5041-45E2-BA51-640BD80A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0BB6A-4B89-4F00-B55C-3126F626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85181-A311-4CC9-8092-5BC8D3F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图7  物料需求与库存核对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2C97B-8828-4B3E-B630-9A4F8F2D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41256-5868-45D4-8504-98C2EA7B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多层 BOM 如何转化为需求、缺口和理论数量？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2117F-C2DB-4FED-A4DF-978B2C7C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91ABE-3D9F-49E8-8F8E-C9E5EE43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09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D9A7C-4C4A-47EF-8310-4ECC8251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619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产品 / 版本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生效日 / 数量 / 时点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3BA09-466A-4D25-91B3-F01B7BCB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选择有效 BOM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walk 递归展开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1CF7C-A6EB-441B-920B-903799E8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3143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叶子用量汇总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显式单位换算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CD2AC-DA49-4F1C-A40F-130D8CF0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43375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查询库存快照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校验可用量与来源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70A31-5966-46E2-B164-F8F488D7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43375"/>
            <a:ext cx="247650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完整性与时点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是否满足？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FBABE-70D5-494C-ADD0-F9AABC21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2714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需求、缺口、齐套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理论上限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0DD6A-675F-405D-9055-C815227B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8162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不完整 / 冲突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保留未知和警告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5DA74-84C5-462B-ABE8-24E47B3B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44635"/>
                </a:solidFill>
              </a:defRPr>
            </a:pPr>
            <a:r>
              <a:rPr sz="1650" b="0">
                <a:solidFill>
                  <a:srgbClr val="B44635"/>
                </a:solidFill>
              </a:rPr>
              <a:t>环路 / 深度 / 版本冲突：终止展开并返回 data_unavailable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5B7B67-256F-405A-B2C5-3B7F10EA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7D70"/>
                </a:solidFill>
              </a:defRPr>
            </a:pPr>
            <a:r>
              <a:rPr sz="1500" b="0">
                <a:solidFill>
                  <a:srgbClr val="167D70"/>
                </a:solidFill>
              </a:rPr>
              <a:t>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4D64EE-FF23-405A-861E-E03A717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38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44635"/>
                </a:solidFill>
              </a:defRPr>
            </a:pPr>
            <a:r>
              <a:rPr sz="1500" b="0">
                <a:solidFill>
                  <a:srgbClr val="B44635"/>
                </a:solidFill>
              </a:rPr>
              <a:t>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83B6F4-CADB-497C-A209-0ADDC833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本次有生效日，进入多层路径；无生效日的直接子项备选路径见备注。</a:t>
            </a:r>
          </a:p>
        </p:txBody>
      </p:sp>
    </p:spTree>
    <p:extLst>
      <p:ext uri="{BB962C8B-B14F-4D97-AF65-F5344CB8AC3E}">
        <p14:creationId xmlns:p14="http://schemas.microsoft.com/office/powerpoint/2010/main" val="6498939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93384-4E05-41B0-B9B7-4E90F394E0BF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738688" y="3286125"/>
            <a:ext cx="947738" cy="20478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AD398-0CC7-4D3A-BED2-E224E18A1AFF}"/>
              </a:ext>
            </a:extLst>
          </p:cNvPr>
          <p:cNvCxnSpPr>
            <a:stCxn xmlns:a="http://schemas.openxmlformats.org/drawingml/2006/main" id="20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10453688" y="3286125"/>
            <a:ext cx="214313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44635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96AFD8-7946-4B30-9226-7DEE3B23B72E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82125" y="4691063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A0CC6-0C55-4D0F-97D7-68E3DA01599F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905750" y="3286125"/>
            <a:ext cx="119063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27487"/>
            </a:solidFill>
            <a:prstDash val="dash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722A8-10A3-4DBD-AA30-094C56EC97F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48750" y="288131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AFF1B-185B-4C2B-8260-B0E86FB4A7AD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96000" y="28813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A26D6-BD0F-4236-AA4A-93CBC1CDB5A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09875" y="28813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15CD3D-D5B3-48F5-A81C-3BB1DA26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350C0-5380-429B-AF7C-7379E175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C0E0E-D34F-4B39-9C3E-0B7DBCEB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1B2F5-8741-4A2B-8DB8-B09AD6F9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02DEE-1682-4A8B-B64C-26382A60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94595-AA9F-4253-BBB9-39CAC2E7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482F9-5640-439F-BAB3-FB25BFF7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CE0CD-0304-44C8-A675-B41B61F1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83C55-EFDF-4081-973D-B323A148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967B5-69BA-41F2-811C-7DE54369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图8  证据校验与结果输出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A1E0C-5F11-40F5-AEA6-B6A3FE50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5A77D-9088-438B-B244-8EB21AA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工具结果如何进入回答，语言层又能改动什么？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BB9B0-E384-483D-AF9B-3122E352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9B81B-3652-4A51-8102-B2972F85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10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DE109-79DF-459A-B68D-FC381065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Tool 调用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结构化返回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7EE8D-3085-44C3-8087-D5DA738C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2714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EvidenceCollector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查询 / 数据 / 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0951F-0886-44D6-B530-094AA30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228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Python 事实说明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formatter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AAA4A-A509-47B6-915D-12C5ADF0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2238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规则输出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本次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FB2BC-54CD-44C1-8AFF-4BB01585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2714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可选 LLM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仅选择 statement_ids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F71A6-2E94-4581-83D1-D01F569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86250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F"/>
          </a:solidFill>
          <a:ln xmlns:a="http://schemas.openxmlformats.org/drawingml/2006/main" w="14288">
            <a:solidFill>
              <a:srgbClr val="B44635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Schema / 引用集</a:t>
            </a:r>
          </a:p>
          <a:p xmlns:a="http://schemas.openxmlformats.org/drawingml/2006/main">
            <a:pPr algn="ctr">
              <a:defRPr sz="1725" b="1">
                <a:solidFill>
                  <a:srgbClr val="B44635"/>
                </a:solidFill>
              </a:defRPr>
            </a:pPr>
            <a:r>
              <a:rPr sz="1725" b="1">
                <a:solidFill>
                  <a:srgbClr val="B44635"/>
                </a:solidFill>
              </a:rPr>
              <a:t>校验不通过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BE032-D00E-46C9-90A7-73BEEC29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3381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展示投影与持久会话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来源可查、完整性不变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054E98-3128-481E-B1FA-A8E62F54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工具异常也收集失败证据</a:t>
            </a:r>
          </a:p>
          <a:p xmlns:a="http://schemas.openxmlformats.org/drawingml/2006/main">
            <a:pPr>
              <a:defRPr sz="1875" b="0">
                <a:solidFill>
                  <a:srgbClr val="172D40"/>
                </a:solidFill>
              </a:defRPr>
            </a:pPr>
            <a:r>
              <a:rPr sz="1875" b="0">
                <a:solidFill>
                  <a:srgbClr val="172D40"/>
                </a:solidFill>
              </a:rPr>
              <a:t>不补写库存或成功结果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37F7E3-F757-4C74-9141-FFF9B323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蓝实线为主路径，灰虚线为开发可选模式，红线表示失败或回退。</a:t>
            </a:r>
          </a:p>
        </p:txBody>
      </p:sp>
    </p:spTree>
    <p:extLst>
      <p:ext uri="{BB962C8B-B14F-4D97-AF65-F5344CB8AC3E}">
        <p14:creationId xmlns:p14="http://schemas.microsoft.com/office/powerpoint/2010/main" val="309353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E4518B-F7B2-4E8F-B04C-436BDBE430C9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239125" y="5048250"/>
            <a:ext cx="333375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76337-7764-402B-80FE-8DD0564F92D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095875" y="4643438"/>
            <a:ext cx="1381125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3560F-298A-4371-9097-2192B0872331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2833688" y="2809875"/>
            <a:ext cx="3738563" cy="1428750"/>
          </a:xfrm>
          <a:prstGeom xmlns:a="http://schemas.openxmlformats.org/drawingml/2006/main" prst="bentConnector4">
            <a:avLst>
              <a:gd name="adj1" fmla="val 6115"/>
              <a:gd name="adj2" fmla="val 84000"/>
            </a:avLst>
          </a:prstGeom>
          <a:ln xmlns:a="http://schemas.openxmlformats.org/drawingml/2006/main" w="19050">
            <a:solidFill>
              <a:srgbClr val="B44635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D7E7C-CB48-4396-9465-51F39B3C9502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8191500" y="3333750"/>
            <a:ext cx="47625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7D70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12DA63-6C59-4194-9FEB-4F745DCEFE6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667375" y="2786063"/>
            <a:ext cx="90487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E83B0-8544-4644-B88C-DF4A1806D60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952750" y="2786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3F7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CFD5F5-0017-4908-8093-7ECD32E0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FC84D-A917-4087-8E25-3327008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52DCA-0353-425E-9EA7-2406BF90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E4AC8-4F1D-4A2B-B6DA-A824525C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模型方法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9F037-2FD7-4F1A-8B44-43B2BC6E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ED32C-BD6C-423E-860A-8105ACCA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3F0E9-FD80-4E79-91EB-DF359019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BF3AC-329A-44D8-8FA4-8D7B53AE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C5FD9-559B-4997-9C88-15532519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B9B24-1991-4780-9BF4-4BDB844A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图9  连续追问及证据复用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67DC7-0EA1-4CD5-BC48-D3CFB1E2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7E69B-845F-4D58-B488-48EF0DD2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“为什么不能生产”是否需要再次计算库存？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40BE0-5B5B-41DF-B95E-B0B5A66D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54312-0282-4D0F-9AE3-2F1D4967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293C1-61D6-44D9-A9A9-BA8486CA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上一轮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持久化结果与引用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8DF21-08C8-4365-900F-A4C541CE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追问识别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5BE1E-6960-4239-9E7F-00784D27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323850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匹配任务？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对象 / 版本 / 数量 / 时点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274BB-B089-43A6-8B68-5A4E3F2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复用历史 Evidence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标明非最新重查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0C99D-415C-4837-8D90-8AF5ECC8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4524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4288">
            <a:solidFill>
              <a:srgbClr val="153F7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未匹配 / 明确刷新</a:t>
            </a:r>
          </a:p>
          <a:p xmlns:a="http://schemas.openxmlformats.org/drawingml/2006/main">
            <a:pPr algn="ctr">
              <a:defRPr sz="1725" b="1">
                <a:solidFill>
                  <a:srgbClr val="153F73"/>
                </a:solidFill>
              </a:defRPr>
            </a:pPr>
            <a:r>
              <a:rPr sz="1725" b="1">
                <a:solidFill>
                  <a:srgbClr val="153F73"/>
                </a:solidFill>
              </a:rPr>
              <a:t>进入正常规划与校验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2E1D6-3853-4BB5-9ABB-4DF66B77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0"/>
          </a:solidFill>
          <a:ln xmlns:a="http://schemas.openxmlformats.org/drawingml/2006/main" w="14288">
            <a:solidFill>
              <a:srgbClr val="167D70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保存本轮回答</a:t>
            </a:r>
          </a:p>
          <a:p xmlns:a="http://schemas.openxmlformats.org/drawingml/2006/main">
            <a:pPr algn="ctr">
              <a:defRPr sz="1725" b="1">
                <a:solidFill>
                  <a:srgbClr val="167D70"/>
                </a:solidFill>
              </a:defRPr>
            </a:pPr>
            <a:r>
              <a:rPr sz="1725" b="1">
                <a:solidFill>
                  <a:srgbClr val="167D70"/>
                </a:solidFill>
              </a:rPr>
              <a:t>保留 reused_from_turn_id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D9FF46-DD0A-4A22-A7F6-5E85CA98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90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67D70"/>
                </a:solidFill>
              </a:defRPr>
            </a:pPr>
            <a:r>
              <a:rPr sz="1650" b="0">
                <a:solidFill>
                  <a:srgbClr val="167D70"/>
                </a:solidFill>
              </a:rPr>
              <a:t>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D97CF9-E5C0-4D3C-B333-13FF21A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B44635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44635"/>
                </a:solidFill>
              </a:defRPr>
            </a:pPr>
            <a:r>
              <a:rPr sz="1650" b="0">
                <a:solidFill>
                  <a:srgbClr val="B44635"/>
                </a:solidFill>
              </a:rPr>
              <a:t>否 / 刷新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FF6E6-38DC-4FB4-9B9F-D37FEC20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原因追问实测不重复执行工具；改变数量后按新任务重新计算。</a:t>
            </a:r>
          </a:p>
        </p:txBody>
      </p:sp>
    </p:spTree>
    <p:extLst>
      <p:ext uri="{BB962C8B-B14F-4D97-AF65-F5344CB8AC3E}">
        <p14:creationId xmlns:p14="http://schemas.microsoft.com/office/powerpoint/2010/main" val="18613754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BBA1A-7984-482B-A4AE-D680978F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1C007-C475-44A6-8BE1-F5B00722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80B4D-A0B9-40A7-97D4-3C8A7BB6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8D918-198D-4852-BA1E-5BD36036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469AE-322B-4A45-8D1F-1C023EF7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F229B-039E-4E36-9E8B-EAAD652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6E360-D9F8-4E11-AA9F-E0C76700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2DEDE-0DF0-445D-8B99-4F678B38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91BAA-D946-4FE4-9ACB-F1563B93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2BE44-795E-4280-80CD-78353149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完整案例：100台不足，50台齐套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224A9-1D2A-4EB7-88AD-4DE87163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319B3-7BD7-4ED5-8D71-FFBD07EF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同一数据版本下，任务修改与原因追问得到什么结果？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BCD1D-BF3A-4BF9-A7D9-EE692BA7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AE45F-8866-45A6-8466-3119A209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12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FBF78-E2F7-41EB-94FF-CFFEC95665E8}"/>
              </a:ext>
            </a:extLst>
          </p:cNvPr>
          <p:cNvGraphicFramePr/>
          <p:nvPr/>
        </p:nvGraphicFramePr>
        <p:xfrm>
          <a:off xmlns:a="http://schemas.openxmlformats.org/drawingml/2006/main" x="523875" y="2238375"/>
          <a:ext xmlns:a="http://schemas.openxmlformats.org/drawingml/2006/main" cx="11144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39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轮次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问题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实际响应与业务含义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生产100台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4项叶子物料不足，保留缺口与来源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为什么不能生产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复用第1轮证据，不重新查询库存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生产50台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4项物料均齐套，结果与新数量绑定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展开来源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查看 BOM / 库存来源及快照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后续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100台采购建议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4项采购建议，合成成本1560.00 CNY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9F6DD-800B-4CF6-BA75-270F31B0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齐套口径不考虑设备、工时与工单审批；采购建议不等于实际下单。</a:t>
            </a:r>
          </a:p>
        </p:txBody>
      </p:sp>
    </p:spTree>
    <p:extLst>
      <p:ext uri="{BB962C8B-B14F-4D97-AF65-F5344CB8AC3E}">
        <p14:creationId xmlns:p14="http://schemas.microsoft.com/office/powerpoint/2010/main" val="20149020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CC825-3090-4A71-9F2F-46FA79B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41111-9152-4CC4-BD02-A4017BD2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6348F-8ECF-42A7-BB16-655DB29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3283B-D4A9-4F5C-843C-F7C8587E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1660A-2FEE-4C28-B3A3-32E89604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566D5-F7EA-427C-90E6-B767CFE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C8D0D-4DB2-4094-816B-92CC2049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71B7C-C56E-4F49-9A33-E405DF24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8357D-6709-420A-9A29-7085F9AE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6C6DD-E2B2-42F7-A2CA-F15AFFC0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实验设置与版本绑定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A9D6A-4EA1-4806-8509-B45C739A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9A899-0379-47A7-B9D9-D2B6AD52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这些结果在哪个环境、模式和数据时点下产生？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59800-580D-4CA5-9C6F-5EB182DA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AEF87-E2A4-4A90-B02B-7CBB3656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13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A4012-5B57-4AC3-AE87-57D33CF1B18C}"/>
              </a:ext>
            </a:extLst>
          </p:cNvPr>
          <p:cNvGraphicFramePr/>
          <p:nvPr/>
        </p:nvGraphicFramePr>
        <p:xfrm>
          <a:off xmlns:a="http://schemas.openxmlformats.org/drawingml/2006/main" x="523875" y="2143125"/>
          <a:ext xmlns:a="http://schemas.openxmlformats.org/drawingml/2006/main" cx="1114425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72125"/>
                <a:gridCol w="5572125"/>
              </a:tblGrid>
              <a:tr h="51026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设置项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本次取值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代码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HEAD 95a526b + 当前未提交修改，关键源码 SHA 归档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模式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当前 Vue 独立编译 + Trial FastAPI，规则理解，rule_fallback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产品与BOM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DEMO-PMC-01 / V01，全部为合成数据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业务时点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生效日2026-10-02，库存2026-10-02 00:00 UTC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采购计划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开工日2026-10-20，合成价格为 CNY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复测日期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2026-10-12，本机 Edge，独立 SQLite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D08B1-C40D-47A7-8D4E-888118C8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完整前端构建仍被测试 TypeScript 错误阻断；本次单独 Vite 编译成功。</a:t>
            </a:r>
          </a:p>
        </p:txBody>
      </p:sp>
    </p:spTree>
    <p:extLst>
      <p:ext uri="{BB962C8B-B14F-4D97-AF65-F5344CB8AC3E}">
        <p14:creationId xmlns:p14="http://schemas.microsoft.com/office/powerpoint/2010/main" val="11835088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7365A-0C29-4667-B5E7-FB0C79EB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070EA-01A6-4508-B03D-77DE2A6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EAE53-60F2-421A-95DA-5517426E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9F521-6312-482A-8723-01AA24E2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054D4-7CA6-458F-8614-F86B5E00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D1A2A-04FD-47C4-A651-9F47B50D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A40AA-7B3D-449A-8D1A-18DE8498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FD318-2CB4-43D1-BCF1-E2B1ED1D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A7C85-376D-40C8-9927-8E1DE17E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8D225-EEC5-43AD-BA87-D23A1118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数量边界：四种物料同时限制75台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ABF56-3463-4F19-A91C-922E6AA3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A8DE5-9C60-4BB1-91B5-B1DAC026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75台与76台的分界能否由原始用量和库存复算？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7325B-A512-4895-A582-ADC8BF50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A4D08-9A70-4403-BDD8-E599656B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14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2881E-9E10-401C-AEF6-307BFF4A27EE}"/>
              </a:ext>
            </a:extLst>
          </p:cNvPr>
          <p:cNvGraphicFramePr/>
          <p:nvPr/>
        </p:nvGraphicFramePr>
        <p:xfrm>
          <a:off xmlns:a="http://schemas.openxmlformats.org/drawingml/2006/main" x="523875" y="2333625"/>
          <a:ext xmlns:a="http://schemas.openxmlformats.org/drawingml/2006/main" cx="8239125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7825"/>
                <a:gridCol w="1647825"/>
                <a:gridCol w="1647825"/>
                <a:gridCol w="1647825"/>
                <a:gridCol w="1647825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叶子物料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用量 件/台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可用库存 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100台缺口 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上限 台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演示主板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演示芯片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演示电机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150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演示紧固件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09B12-05CC-42A5-BDB8-79AAB1A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实跑边界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08A0E-F098-48B0-8C53-484E93EC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238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50台：齐套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75台：齐套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76台：不足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100台：不足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FDCC1-1E49-4D3D-8F1C-A1C01663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需求 = 单台用量 × 目标数量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缺口 = max(需求 − 可用库存, 0)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理论上限 = min floor(各物料库存 ÷ 单台用量)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4C6CF-0B5F-4845-9AF1-CA157B26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只有数据完整、单位可比且快照一致时，系统才给出理论上限。</a:t>
            </a:r>
          </a:p>
        </p:txBody>
      </p:sp>
    </p:spTree>
    <p:extLst>
      <p:ext uri="{BB962C8B-B14F-4D97-AF65-F5344CB8AC3E}">
        <p14:creationId xmlns:p14="http://schemas.microsoft.com/office/powerpoint/2010/main" val="4081011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46DEB-215C-4D53-A7B1-97ADDA6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FB6C4-9E04-4B4F-8600-575FFBC0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8544F-08AF-4FAE-8BED-F7CF10BC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32385-F596-4607-9839-462E0C78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32F1A-0EEB-4E86-900E-CB2C3D5B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BD9CB-A4C5-480F-940A-217784FF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F349C-388C-4AB2-8499-0C159F0C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790F3-8B25-434B-8C5D-3D7A531F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0CF7E-DD27-4B80-B803-ED57011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ED1DC-4E9A-4298-837D-A83345A0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异常与交互：失败不产生替代数字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2F17E-7657-4AE3-9EC7-1235894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20DE2-632C-44B1-AAB8-26B6B682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非法数量和证据追问如何影响工具调用？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57986-EDF0-4DC0-BA34-F6E52541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A8AD6-B423-46E2-91AD-DD0A76F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15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63576-9B1E-4787-B2F7-A9998BDCF04D}"/>
              </a:ext>
            </a:extLst>
          </p:cNvPr>
          <p:cNvGraphicFramePr/>
          <p:nvPr/>
        </p:nvGraphicFramePr>
        <p:xfrm>
          <a:off xmlns:a="http://schemas.openxmlformats.org/drawingml/2006/main" x="523875" y="2286000"/>
          <a:ext xmlns:a="http://schemas.openxmlformats.org/drawingml/2006/main" cx="11144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情形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核验方式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可支持结论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生产0台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真实HTTP响应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needs_input，不执行事实计算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原因追问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 + reused_from_turn_id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复用100台证据，completed_steps为空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75 / 76 边界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真实HTTP +专项测试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切换数量触发新计算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会话所有权拒绝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本次 test_remote_trial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跨账号读取受阻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网络错误 / UI恢复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历史验收文档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本次未专项复测，需另验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57BBF-59D6-424B-9D34-5D862A6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本次专项：37 passed。软件测试计数不代表业务准确率。</a:t>
            </a:r>
          </a:p>
        </p:txBody>
      </p:sp>
    </p:spTree>
    <p:extLst>
      <p:ext uri="{BB962C8B-B14F-4D97-AF65-F5344CB8AC3E}">
        <p14:creationId xmlns:p14="http://schemas.microsoft.com/office/powerpoint/2010/main" val="4098300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B55F5-DF43-4318-817C-42F7B283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66CEE-C7D3-417B-A544-BA41EBB0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A4A53-EACC-47A5-8105-80EDABAA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4F99C-0766-4591-9219-847990EC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5C49A-08F8-4C65-B63F-D8AC962D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891C3-32C8-40A0-865C-CDA608F6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1BB37-B371-4DD1-8CC1-93A0E30C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CCAA0-AE26-416E-B951-4D7E92FA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AC25F-E713-45FB-93D3-7A1DBDE1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E9524-8026-4361-AD1E-B95F284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验收覆盖与尚缺的效果比较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F05BB4-B6AD-4945-8D27-BE35E03C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5A4D6-2943-422B-9E91-0209EA70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当前证据足以支持哪些结论，哪些比较仍无法开展？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7C230-EBB9-43F9-94DC-8F52ADE3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BD1F1-5B70-4A79-9A7D-D5E1EA42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16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BC6D9-65BE-4E3C-8E3F-65DFC7CC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本次已核验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6E58B-2900-4C49-909B-2925C640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同版本连续问答和来源展开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50 / 75 / 76 / 100 数量边界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0数量拒绝与证据复用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采购规则、价格与总成本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三个专项测试文件：37项通过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13854-2065-4243-B274-9193E09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44FF0-5753-4E0A-9D70-BC06EC2D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仍缺对比证据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641CC-3D37-474E-94F7-31861271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没有人工或普通问答基线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未测真实业务决策准确率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未测现场节省时间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未测大样本延迟与并发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未重新跑当前完整软件测试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0A20C-C0B6-4B52-9E51-729A17E1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因此本页使用验收覆盖，不画无基线的提升率或对比柱状图。</a:t>
            </a:r>
          </a:p>
        </p:txBody>
      </p:sp>
    </p:spTree>
    <p:extLst>
      <p:ext uri="{BB962C8B-B14F-4D97-AF65-F5344CB8AC3E}">
        <p14:creationId xmlns:p14="http://schemas.microsoft.com/office/powerpoint/2010/main" val="6081624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35E65-50CE-4B02-81FE-C87BEC9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57B25-6925-4AFB-995A-0D54B4B4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F3478-72AD-45B4-BCF5-9E0CDABD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B0E90-9757-4F8B-A9DF-DAF1A38A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BFC75-7443-4EBD-8BD7-91924E4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643FF-5730-467D-AFA5-520C42D4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9380A-A8D7-4158-B8CF-E0577E86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BD66C-CBBF-4A4E-BC7F-7CEE7D53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32F49-4ECD-4FD7-8A55-4873C813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2BB39-1AF0-44FB-A123-073B08CC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当前系统截图：100台缺料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8980D-A8C6-4836-8947-A51C75B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C2B80-5F5C-4A2F-BC38-BDDF34E4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页面是否展示与真实响应一致的缺口？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70C5C-E07A-4F6A-91BA-C2247876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24F4C-9625-4D97-B64F-507A168D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17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77A48-0ECA-4A08-A061-F57FD65536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1120d14ca40b8"/>
          <a:stretch xmlns:a="http://schemas.openxmlformats.org/drawingml/2006/main"/>
        </p:blipFill>
        <p:spPr>
          <a:xfrm xmlns:a="http://schemas.openxmlformats.org/drawingml/2006/main">
            <a:off x="1147505" y="2171700"/>
            <a:ext cx="4658240" cy="3667125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6C350-38CE-4CA8-A0CA-5339ECBD0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4a92923834d0b"/>
          <a:stretch xmlns:a="http://schemas.openxmlformats.org/drawingml/2006/main"/>
        </p:blipFill>
        <p:spPr>
          <a:xfrm xmlns:a="http://schemas.openxmlformats.org/drawingml/2006/main">
            <a:off x="6572250" y="2343758"/>
            <a:ext cx="5095875" cy="336110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A8815-8FB7-4A55-A801-CD52A65F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2026-10-12，当前工作区，Trial规则模式，DEMO-PMC-01/V01合成数据。</a:t>
            </a:r>
          </a:p>
        </p:txBody>
      </p:sp>
    </p:spTree>
    <p:extLst>
      <p:ext uri="{BB962C8B-B14F-4D97-AF65-F5344CB8AC3E}">
        <p14:creationId xmlns:p14="http://schemas.microsoft.com/office/powerpoint/2010/main" val="20533788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284E8-750E-4A72-B9F5-D303A04F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36927-FA5A-48E2-8E12-02F357E0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93E0B-6E38-43E2-A6EF-B8431A66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22C57-4401-4C19-880A-B8AB99DF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65ED7-3E9F-4FB8-AB89-23BB0395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3F660-733C-4AFD-A30E-4763DC80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8EED4-29CA-424E-8DDC-0C1C37D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EAA65-3821-48EB-9A7B-E65C0363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BF8DA-4689-4778-8BD8-FA52193B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28253-4497-4D61-ABAC-CAC70B7F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当前系统截图：追问与50台齐套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1409F-8BBA-402F-A0F5-148FE363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BD5DC-17FE-42EF-977D-75658B81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从解释原因到修改数量，页面是否同步新任务？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15F15-4A09-4050-9085-1BA27214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69F53-E54B-47F9-990A-EEB4CAC3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18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06BF7-4623-48D6-858B-ED57DDC11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af5744b3242c3"/>
          <a:stretch xmlns:a="http://schemas.openxmlformats.org/drawingml/2006/main"/>
        </p:blipFill>
        <p:spPr>
          <a:xfrm xmlns:a="http://schemas.openxmlformats.org/drawingml/2006/main">
            <a:off x="476250" y="2556950"/>
            <a:ext cx="5619750" cy="2706126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2461F-6F7D-4F2E-A9FD-584B46F9E9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3e083bbb24907"/>
          <a:stretch xmlns:a="http://schemas.openxmlformats.org/drawingml/2006/main"/>
        </p:blipFill>
        <p:spPr>
          <a:xfrm xmlns:a="http://schemas.openxmlformats.org/drawingml/2006/main">
            <a:off x="6381750" y="2124915"/>
            <a:ext cx="5334000" cy="360829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02CF3-46FC-448B-B030-5EC520A2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557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73"/>
                </a:solidFill>
              </a:defRPr>
            </a:pPr>
            <a:r>
              <a:rPr sz="1575" b="1">
                <a:solidFill>
                  <a:srgbClr val="153F73"/>
                </a:solidFill>
              </a:rPr>
              <a:t>原因追问：说明“不是最新库存重查”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1395B-656F-4803-AAE3-DE412C8C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38800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67D70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7D70"/>
                </a:solidFill>
              </a:defRPr>
            </a:pPr>
            <a:r>
              <a:rPr sz="1575" b="1">
                <a:solidFill>
                  <a:srgbClr val="167D70"/>
                </a:solidFill>
              </a:rPr>
              <a:t>50台：主板50/75，其余物料缺口均0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99ACA-E593-410E-8C3A-5E2B2658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同一会话、同一数据版本。两幅图仅裁剪原始截图，未改动业务结果。</a:t>
            </a:r>
          </a:p>
        </p:txBody>
      </p:sp>
    </p:spTree>
    <p:extLst>
      <p:ext uri="{BB962C8B-B14F-4D97-AF65-F5344CB8AC3E}">
        <p14:creationId xmlns:p14="http://schemas.microsoft.com/office/powerpoint/2010/main" val="7350184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30EC3-9F6D-4390-B0D9-02B70D68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22B4A-7CF1-4806-9CFC-9CA762D8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C718E-BBD7-4246-A799-1D0E5236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91945-2010-4968-BDEA-F34305F3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6DFF3-73E4-425C-8F03-A17D8C0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7D8A1-53A4-48BF-AB13-D4100F6C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97042-61AD-4B25-87B2-E114174D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6269B-07BA-41BD-85D6-AAB77A41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BBDDF-9828-48C3-ABC7-E5436449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7A036-1712-4F47-ACCE-64D3048E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当前系统截图：来源与适用条件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AEF73-6024-4142-A4B7-4BE24872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F399E-B158-4604-977E-162E46E6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结论能否定位到具体事实文件、版本和库存时点？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F487E-20D6-495A-B94B-CE227990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37565-741E-4DAB-B285-F25BCBE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19 / 22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9B24A-DB4C-4111-8D1F-22D68A3557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3b53d00054219"/>
          <a:stretch xmlns:a="http://schemas.openxmlformats.org/drawingml/2006/main"/>
        </p:blipFill>
        <p:spPr>
          <a:xfrm xmlns:a="http://schemas.openxmlformats.org/drawingml/2006/main">
            <a:off x="523875" y="2312811"/>
            <a:ext cx="4953000" cy="3375378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6ED63-67CE-45FF-A909-BE598FF8CC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6ccb6d7c14fdf"/>
          <a:stretch xmlns:a="http://schemas.openxmlformats.org/drawingml/2006/main"/>
        </p:blipFill>
        <p:spPr>
          <a:xfrm xmlns:a="http://schemas.openxmlformats.org/drawingml/2006/main">
            <a:off x="6000750" y="2323394"/>
            <a:ext cx="5524500" cy="278271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43365-F08B-4364-9F7D-5581F18D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BOM版本 V01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库存快照 2026-10-02 00:00 UTC</a:t>
            </a:r>
          </a:p>
          <a:p xmlns:a="http://schemas.openxmlformats.org/drawingml/2006/main">
            <a:pPr>
              <a:defRPr sz="1650" b="0">
                <a:solidFill>
                  <a:srgbClr val="172D40"/>
                </a:solidFill>
              </a:defRPr>
            </a:pPr>
            <a:r>
              <a:rPr sz="1650" b="0">
                <a:solidFill>
                  <a:srgbClr val="172D40"/>
                </a:solidFill>
              </a:rPr>
              <a:t>来源保留批次和文件校验摘要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14053-9860-4CE2-8FE1-606A4282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Trial规则模式，合成事实。来源页字段“未提供”保持原样，未补写。</a:t>
            </a:r>
          </a:p>
        </p:txBody>
      </p:sp>
    </p:spTree>
    <p:extLst>
      <p:ext uri="{BB962C8B-B14F-4D97-AF65-F5344CB8AC3E}">
        <p14:creationId xmlns:p14="http://schemas.microsoft.com/office/powerpoint/2010/main" val="5012990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57FE6-30F7-4380-AD42-74F5976E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71BCD-C316-4566-96EB-CCBF6A73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BDDC9-3A86-450D-B1C1-EDBA0544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10869-8859-4630-8511-B05885A6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77558-6C89-4FE1-B561-CE0C5B1D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F182A-FDA5-4646-B1E4-5DA7F7B7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39B0D-F8E5-428D-8E27-E3C1361A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0588B-2B9A-4B82-A218-D0D6F927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6B50B-E44A-42DF-A2C7-79F10911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727CB-944F-43A8-963D-774CE806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能力边界：数量核对与业务放行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5DFF8-D30E-4FD5-8577-93C13269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C5177-4DE9-4AAE-BC97-E74D2A9D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系统的计算结果能否直接用于排产、采购或交期承诺？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D0FDB-A457-4CF8-962E-D3ADC220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AD524-67CF-4A27-892A-DD2DDD61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20 / 22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04CB0-6E63-4677-85DA-7AB994EAAC25}"/>
              </a:ext>
            </a:extLst>
          </p:cNvPr>
          <p:cNvGraphicFramePr/>
          <p:nvPr/>
        </p:nvGraphicFramePr>
        <p:xfrm>
          <a:off xmlns:a="http://schemas.openxmlformats.org/drawingml/2006/main" x="523875" y="2381250"/>
          <a:ext xmlns:a="http://schemas.openxmlformats.org/drawingml/2006/main" cx="1114425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581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可提供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必要条件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不可据此承诺</a:t>
                      </a:r>
                    </a:p>
                  </a:txBody>
                  <a:tcPr marL="91440" marR="91440" marT="45720" marB="45720">
                    <a:solidFill>
                      <a:srgbClr val="153F7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BOM与物料需求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已发布版本、用量与单位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BOM工程正确性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库存齐套与理论上限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完整权威可用量与一致快照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设备工时、工单放行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采购数量与合成成本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MOQ、倍数、价格与日期完整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实际订单、供应商交期</a:t>
                      </a:r>
                    </a:p>
                  </a:txBody>
                  <a:tcPr marL="91440" marR="91440" marT="45720" marB="45720">
                    <a:solidFill>
                      <a:srgbClr val="F0F5F9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历史原因和来源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同一任务绑定的证据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40"/>
                          </a:solidFill>
                        </a:rPr>
                        <a:t>实时ERP同步与最新库存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3E85D-09F0-44D9-99BA-98FFEFD9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1560.00 CNY 为合成采购测算：30×20 +100×2 +50×15 +200×0.05。</a:t>
            </a:r>
          </a:p>
        </p:txBody>
      </p:sp>
    </p:spTree>
    <p:extLst>
      <p:ext uri="{BB962C8B-B14F-4D97-AF65-F5344CB8AC3E}">
        <p14:creationId xmlns:p14="http://schemas.microsoft.com/office/powerpoint/2010/main" val="2656945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ABD72-8E02-43D2-A702-D82B420E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B3E1C-824A-44AA-9331-A9CEA691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B59A6-C858-4A21-8E1C-D38636FE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42599-2BE5-40FA-935D-B2A2176F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72C7-C934-4CF3-A6A4-58113704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9EF20-1429-47CC-8E6A-14ABC69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E2AFA-9EDA-470D-A696-4E0AF712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D13CB-1C4D-4183-B465-8FCE8CED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A7CDB-0FAB-4F66-9EAA-2AD02D97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CDAF-9BB4-4387-BDF9-DC7B6B8A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局限与后续验证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4EE8D-8476-4BB4-9806-3F433383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85F0D-455E-4D71-8566-83A66B1D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当前演示与真实生产部署之间还缺哪些证据？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61F64-BBEB-4B6C-AA1D-5EFF126E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BCEC0-6BB4-42D2-BB2A-EAD542CC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21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0521A-73B2-414A-A33D-4856CC70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数据与实验局限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FFC14-1F4D-48D1-9C6C-92BB8132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本次只复测固定合成场景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库存为版本化快照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缺少真实设备与工时约束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没有真实基线和用户效果数据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1AF08-DE42-4569-B6D6-A2929BC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90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CD2CF-CF29-4235-A669-F2A55E73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336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F73"/>
                </a:solidFill>
              </a:defRPr>
            </a:pPr>
            <a:r>
              <a:rPr sz="2250" b="1">
                <a:solidFill>
                  <a:srgbClr val="153F73"/>
                </a:solidFill>
              </a:rPr>
              <a:t>工程与后续工作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490F7-3830-432F-B862-E88977C5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完整前端构建仍有类型错误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修复后重新完成全量验收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扩大任务集并加入缺失数据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建立人工/普通问答统一比较</a:t>
            </a:r>
          </a:p>
          <a:p xmlns:a="http://schemas.openxmlformats.org/drawingml/2006/main">
            <a:pPr>
              <a:defRPr sz="1950" b="0">
                <a:solidFill>
                  <a:srgbClr val="172D40"/>
                </a:solidFill>
              </a:defRPr>
            </a:pPr>
            <a:r>
              <a:rPr sz="1950" b="0">
                <a:solidFill>
                  <a:srgbClr val="172D40"/>
                </a:solidFill>
              </a:rPr>
              <a:t>独立验证现场权限与交付流程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FD791-D72C-4C9F-8BF6-9C49D00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27487"/>
                </a:solidFill>
              </a:defRPr>
            </a:pPr>
            <a:r>
              <a:rPr sz="1350" b="0">
                <a:solidFill>
                  <a:srgbClr val="627487"/>
                </a:solidFill>
              </a:rPr>
              <a:t>外部供应风险预测、自动下单与实时 ERP 接入不作为当前已实现成果。</a:t>
            </a:r>
          </a:p>
        </p:txBody>
      </p:sp>
    </p:spTree>
    <p:extLst>
      <p:ext uri="{BB962C8B-B14F-4D97-AF65-F5344CB8AC3E}">
        <p14:creationId xmlns:p14="http://schemas.microsoft.com/office/powerpoint/2010/main" val="1160497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913571-6E3E-41F8-BFAE-8461EAE1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73"/>
                </a:solidFill>
              </a:defRPr>
            </a:pPr>
            <a:r>
              <a:rPr sz="1800" b="1">
                <a:solidFill>
                  <a:srgbClr val="153F73"/>
                </a:solidFill>
              </a:rPr>
              <a:t>PMC-Agent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77FE8-9A28-4EDB-8F69-01F6EB7D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研究背景及动机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FD46D-D8CE-4D35-9E7D-2B2BA209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模型方法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F1075-5440-4D6D-A75A-59136A11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73"/>
                </a:solidFill>
              </a:defRPr>
            </a:pPr>
            <a:r>
              <a:rPr sz="1650" b="0">
                <a:solidFill>
                  <a:srgbClr val="153F73"/>
                </a:solidFill>
              </a:rPr>
              <a:t>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10610-9E14-4EFF-8344-AA921B99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857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C2B32-EB9D-4667-AEED-BA909DD8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结论与讨论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AE25D-ECDF-4F7D-9639-AE8D432F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F78E9-57E7-49EC-92D1-621AAB0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838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58B79-2FFE-40C3-8E7D-073551B0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001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EEC54-BD46-40FF-8288-BE73999D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819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F73"/>
                </a:solidFill>
              </a:defRPr>
            </a:pPr>
            <a:r>
              <a:rPr sz="2700" b="1">
                <a:solidFill>
                  <a:srgbClr val="153F73"/>
                </a:solidFill>
              </a:rPr>
              <a:t>结论与致谢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34489-477B-45BA-84C7-20AC4AB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1125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18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45747-3507-4AB5-9B02-A140F5DA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972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D40"/>
                </a:solidFill>
              </a:defRPr>
            </a:pPr>
            <a:r>
              <a:rPr sz="1800" b="1">
                <a:solidFill>
                  <a:srgbClr val="172D40"/>
                </a:solidFill>
              </a:rPr>
              <a:t>本次可验证的项目贡献是什么？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82F8B-5A4B-4703-80D2-997ECE5C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571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27487"/>
                </a:solidFill>
              </a:defRPr>
            </a:pPr>
            <a:r>
              <a:rPr sz="1050" b="0">
                <a:solidFill>
                  <a:srgbClr val="627487"/>
                </a:solidFill>
              </a:rPr>
              <a:t>PMC-Agent 项目研究汇报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0ECA9-AA9B-4DA5-8E59-6073CB27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48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27487"/>
                </a:solidFill>
              </a:defRPr>
            </a:pPr>
            <a:r>
              <a:rPr sz="1200" b="0">
                <a:solidFill>
                  <a:srgbClr val="627487"/>
                </a:solidFill>
              </a:rPr>
              <a:t>22 / 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15A96-FD59-456A-8AB2-C2A865C8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F73"/>
                </a:solidFill>
              </a:defRPr>
            </a:pPr>
            <a:r>
              <a:rPr sz="3225" b="1">
                <a:solidFill>
                  <a:srgbClr val="153F73"/>
                </a:solidFill>
              </a:rPr>
              <a:t>可核查的物料计划辅助流程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ED122-1888-4497-8105-2A210E12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2D40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受控事实限定数据范围，Python 计算业务数量。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连续追问核对任务绑定，Evidence 支撑原因与来源查询。</a:t>
            </a:r>
          </a:p>
          <a:p xmlns:a="http://schemas.openxmlformats.org/drawingml/2006/main">
            <a:pPr>
              <a:defRPr sz="2175" b="0">
                <a:solidFill>
                  <a:srgbClr val="172D40"/>
                </a:solidFill>
              </a:defRPr>
            </a:pPr>
            <a:r>
              <a:rPr sz="2175" b="0">
                <a:solidFill>
                  <a:srgbClr val="172D40"/>
                </a:solidFill>
              </a:rPr>
              <a:t>合成案例复测支持数量边界和采购规则，真实业务效果仍待验证。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DF922-5402-418F-9C4F-E7D210FF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3F73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F73"/>
                </a:solidFill>
              </a:defRPr>
            </a:pPr>
            <a:r>
              <a:rPr sz="2550" b="1">
                <a:solidFill>
                  <a:srgbClr val="153F73"/>
                </a:solidFill>
              </a:rPr>
              <a:t>感谢聆听，欢迎批评指正</a:t>
            </a:r>
          </a:p>
        </p:txBody>
      </p:sp>
    </p:spTree>
    <p:extLst>
      <p:ext uri="{BB962C8B-B14F-4D97-AF65-F5344CB8AC3E}">
        <p14:creationId xmlns:p14="http://schemas.microsoft.com/office/powerpoint/2010/main" val="1290489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2026-10-12T02:50:06.6590000Z</dcterms:created>
  <dcterms:modified xsi:type="dcterms:W3CDTF">2026-10-12T02:50:06.6590000Z</dcterms:modified>
</coreProperties>
</file>