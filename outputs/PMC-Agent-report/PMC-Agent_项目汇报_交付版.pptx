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54a38ee03c4597" /><Relationship Type="http://schemas.openxmlformats.org/officeDocument/2006/relationships/extended-properties" Target="/docProps/app.xml" Id="R2e89d363f0284054" /><Relationship Type="http://schemas.openxmlformats.org/officeDocument/2006/relationships/officeDocument" Target="/ppt/presentation.xml" Id="R31e1974d0a064f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c335a4763d47c8"/>
  </p:sldMasterIdLst>
  <p:notesMasterIdLst>
    <p:notesMasterId xmlns:r="http://schemas.openxmlformats.org/officeDocument/2006/relationships" r:id="Ra4c7795f59774dff"/>
  </p:notesMasterIdLst>
  <p:sldIdLst>
    <p:sldId xmlns:r="http://schemas.openxmlformats.org/officeDocument/2006/relationships" id="256" r:id="Rb7770779439147b5"/>
    <p:sldId xmlns:r="http://schemas.openxmlformats.org/officeDocument/2006/relationships" id="257" r:id="Rde143e449fa74b1f"/>
    <p:sldId xmlns:r="http://schemas.openxmlformats.org/officeDocument/2006/relationships" id="258" r:id="R9a8ae9cb97f547d8"/>
    <p:sldId xmlns:r="http://schemas.openxmlformats.org/officeDocument/2006/relationships" id="259" r:id="R26588a750463401f"/>
    <p:sldId xmlns:r="http://schemas.openxmlformats.org/officeDocument/2006/relationships" id="260" r:id="R148c9637de42432b"/>
    <p:sldId xmlns:r="http://schemas.openxmlformats.org/officeDocument/2006/relationships" id="261" r:id="Rb0c69d9cae3f4a26"/>
    <p:sldId xmlns:r="http://schemas.openxmlformats.org/officeDocument/2006/relationships" id="262" r:id="R5cdad25482584fe3"/>
    <p:sldId xmlns:r="http://schemas.openxmlformats.org/officeDocument/2006/relationships" id="263" r:id="Re9d60f1e563443f7"/>
    <p:sldId xmlns:r="http://schemas.openxmlformats.org/officeDocument/2006/relationships" id="264" r:id="R1be15ec7b45649b8"/>
    <p:sldId xmlns:r="http://schemas.openxmlformats.org/officeDocument/2006/relationships" id="265" r:id="R5b04a88d229248aa"/>
    <p:sldId xmlns:r="http://schemas.openxmlformats.org/officeDocument/2006/relationships" id="266" r:id="Ree873dc20c574543"/>
    <p:sldId xmlns:r="http://schemas.openxmlformats.org/officeDocument/2006/relationships" id="267" r:id="Ra065bc444d86454f"/>
    <p:sldId xmlns:r="http://schemas.openxmlformats.org/officeDocument/2006/relationships" id="268" r:id="R62089c1172bd471a"/>
    <p:sldId xmlns:r="http://schemas.openxmlformats.org/officeDocument/2006/relationships" id="269" r:id="R2abd29665400451a"/>
    <p:sldId xmlns:r="http://schemas.openxmlformats.org/officeDocument/2006/relationships" id="270" r:id="Re294a9ab550c4f84"/>
    <p:sldId xmlns:r="http://schemas.openxmlformats.org/officeDocument/2006/relationships" id="271" r:id="Rbab2019b731f43e4"/>
    <p:sldId xmlns:r="http://schemas.openxmlformats.org/officeDocument/2006/relationships" id="272" r:id="R2b94b77c57f94a53"/>
    <p:sldId xmlns:r="http://schemas.openxmlformats.org/officeDocument/2006/relationships" id="273" r:id="Rba59df84cdd647f7"/>
    <p:sldId xmlns:r="http://schemas.openxmlformats.org/officeDocument/2006/relationships" id="274" r:id="R9e0329bb6d944bd6"/>
    <p:sldId xmlns:r="http://schemas.openxmlformats.org/officeDocument/2006/relationships" id="275" r:id="Rbe5654baa1484cf9"/>
    <p:sldId xmlns:r="http://schemas.openxmlformats.org/officeDocument/2006/relationships" id="276" r:id="Rf6e406ff0b8a4e14"/>
    <p:sldId xmlns:r="http://schemas.openxmlformats.org/officeDocument/2006/relationships" id="277" r:id="R8877d99820574ed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f4f46ce45644ca" /><Relationship Type="http://schemas.openxmlformats.org/officeDocument/2006/relationships/slideMaster" Target="/ppt/slideMasters/slideMaster1.xml" Id="Rd5c335a4763d47c8" /><Relationship Type="http://schemas.openxmlformats.org/officeDocument/2006/relationships/notesMaster" Target="/ppt/notesMasters/notesMaster1.xml" Id="Ra4c7795f59774dff" /><Relationship Type="http://schemas.openxmlformats.org/officeDocument/2006/relationships/presProps" Target="/ppt/presProps.xml" Id="R379f1f76bcc140b8" /><Relationship Type="http://schemas.openxmlformats.org/officeDocument/2006/relationships/tableStyles" Target="/ppt/tableStyles.xml" Id="R6b62f98dedd041cd" /><Relationship Type="http://schemas.openxmlformats.org/officeDocument/2006/relationships/slide" Target="/ppt/slides/slide1.xml" Id="Rb7770779439147b5" /><Relationship Type="http://schemas.openxmlformats.org/officeDocument/2006/relationships/slide" Target="/ppt/slides/slide2.xml" Id="Rde143e449fa74b1f" /><Relationship Type="http://schemas.openxmlformats.org/officeDocument/2006/relationships/slide" Target="/ppt/slides/slide3.xml" Id="R9a8ae9cb97f547d8" /><Relationship Type="http://schemas.openxmlformats.org/officeDocument/2006/relationships/slide" Target="/ppt/slides/slide4.xml" Id="R26588a750463401f" /><Relationship Type="http://schemas.openxmlformats.org/officeDocument/2006/relationships/slide" Target="/ppt/slides/slide5.xml" Id="R148c9637de42432b" /><Relationship Type="http://schemas.openxmlformats.org/officeDocument/2006/relationships/slide" Target="/ppt/slides/slide6.xml" Id="Rb0c69d9cae3f4a26" /><Relationship Type="http://schemas.openxmlformats.org/officeDocument/2006/relationships/slide" Target="/ppt/slides/slide7.xml" Id="R5cdad25482584fe3" /><Relationship Type="http://schemas.openxmlformats.org/officeDocument/2006/relationships/slide" Target="/ppt/slides/slide8.xml" Id="Re9d60f1e563443f7" /><Relationship Type="http://schemas.openxmlformats.org/officeDocument/2006/relationships/slide" Target="/ppt/slides/slide9.xml" Id="R1be15ec7b45649b8" /><Relationship Type="http://schemas.openxmlformats.org/officeDocument/2006/relationships/slide" Target="/ppt/slides/slide10.xml" Id="R5b04a88d229248aa" /><Relationship Type="http://schemas.openxmlformats.org/officeDocument/2006/relationships/slide" Target="/ppt/slides/slide11.xml" Id="Ree873dc20c574543" /><Relationship Type="http://schemas.openxmlformats.org/officeDocument/2006/relationships/slide" Target="/ppt/slides/slide12.xml" Id="Ra065bc444d86454f" /><Relationship Type="http://schemas.openxmlformats.org/officeDocument/2006/relationships/slide" Target="/ppt/slides/slide13.xml" Id="R62089c1172bd471a" /><Relationship Type="http://schemas.openxmlformats.org/officeDocument/2006/relationships/slide" Target="/ppt/slides/slide14.xml" Id="R2abd29665400451a" /><Relationship Type="http://schemas.openxmlformats.org/officeDocument/2006/relationships/slide" Target="/ppt/slides/slide15.xml" Id="Re294a9ab550c4f84" /><Relationship Type="http://schemas.openxmlformats.org/officeDocument/2006/relationships/slide" Target="/ppt/slides/slide16.xml" Id="Rbab2019b731f43e4" /><Relationship Type="http://schemas.openxmlformats.org/officeDocument/2006/relationships/slide" Target="/ppt/slides/slide17.xml" Id="R2b94b77c57f94a53" /><Relationship Type="http://schemas.openxmlformats.org/officeDocument/2006/relationships/slide" Target="/ppt/slides/slide18.xml" Id="Rba59df84cdd647f7" /><Relationship Type="http://schemas.openxmlformats.org/officeDocument/2006/relationships/slide" Target="/ppt/slides/slide19.xml" Id="R9e0329bb6d944bd6" /><Relationship Type="http://schemas.openxmlformats.org/officeDocument/2006/relationships/slide" Target="/ppt/slides/slide20.xml" Id="Rbe5654baa1484cf9" /><Relationship Type="http://schemas.openxmlformats.org/officeDocument/2006/relationships/slide" Target="/ppt/slides/slide21.xml" Id="Rf6e406ff0b8a4e14" /><Relationship Type="http://schemas.openxmlformats.org/officeDocument/2006/relationships/slide" Target="/ppt/slides/slide22.xml" Id="R8877d99820574e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04ee4ce30d44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20195c823b4bff" /><Relationship Type="http://schemas.openxmlformats.org/officeDocument/2006/relationships/notesMaster" Target="/ppt/notesMasters/notesMaster1.xml" Id="R72cd15356a3146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f728ba62f94a48" /><Relationship Type="http://schemas.openxmlformats.org/officeDocument/2006/relationships/notesMaster" Target="/ppt/notesMasters/notesMaster1.xml" Id="Rd235ee2fac7e44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a6cfcc8dfb41d4" /><Relationship Type="http://schemas.openxmlformats.org/officeDocument/2006/relationships/notesMaster" Target="/ppt/notesMasters/notesMaster1.xml" Id="R7f3fd3f8599c4b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d00f46110d48ec" /><Relationship Type="http://schemas.openxmlformats.org/officeDocument/2006/relationships/notesMaster" Target="/ppt/notesMasters/notesMaster1.xml" Id="R07029e56331643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c9f253e6ed4325" /><Relationship Type="http://schemas.openxmlformats.org/officeDocument/2006/relationships/notesMaster" Target="/ppt/notesMasters/notesMaster1.xml" Id="Refc110fd082d4b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6d0f6b6e4e4aee" /><Relationship Type="http://schemas.openxmlformats.org/officeDocument/2006/relationships/notesMaster" Target="/ppt/notesMasters/notesMaster1.xml" Id="Ra1a56f90cab34c6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d9d831ab7844b4" /><Relationship Type="http://schemas.openxmlformats.org/officeDocument/2006/relationships/notesMaster" Target="/ppt/notesMasters/notesMaster1.xml" Id="R9086f2c0a52046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27c9ddc574a4655" /><Relationship Type="http://schemas.openxmlformats.org/officeDocument/2006/relationships/notesMaster" Target="/ppt/notesMasters/notesMaster1.xml" Id="R8bb1eb5f2b87407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7033af30988448b" /><Relationship Type="http://schemas.openxmlformats.org/officeDocument/2006/relationships/notesMaster" Target="/ppt/notesMasters/notesMaster1.xml" Id="R39bccc28222a481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99ab2c4f8cc4d6b" /><Relationship Type="http://schemas.openxmlformats.org/officeDocument/2006/relationships/notesMaster" Target="/ppt/notesMasters/notesMaster1.xml" Id="Rf0acecd3067d4c7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62792e0067740cb" /><Relationship Type="http://schemas.openxmlformats.org/officeDocument/2006/relationships/notesMaster" Target="/ppt/notesMasters/notesMaster1.xml" Id="R75bde92226f943a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9a74a12a8d14684" /><Relationship Type="http://schemas.openxmlformats.org/officeDocument/2006/relationships/notesMaster" Target="/ppt/notesMasters/notesMaster1.xml" Id="R622b7b3255aa43c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062dd73e5c548b5" /><Relationship Type="http://schemas.openxmlformats.org/officeDocument/2006/relationships/notesMaster" Target="/ppt/notesMasters/notesMaster1.xml" Id="R813e47ba6ce2406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4e4e442d8d94a84" /><Relationship Type="http://schemas.openxmlformats.org/officeDocument/2006/relationships/notesMaster" Target="/ppt/notesMasters/notesMaster1.xml" Id="Rd7d97af9aec640f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2bf5d1b59204747" /><Relationship Type="http://schemas.openxmlformats.org/officeDocument/2006/relationships/notesMaster" Target="/ppt/notesMasters/notesMaster1.xml" Id="R25fff0f46218431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b30c06ed86a4678" /><Relationship Type="http://schemas.openxmlformats.org/officeDocument/2006/relationships/notesMaster" Target="/ppt/notesMasters/notesMaster1.xml" Id="Rb02be415d984424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cab0bc1c7d14c20" /><Relationship Type="http://schemas.openxmlformats.org/officeDocument/2006/relationships/notesMaster" Target="/ppt/notesMasters/notesMaster1.xml" Id="R9973c5a7ec894b0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17dfc5345cb4ef8" /><Relationship Type="http://schemas.openxmlformats.org/officeDocument/2006/relationships/notesMaster" Target="/ppt/notesMasters/notesMaster1.xml" Id="Rbbc5f115ce5c463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6cd2e1bf2074e6b" /><Relationship Type="http://schemas.openxmlformats.org/officeDocument/2006/relationships/notesMaster" Target="/ppt/notesMasters/notesMaster1.xml" Id="R301188eeb0354ae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50a9e400fac430b" /><Relationship Type="http://schemas.openxmlformats.org/officeDocument/2006/relationships/notesMaster" Target="/ppt/notesMasters/notesMaster1.xml" Id="R66318b703386439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8c6cd65d5724e57" /><Relationship Type="http://schemas.openxmlformats.org/officeDocument/2006/relationships/notesMaster" Target="/ppt/notesMasters/notesMaster1.xml" Id="R469309718ce64be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be1cc0fb46e4fa9" /><Relationship Type="http://schemas.openxmlformats.org/officeDocument/2006/relationships/notesMaster" Target="/ppt/notesMasters/notesMaster1.xml" Id="R24f809d3b56342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本页问题：面向制造企业的可追溽物料计划助手</a:t>
            </a:r>
          </a:p>
          <a:p xmlns:a="http://schemas.openxmlformats.org/drawingml/2006/main">
            <a:r>
              <a:t>可支持结论：项目定位为辅助数量核对和证据查询</a:t>
            </a:r>
          </a:p>
          <a:p xmlns:a="http://schemas.openxmlformats.org/drawingml/2006/main">
            <a:r>
              <a:t>依据：README.md</a:t>
            </a:r>
          </a:p>
          <a:p xmlns:a="http://schemas.openxmlformats.org/drawingml/2006/main">
            <a:r>
              <a:t>版本：工作区 HEAD 95a526b + 未提交修改，关键文件 SHA256 见 version-manifest.json。Demo V01，合成事实，2026-10-12 本地隔离 Trial，规则理解与 rule_fallback 表达。</a:t>
            </a:r>
          </a:p>
          <a:p xmlns:a="http://schemas.openxmlformats.org/drawingml/2006/main">
            <a:r>
              <a:t>蓝色：受控主路径；绿色：证据/满足；红色：异常/拒绝；虚线：备选模式，非本次 Demo 实测路径。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本页问题：围绕任务、方法、证据与边界展开汇报</a:t>
            </a:r>
          </a:p>
          <a:p xmlns:a="http://schemas.openxmlformats.org/drawingml/2006/main">
            <a:r>
              <a:t>可支持结论：22页主文组织为四章节</a:t>
            </a:r>
          </a:p>
          <a:p xmlns:a="http://schemas.openxmlformats.org/drawingml/2006/main">
            <a:r>
              <a:t>依据：README.md</a:t>
            </a:r>
          </a:p>
          <a:p xmlns:a="http://schemas.openxmlformats.org/drawingml/2006/main">
            <a:r>
              <a:t>版本：工作区 HEAD 95a526b + 未提交修改，关键文件 SHA256 见 version-manifest.json。Demo V01，合成事实，2026-10-12 本地隔离 Trial，规则理解与 rule_fallback 表达。</a:t>
            </a:r>
          </a:p>
          <a:p xmlns:a="http://schemas.openxmlformats.org/drawingml/2006/main">
            <a:r>
              <a:t>蓝色：受控主路径；绿色：证据/满足；红色：异常/拒绝；虚线：备选模式，非本次 Demo 实测路径。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本页问题：计划员提出生产数量后，需要哪些事实才能判断？</a:t>
            </a:r>
          </a:p>
          <a:p xmlns:a="http://schemas.openxmlformats.org/drawingml/2006/main">
            <a:r>
              <a:t>可支持结论：齐套判断依赖版本化BOM和权威可用库存</a:t>
            </a:r>
          </a:p>
          <a:p xmlns:a="http://schemas.openxmlformats.org/drawingml/2006/main">
            <a:r>
              <a:t>依据：README.md；services/published_planning_service.py</a:t>
            </a:r>
          </a:p>
          <a:p xmlns:a="http://schemas.openxmlformats.org/drawingml/2006/main">
            <a:r>
              <a:t>版本：工作区 HEAD 95a526b + 未提交修改，关键文件 SHA256 见 version-manifest.json。Demo V01，合成事实，2026-10-12 本地隔离 Trial，规则理解与 rule_fallback 表达。</a:t>
            </a:r>
          </a:p>
          <a:p xmlns:a="http://schemas.openxmlformats.org/drawingml/2006/main">
            <a:r>
              <a:t>蓝色：受控主路径；绿色：证据/满足；红色：异常/拒绝；虚线：备选模式，非本次 Demo 实测路径。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本页问题：哪些信息问题会让一个看似完整的回答失去依据？</a:t>
            </a:r>
          </a:p>
          <a:p xmlns:a="http://schemas.openxmlformats.org/drawingml/2006/main">
            <a:r>
              <a:t>可支持结论：不能从语言猜测缺失业务条件</a:t>
            </a:r>
          </a:p>
          <a:p xmlns:a="http://schemas.openxmlformats.org/drawingml/2006/main">
            <a:r>
              <a:t>依据：agents/context_resolver.py；services/published_planning_service.py；agents/response_generator.py</a:t>
            </a:r>
          </a:p>
          <a:p xmlns:a="http://schemas.openxmlformats.org/drawingml/2006/main">
            <a:r>
              <a:t>版本：工作区 HEAD 95a526b + 未提交修改，关键文件 SHA256 见 version-manifest.json。Demo V01，合成事实，2026-10-12 本地隔离 Trial，规则理解与 rule_fallback 表达。</a:t>
            </a:r>
          </a:p>
          <a:p xmlns:a="http://schemas.openxmlformats.org/drawingml/2006/main">
            <a:r>
              <a:t>蓝色：受控主路径；绿色：证据/满足；红色：异常/拒绝；虚线：备选模式，非本次 Demo 实测路径。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本页问题：如何让自然语言任务得到可验证的业务结果？</a:t>
            </a:r>
          </a:p>
          <a:p xmlns:a="http://schemas.openxmlformats.org/drawingml/2006/main">
            <a:r>
              <a:t>可支持结论：建立理解、计算和证据的职责边界</a:t>
            </a:r>
          </a:p>
          <a:p xmlns:a="http://schemas.openxmlformats.org/drawingml/2006/main">
            <a:r>
              <a:t>依据：agents/orchestrator.py；services/published_planning_service.py；agents/response_generator.py</a:t>
            </a:r>
          </a:p>
          <a:p xmlns:a="http://schemas.openxmlformats.org/drawingml/2006/main">
            <a:r>
              <a:t>版本：工作区 HEAD 95a526b + 未提交修改，关键文件 SHA256 见 version-manifest.json。Demo V01，合成事实，2026-10-12 本地隔离 Trial，规则理解与 rule_fallback 表达。</a:t>
            </a:r>
          </a:p>
          <a:p xmlns:a="http://schemas.openxmlformats.org/drawingml/2006/main">
            <a:r>
              <a:t>蓝色：受控主路径；绿色：证据/满足；红色：异常/拒绝；虚线：备选模式，非本次 Demo 实测路径。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本页问题：当前 Trial 如何完成从页面到事实再到回答的调用？</ns1:t>
            </ns1:r>
          </ns1:p>
          <ns1:p>
            <ns1:r>
              <ns1:t>可支持结论：Trial独立事实库与规则模式形成实测闭环</ns1:t>
            </ns1:r>
          </ns1:p>
          <ns1:p>
            <ns1:r>
              <ns1:t>依据：services/persistent_agent_service.py；agents/orchestrator.py；tools/demo_scenario_tools.py；api/trial_app.py</ns1:t>
            </ns1:r>
          </ns1:p>
          <ns1:p>
            <ns1:r>
              <ns1:t>版本：工作区 HEAD 95a526b + 未提交修改，关键文件 SHA256 见 version-manifest.json。Demo V01，合成事实，2026-10-12 本地隔离 Trial，规则理解与 rule_fallback 表达。</ns1:t>
            </ns1:r>
          </ns1:p>
          <ns1:p>
            <ns1:r>
              <ns1:t>蓝色：受控主路径；绿色：证据/满足；红色：异常/拒绝；虚线：备选模式，非本次 Demo 实测路径。
节点和调用追溯：
- `api/trial_app.py:25` `create_trial_app`，代码范围 25—130，SHA256 `185eec1757c65214590b9150f76ba877e2cda358dad8229900f543223523cd62`。
- `services/persistent_agent_service.py:183` `enable_orchestrator`，代码范围 183—237，SHA256 `26a24cae05dac3d5bd680931a7fd52bd075f05ba0ed6b2cc841f827020255191`。
- `services/persistent_agent_service.py:239` `query`，代码范围 239—281，SHA256 `26a24cae05dac3d5bd680931a7fd52bd075f05ba0ed6b2cc841f827020255191`。
- `agents/orchestrator.py:45` `run`，代码范围 45—288，SHA256 `8415f6feded7091ec48d8007cec769b68689432d3e091e838e896ed34db00f45`。
- `tools/demo_scenario_tools.py:15` `build_demo_scenario_tools`，代码范围 15—54，SHA256 `1d514bf641eb2601793ef2c096ab71412f9dc10b2460854e2ade4aaaff77969f`。
图7备选路径：ProductionFeasibilityQueryService.query在effective_date为空时核对直接子项；本次有日期，委派PublishedPlanningService.query。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7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本页问题：原始 BOM 在什么条件下可以进入可查询事实？</ns1:t>
            </ns1:r>
          </ns1:p>
          <ns1:p>
            <ns1:r>
              <ns1:t>可支持结论：发布前存在校验与按条件人工确认</ns1:t>
            </ns1:r>
          </ns1:p>
          <ns1:p>
            <ns1:r>
              <ns1:t>依据：services/bom_import_service.py；repositories/fact_repository.py</ns1:t>
            </ns1:r>
          </ns1:p>
          <ns1:p>
            <ns1:r>
              <ns1:t>版本：工作区 HEAD 95a526b + 未提交修改，关键文件 SHA256 见 version-manifest.json。Demo V01，合成事实，2026-10-12 本地隔离 Trial，规则理解与 rule_fallback 表达。</ns1:t>
            </ns1:r>
          </ns1:p>
          <ns1:p>
            <ns1:r>
              <ns1:t>蓝色：受控主路径；绿色：证据/满足；红色：异常/拒绝；虚线：备选模式，非本次 Demo 实测路径。
节点和调用追溯：
- `services/bom_import_service.py:81` `stage_bom`，代码范围 81—266，SHA256 `de365c51564c39f7ba8ad91bcf9567473725b1005778f52a32215c485f49c033`。
- `services/bom_import_service.py:268` `confirm_pending_fields`，代码范围 268—280，SHA256 `de365c51564c39f7ba8ad91bcf9567473725b1005778f52a32215c485f49c033`。
- `services/bom_import_service.py:287` `publish`，代码范围 287—288，SHA256 `de365c51564c39f7ba8ad91bcf9567473725b1005778f52a32215c485f49c033`。
- `repositories/fact_repository.py:613` `publish_batch`，代码范围 613—861，SHA256 `20e2ff7fd0498ed5d7954e2ee4037308fcc14b2096f918ae8ce594bc4e395273`。
图7备选路径：ProductionFeasibilityQueryService.query在effective_date为空时核对直接子项；本次有日期，委派PublishedPlanningService.query。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8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本页问题：怎样避免产品歧义与上一轮条件污染？</ns1:t>
            </ns1:r>
          </ns1:p>
          <ns1:p>
            <ns1:r>
              <ns1:t>可支持结论：区分企业目录解析和Trial固定产品上下文</ns1:t>
            </ns1:r>
          </ns1:p>
          <ns1:p>
            <ns1:r>
              <ns1:t>依据：agents/planner.py；agents/context_resolver.py；agents/product_resolver.py；services/persistent_agent_service.py</ns1:t>
            </ns1:r>
          </ns1:p>
          <ns1:p>
            <ns1:r>
              <ns1:t>版本：工作区 HEAD 95a526b + 未提交修改，关键文件 SHA256 见 version-manifest.json。Demo V01，合成事实，2026-10-12 本地隔离 Trial，规则理解与 rule_fallback 表达。</ns1:t>
            </ns1:r>
          </ns1:p>
          <ns1:p>
            <ns1:r>
              <ns1:t>蓝色：受控主路径；绿色：证据/满足；红色：异常/拒绝；虚线：备选模式，非本次 Demo 实测路径。
节点和调用追溯：
- `agents/product_resolver.py:5` `resolve_product`，代码范围 5—75，SHA256 `30e4509279b1997be67140fbce5dfc203a5be6753dd7e6cb795df68b7233f48b`。
- `agents/planner.py:148` `plan`，代码范围 148—277，SHA256 `295ffc2dbb9d1c8ab756103d059e69bde9ee2d7559d45c294f8d61fbab04e72d`。
- `agents/context_resolver.py:86` `resolve`，代码范围 86—98，SHA256 `86dbb9fbde5173a0bb991feb7cdd0b369ba86bd2f4b6ec68d1cdab588dbfc445`。
- `services/persistent_agent_service.py:239` `query`，代码范围 239—281，SHA256 `26a24cae05dac3d5bd680931a7fd52bd075f05ba0ed6b2cc841f827020255191`。
图7备选路径：ProductionFeasibilityQueryService.query在effective_date为空时核对直接子项；本次有日期，委派PublishedPlanningService.query。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9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本页问题：多层 BOM 如何转化为需求、缺口和理论数量？</ns1:t>
            </ns1:r>
          </ns1:p>
          <ns1:p>
            <ns1:r>
              <ns1:t>可支持结论：effective_date存在时实际进入多层PublishedPlanningService</ns1:t>
            </ns1:r>
          </ns1:p>
          <ns1:p>
            <ns1:r>
              <ns1:t>依据：services/published_planning_service.py；services/production_feasibility_query_service.py；tools/demo_scenario_tools.py</ns1:t>
            </ns1:r>
          </ns1:p>
          <ns1:p>
            <ns1:r>
              <ns1:t>版本：工作区 HEAD 95a526b + 未提交修改，关键文件 SHA256 见 version-manifest.json。Demo V01，合成事实，2026-10-12 本地隔离 Trial，规则理解与 rule_fallback 表达。</ns1:t>
            </ns1:r>
          </ns1:p>
          <ns1:p>
            <ns1:r>
              <ns1:t>蓝色：受控主路径；绿色：证据/满足；红色：异常/拒绝；虚线：备选模式，非本次 Demo 实测路径。
节点和调用追溯：
- `services/production_feasibility_query_service.py:45` `query`，代码范围 45—255，SHA256 `4b7ff1344882372e625db7e80d65f30bf79d974e44f6b7c13fa6df5056c25d62`。
- `services/published_planning_service.py:54` `query`，代码范围 54—312，SHA256 `5693e0d33ef85da5eee6ed80e71f75bde440baf883923e57c0d852f66beee919`。
- `services/published_planning_service.py:123` `choose_version`，代码范围 123—136，SHA256 `5693e0d33ef85da5eee6ed80e71f75bde440baf883923e57c0d852f66beee919`。
- `services/published_planning_service.py:138` `factor`，代码范围 138—167，SHA256 `5693e0d33ef85da5eee6ed80e71f75bde440baf883923e57c0d852f66beee919`。
- `services/published_planning_service.py:169` `walk`，代码范围 169—219，SHA256 `5693e0d33ef85da5eee6ed80e71f75bde440baf883923e57c0d852f66beee919`。
图7备选路径：ProductionFeasibilityQueryService.query在effective_date为空时核对直接子项；本次有日期，委派PublishedPlanningService.query。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10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本页问题：工具结果如何进入回答，语言层又能改动什么？</ns1:t>
            </ns1:r>
          </ns1:p>
          <ns1:p>
            <ns1:r>
              <ns1:t>可支持结论：模型仅受约束组织事实说明，失败回退业务模板</ns1:t>
            </ns1:r>
          </ns1:p>
          <ns1:p>
            <ns1:r>
              <ns1:t>依据：agents/orchestrator.py；agents/evidence.py；agents/response_generator.py；services/persistent_agent_service.py</ns1:t>
            </ns1:r>
          </ns1:p>
          <ns1:p>
            <ns1:r>
              <ns1:t>版本：工作区 HEAD 95a526b + 未提交修改，关键文件 SHA256 见 version-manifest.json。Demo V01，合成事实，2026-10-12 本地隔离 Trial，规则理解与 rule_fallback 表达。</ns1:t>
            </ns1:r>
          </ns1:p>
          <ns1:p>
            <ns1:r>
              <ns1:t>蓝色：受控主路径；绿色：证据/满足；红色：异常/拒绝；虚线：备选模式，非本次 Demo 实测路径。
节点和调用追溯：
- `agents/orchestrator.py:45` `run`，代码范围 45—288，SHA256 `8415f6feded7091ec48d8007cec769b68689432d3e091e838e896ed34db00f45`。
- `agents/evidence.py:36` `collect`，代码范围 36—57，SHA256 `b6ce37f245b9f5f8549f7332a5486e842c6697a0ad355958560eb32d8fab0add`。
- `agents/response_generator.py:42` `generate`，代码范围 42—79，SHA256 `59eeb7dcf018883197e8762c3ffc6bae2560025a69b34911d557e170eba1d7b0`。
- `services/persistent_agent_service.py:239` `query`，代码范围 239—281，SHA256 `26a24cae05dac3d5bd680931a7fd52bd075f05ba0ed6b2cc841f827020255191`。
图7备选路径：ProductionFeasibilityQueryService.query在effective_date为空时核对直接子项；本次有日期，委派PublishedPlanningService.query。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1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本页问题：“为什么不能生产”是否需要再次计算库存？</ns1:t>
            </ns1:r>
          </ns1:p>
          <ns1:p>
            <ns1:r>
              <ns1:t>可支持结论：实测原因追问复用100台turn，completed_steps为空</ns1:t>
            </ns1:r>
          </ns1:p>
          <ns1:p>
            <ns1:r>
              <ns1:t>依据：agents/orchestrator.py；services/persistent_agent_service.py；outputs/PMC-Agent-report/runtime-responses.json</ns1:t>
            </ns1:r>
          </ns1:p>
          <ns1:p>
            <ns1:r>
              <ns1:t>版本：工作区 HEAD 95a526b + 未提交修改，关键文件 SHA256 见 version-manifest.json。Demo V01，合成事实，2026-10-12 本地隔离 Trial，规则理解与 rule_fallback 表达。</ns1:t>
            </ns1:r>
          </ns1:p>
          <ns1:p>
            <ns1:r>
              <ns1:t>蓝色：受控主路径；绿色：证据/满足；红色：异常/拒绝；虚线：备选模式，非本次 Demo 实测路径。
节点和调用追溯：
- `agents/orchestrator.py:45` `run`，代码范围 45—288，SHA256 `8415f6feded7091ec48d8007cec769b68689432d3e091e838e896ed34db00f45`。
- `agents/orchestrator.py:342` `_reuse`，代码范围 342—414，SHA256 `8415f6feded7091ec48d8007cec769b68689432d3e091e838e896ed34db00f45`。
- `services/persistent_agent_service.py:239` `query`，代码范围 239—281，SHA256 `26a24cae05dac3d5bd680931a7fd52bd075f05ba0ed6b2cc841f827020255191`。
图7备选路径：ProductionFeasibilityQueryService.query在effective_date为空时核对直接子项；本次有日期，委派PublishedPlanningService.query。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本页问题：同一数据版本下，任务修改与原因追问得到什么结果？</a:t>
            </a:r>
          </a:p>
          <a:p xmlns:a="http://schemas.openxmlformats.org/drawingml/2006/main">
            <a:r>
              <a:t>可支持结论：仅支持合成数据上的数量和采购案例</a:t>
            </a:r>
          </a:p>
          <a:p xmlns:a="http://schemas.openxmlformats.org/drawingml/2006/main">
            <a:r>
              <a:t>依据：outputs/PMC-Agent-report/runtime-responses.json；services/published_planning_service.py；services/published_purchase_planning_service.py</a:t>
            </a:r>
          </a:p>
          <a:p xmlns:a="http://schemas.openxmlformats.org/drawingml/2006/main">
            <a:r>
              <a:t>版本：工作区 HEAD 95a526b + 未提交修改，关键文件 SHA256 见 version-manifest.json。Demo V01，合成事实，2026-10-12 本地隔离 Trial，规则理解与 rule_fallback 表达。</a:t>
            </a:r>
          </a:p>
          <a:p xmlns:a="http://schemas.openxmlformats.org/drawingml/2006/main">
            <a:r>
              <a:t>蓝色：受控主路径；绿色：证据/满足；红色：异常/拒绝；虚线：备选模式，非本次 Demo 实测路径。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本页问题：这些结果在哪个环境、模式和数据时点下产生？</a:t>
            </a:r>
          </a:p>
          <a:p xmlns:a="http://schemas.openxmlformats.org/drawingml/2006/main">
            <a:r>
              <a:t>可支持结论：本地隔离合成Trial复测，非LLM效果实验</a:t>
            </a:r>
          </a:p>
          <a:p xmlns:a="http://schemas.openxmlformats.org/drawingml/2006/main">
            <a:r>
              <a:t>依据：api/trial_app.py；repositories/demo_scenario_repository.py；outputs/PMC-Agent-report/runtime-responses.json</a:t>
            </a:r>
          </a:p>
          <a:p xmlns:a="http://schemas.openxmlformats.org/drawingml/2006/main">
            <a:r>
              <a:t>版本：工作区 HEAD 95a526b + 未提交修改，关键文件 SHA256 见 version-manifest.json。Demo V01，合成事实，2026-10-12 本地隔离 Trial，规则理解与 rule_fallback 表达。</a:t>
            </a:r>
          </a:p>
          <a:p xmlns:a="http://schemas.openxmlformats.org/drawingml/2006/main">
            <a:r>
              <a:t>蓝色：受控主路径；绿色：证据/满足；红色：异常/拒绝；虚线：备选模式，非本次 Demo 实测路径。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本页问题：75台与76台的分界能否由原始用量和库存复算？</a:t>
            </a:r>
          </a:p>
          <a:p xmlns:a="http://schemas.openxmlformats.org/drawingml/2006/main">
            <a:r>
              <a:t>可支持结论：min floor(库存/单位用量)=75，与实跑一致</a:t>
            </a:r>
          </a:p>
          <a:p xmlns:a="http://schemas.openxmlformats.org/drawingml/2006/main">
            <a:r>
              <a:t>依据：services/published_planning_service.py；outputs/PMC-Agent-report/runtime-responses.json；data/demo/demo_scenario_50_vs_100/bom_facts.json；data/demo/demo_scenario_50_vs_100/inventory_facts.json</a:t>
            </a:r>
          </a:p>
          <a:p xmlns:a="http://schemas.openxmlformats.org/drawingml/2006/main">
            <a:r>
              <a:t>版本：工作区 HEAD 95a526b + 未提交修改，关键文件 SHA256 见 version-manifest.json。Demo V01，合成事实，2026-10-12 本地隔离 Trial，规则理解与 rule_fallback 表达。</a:t>
            </a:r>
          </a:p>
          <a:p xmlns:a="http://schemas.openxmlformats.org/drawingml/2006/main">
            <a:r>
              <a:t>蓝色：受控主路径；绿色：证据/满足；红色：异常/拒绝；虚线：备选模式，非本次 Demo 实测路径。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本页问题：非法数量和证据追问如何影响工具调用？</a:t>
            </a:r>
          </a:p>
          <a:p xmlns:a="http://schemas.openxmlformats.org/drawingml/2006/main">
            <a:r>
              <a:t>可支持结论：0台拒绝且无completed_steps；追问复用证据</a:t>
            </a:r>
          </a:p>
          <a:p xmlns:a="http://schemas.openxmlformats.org/drawingml/2006/main">
            <a:r>
              <a:t>依据：agents/orchestrator.py；outputs/PMC-Agent-report/runtime-responses.json；tests/test_remote_trial.py</a:t>
            </a:r>
          </a:p>
          <a:p xmlns:a="http://schemas.openxmlformats.org/drawingml/2006/main">
            <a:r>
              <a:t>版本：工作区 HEAD 95a526b + 未提交修改，关键文件 SHA256 见 version-manifest.json。Demo V01，合成事实，2026-10-12 本地隔离 Trial，规则理解与 rule_fallback 表达。</a:t>
            </a:r>
          </a:p>
          <a:p xmlns:a="http://schemas.openxmlformats.org/drawingml/2006/main">
            <a:r>
              <a:t>蓝色：受控主路径；绿色：证据/满足；红色：异常/拒绝；虚线：备选模式，非本次 Demo 实测路径。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本页问题：当前证据足以支持哪些结论，哪些比较仍无法开展？</a:t>
            </a:r>
          </a:p>
          <a:p xmlns:a="http://schemas.openxmlformats.org/drawingml/2006/main">
            <a:r>
              <a:t>可支持结论：仅报告案例与专项测试，不宣称胜过人工</a:t>
            </a:r>
          </a:p>
          <a:p xmlns:a="http://schemas.openxmlformats.org/drawingml/2006/main">
            <a:r>
              <a:t>依据：outputs/PMC-Agent-report/runtime-responses.json；tests/test_demo_scenario_50_100.py；tests/test_demo_purchase_parameters.py；tests/test_remote_trial.py</a:t>
            </a:r>
          </a:p>
          <a:p xmlns:a="http://schemas.openxmlformats.org/drawingml/2006/main">
            <a:r>
              <a:t>版本：工作区 HEAD 95a526b + 未提交修改，关键文件 SHA256 见 version-manifest.json。Demo V01，合成事实，2026-10-12 本地隔离 Trial，规则理解与 rule_fallback 表达。</a:t>
            </a:r>
          </a:p>
          <a:p xmlns:a="http://schemas.openxmlformats.org/drawingml/2006/main">
            <a:r>
              <a:t>蓝色：受控主路径；绿色：证据/满足；红色：异常/拒绝；虚线：备选模式，非本次 Demo 实测路径。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本页问题：页面是否展示与真实响应一致的缺口？</a:t>
            </a:r>
          </a:p>
          <a:p xmlns:a="http://schemas.openxmlformats.org/drawingml/2006/main">
            <a:r>
              <a:t>可支持结论：实跑四项缺料，页面原始截图与响应一致</a:t>
            </a:r>
          </a:p>
          <a:p xmlns:a="http://schemas.openxmlformats.org/drawingml/2006/main">
            <a:r>
              <a:t>依据：outputs/PMC-Agent-report/runtime-responses.json；raw-screenshots/01-100.png</a:t>
            </a:r>
          </a:p>
          <a:p xmlns:a="http://schemas.openxmlformats.org/drawingml/2006/main">
            <a:r>
              <a:t>版本：工作区 HEAD 95a526b + 未提交修改，关键文件 SHA256 见 version-manifest.json。Demo V01，合成事实，2026-10-12 本地隔离 Trial，规则理解与 rule_fallback 表达。</a:t>
            </a:r>
          </a:p>
          <a:p xmlns:a="http://schemas.openxmlformats.org/drawingml/2006/main">
            <a:r>
              <a:t>蓝色：受控主路径；绿色：证据/满足；红色：异常/拒绝；虚线：备选模式，非本次 Demo 实测路径。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本页问题：从解释原因到修改数量，页面是否同步新任务？</a:t>
            </a:r>
          </a:p>
          <a:p xmlns:a="http://schemas.openxmlformats.org/drawingml/2006/main">
            <a:r>
              <a:t>可支持结论：追问说明证据复用，50台页面齐套</a:t>
            </a:r>
          </a:p>
          <a:p xmlns:a="http://schemas.openxmlformats.org/drawingml/2006/main">
            <a:r>
              <a:t>依据：outputs/PMC-Agent-report/runtime-responses.json；raw-screenshots/02-reason.png；raw-screenshots/03-50.png</a:t>
            </a:r>
          </a:p>
          <a:p xmlns:a="http://schemas.openxmlformats.org/drawingml/2006/main">
            <a:r>
              <a:t>版本：工作区 HEAD 95a526b + 未提交修改，关键文件 SHA256 见 version-manifest.json。Demo V01，合成事实，2026-10-12 本地隔离 Trial，规则理解与 rule_fallback 表达。</a:t>
            </a:r>
          </a:p>
          <a:p xmlns:a="http://schemas.openxmlformats.org/drawingml/2006/main">
            <a:r>
              <a:t>蓝色：受控主路径；绿色：证据/满足；红色：异常/拒绝；虚线：备选模式，非本次 Demo 实测路径。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本页问题：结论能否定位到具体事实文件、版本和库存时点？</a:t>
            </a:r>
          </a:p>
          <a:p xmlns:a="http://schemas.openxmlformats.org/drawingml/2006/main">
            <a:r>
              <a:t>可支持结论：实际来源展开含事实文件与快照信息</a:t>
            </a:r>
          </a:p>
          <a:p xmlns:a="http://schemas.openxmlformats.org/drawingml/2006/main">
            <a:r>
              <a:t>依据：outputs/PMC-Agent-report/runtime-responses.json；raw-screenshots/04-source.png</a:t>
            </a:r>
          </a:p>
          <a:p xmlns:a="http://schemas.openxmlformats.org/drawingml/2006/main">
            <a:r>
              <a:t>版本：工作区 HEAD 95a526b + 未提交修改，关键文件 SHA256 见 version-manifest.json。Demo V01，合成事实，2026-10-12 本地隔离 Trial，规则理解与 rule_fallback 表达。</a:t>
            </a:r>
          </a:p>
          <a:p xmlns:a="http://schemas.openxmlformats.org/drawingml/2006/main">
            <a:r>
              <a:t>蓝色：受控主路径；绿色：证据/满足；红色：异常/拒绝；虚线：备选模式，非本次 Demo 实测路径。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本页问题：系统的计算结果能否直接用于排产、采购或交期承诺？</a:t>
            </a:r>
          </a:p>
          <a:p xmlns:a="http://schemas.openxmlformats.org/drawingml/2006/main">
            <a:r>
              <a:t>可支持结论：只能支持数据条件下的辅助分析</a:t>
            </a:r>
          </a:p>
          <a:p xmlns:a="http://schemas.openxmlformats.org/drawingml/2006/main">
            <a:r>
              <a:t>依据：README.md；services/published_planning_service.py；services/published_purchase_planning_service.py</a:t>
            </a:r>
          </a:p>
          <a:p xmlns:a="http://schemas.openxmlformats.org/drawingml/2006/main">
            <a:r>
              <a:t>版本：工作区 HEAD 95a526b + 未提交修改，关键文件 SHA256 见 version-manifest.json。Demo V01，合成事实，2026-10-12 本地隔离 Trial，规则理解与 rule_fallback 表达。</a:t>
            </a:r>
          </a:p>
          <a:p xmlns:a="http://schemas.openxmlformats.org/drawingml/2006/main">
            <a:r>
              <a:t>蓝色：受控主路径；绿色：证据/满足；红色：异常/拒绝；虚线：备选模式，非本次 Demo 实测路径。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本页问题：当前演示与真实生产部署之间还缺哪些证据？</a:t>
            </a:r>
          </a:p>
          <a:p xmlns:a="http://schemas.openxmlformats.org/drawingml/2006/main">
            <a:r>
              <a:t>可支持结论：合成场景验证不能外推真实生产效果</a:t>
            </a:r>
          </a:p>
          <a:p xmlns:a="http://schemas.openxmlformats.org/drawingml/2006/main">
            <a:r>
              <a:t>依据：README.md；outputs/PMC-Agent-report/runtime-responses.json</a:t>
            </a:r>
          </a:p>
          <a:p xmlns:a="http://schemas.openxmlformats.org/drawingml/2006/main">
            <a:r>
              <a:t>版本：工作区 HEAD 95a526b + 未提交修改，关键文件 SHA256 见 version-manifest.json。Demo V01，合成事实，2026-10-12 本地隔离 Trial，规则理解与 rule_fallback 表达。</a:t>
            </a:r>
          </a:p>
          <a:p xmlns:a="http://schemas.openxmlformats.org/drawingml/2006/main">
            <a:r>
              <a:t>蓝色：受控主路径；绿色：证据/满足；红色：异常/拒绝；虚线：备选模式，非本次 Demo 实测路径。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本页问题：本次可验证的项目贡献是什么？</a:t>
            </a:r>
          </a:p>
          <a:p xmlns:a="http://schemas.openxmlformats.org/drawingml/2006/main">
            <a:r>
              <a:t>可支持结论：职责分工和固定场景闭环成立，效果泛化待验证</a:t>
            </a:r>
          </a:p>
          <a:p xmlns:a="http://schemas.openxmlformats.org/drawingml/2006/main">
            <a:r>
              <a:t>依据：agents/orchestrator.py；services/published_planning_service.py；outputs/PMC-Agent-report/runtime-responses.json</a:t>
            </a:r>
          </a:p>
          <a:p xmlns:a="http://schemas.openxmlformats.org/drawingml/2006/main">
            <a:r>
              <a:t>版本：工作区 HEAD 95a526b + 未提交修改，关键文件 SHA256 见 version-manifest.json。Demo V01，合成事实，2026-10-12 本地隔离 Trial，规则理解与 rule_fallback 表达。</a:t>
            </a:r>
          </a:p>
          <a:p xmlns:a="http://schemas.openxmlformats.org/drawingml/2006/main">
            <a:r>
              <a:t>蓝色：受控主路径；绿色：证据/满足；红色：异常/拒绝；虚线：备选模式，非本次 Demo 实测路径。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0cd8bfd09a49d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4c3957a25f4b8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707debc39e46b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c9dc2a04eb4cb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c0dc21d22c483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67ae23b4f14c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80EEACD-4F3C-4D6F-9A68-70175BC669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AB51263-EEB2-42DD-8817-814FF0A6A0B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AF6359C-7B40-4ECE-8CA0-AE1CCD9E9F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16377FA-91F1-4131-9B69-D955AF72E8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6721967-A4BA-4644-9B4C-DFB5A6DB4E7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A162566-3652-48D1-90D6-791C8CA6D6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EF5CA22-5842-4FB3-872C-89389AAE99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D07BD8A-B7DB-4724-A37A-39EAD647428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EC1696-E42C-4F97-9CB4-03327C6990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B0FB4DE-9CB9-4507-B33C-E4342B9AFF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139fbd2207455b" /><Relationship Type="http://schemas.openxmlformats.org/officeDocument/2006/relationships/slideLayout" Target="/ppt/slideLayouts/slideLayout1.xml" Id="R5f2694ed8c444899" /><Relationship Type="http://schemas.openxmlformats.org/officeDocument/2006/relationships/slideLayout" Target="/ppt/slideLayouts/slideLayout2.xml" Id="R19ca1c4006dd4350" /><Relationship Type="http://schemas.openxmlformats.org/officeDocument/2006/relationships/slideLayout" Target="/ppt/slideLayouts/slideLayout3.xml" Id="Rc998c62b587e4648" /><Relationship Type="http://schemas.openxmlformats.org/officeDocument/2006/relationships/slideLayout" Target="/ppt/slideLayouts/slideLayout4.xml" Id="R26c3a7a8f49949ef" /><Relationship Type="http://schemas.openxmlformats.org/officeDocument/2006/relationships/slideLayout" Target="/ppt/slideLayouts/slideLayout5.xml" Id="R2b78f06ad0b84f9f" /><Relationship Type="http://schemas.openxmlformats.org/officeDocument/2006/relationships/slideLayout" Target="/ppt/slideLayouts/slideLayout6.xml" Id="R352aba677f3149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2694ed8c444899"/>
    <p:sldLayoutId xmlns:r="http://schemas.openxmlformats.org/officeDocument/2006/relationships" id="2147483650" r:id="R19ca1c4006dd4350"/>
    <p:sldLayoutId xmlns:r="http://schemas.openxmlformats.org/officeDocument/2006/relationships" id="2147483651" r:id="Rc998c62b587e4648"/>
    <p:sldLayoutId xmlns:r="http://schemas.openxmlformats.org/officeDocument/2006/relationships" id="2147483652" r:id="R26c3a7a8f49949ef"/>
    <p:sldLayoutId xmlns:r="http://schemas.openxmlformats.org/officeDocument/2006/relationships" id="2147483653" r:id="R2b78f06ad0b84f9f"/>
    <p:sldLayoutId xmlns:r="http://schemas.openxmlformats.org/officeDocument/2006/relationships" id="2147483654" r:id="R352aba677f3149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f0bf30a46549b5" /><Relationship Type="http://schemas.openxmlformats.org/officeDocument/2006/relationships/notesSlide" Target="/ppt/notesSlides/notesSlide1.xml" Id="Rbc1be01079624d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44c95637b64233" /><Relationship Type="http://schemas.openxmlformats.org/officeDocument/2006/relationships/notesSlide" Target="/ppt/notesSlides/notesSlide2.xml" Id="R28f1dd40245f4f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2a821379c34257" /><Relationship Type="http://schemas.openxmlformats.org/officeDocument/2006/relationships/notesSlide" Target="/ppt/notesSlides/notesSlide3.xml" Id="R087c1b8d703545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6a37d30f7b4df8" /><Relationship Type="http://schemas.openxmlformats.org/officeDocument/2006/relationships/notesSlide" Target="/ppt/notesSlides/notesSlide4.xml" Id="Rea227f01485340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850ca8c20e4f18" /><Relationship Type="http://schemas.openxmlformats.org/officeDocument/2006/relationships/notesSlide" Target="/ppt/notesSlides/notesSlide5.xml" Id="Rd6548e3a59fc42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17d5a1489f4e2c" /><Relationship Type="http://schemas.openxmlformats.org/officeDocument/2006/relationships/notesSlide" Target="/ppt/notesSlides/notesSlide6.xml" Id="R32c75768038c4fa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98f49efd814630" /><Relationship Type="http://schemas.openxmlformats.org/officeDocument/2006/relationships/notesSlide" Target="/ppt/notesSlides/notesSlide7.xml" Id="R5722fdb42c28443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edbd9e499d408e" /><Relationship Type="http://schemas.openxmlformats.org/officeDocument/2006/relationships/notesSlide" Target="/ppt/notesSlides/notesSlide8.xml" Id="Rf07f6a46fd2641d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a0232297814e67" /><Relationship Type="http://schemas.openxmlformats.org/officeDocument/2006/relationships/notesSlide" Target="/ppt/notesSlides/notesSlide9.xml" Id="R457b8354ea5c42f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41799680444c8a" /><Relationship Type="http://schemas.openxmlformats.org/officeDocument/2006/relationships/notesSlide" Target="/ppt/notesSlides/notesSlide10.xml" Id="R1db5f6c69ed543a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8da1620dac4248" /><Relationship Type="http://schemas.openxmlformats.org/officeDocument/2006/relationships/notesSlide" Target="/ppt/notesSlides/notesSlide11.xml" Id="R116f78cc6f424d6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0677987a0c4f23" /><Relationship Type="http://schemas.openxmlformats.org/officeDocument/2006/relationships/notesSlide" Target="/ppt/notesSlides/notesSlide12.xml" Id="R7c42a2a59c9a46e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5343812d964557" /><Relationship Type="http://schemas.openxmlformats.org/officeDocument/2006/relationships/notesSlide" Target="/ppt/notesSlides/notesSlide13.xml" Id="R8f1db426e8ad453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f6b597c4ea4811" /><Relationship Type="http://schemas.openxmlformats.org/officeDocument/2006/relationships/notesSlide" Target="/ppt/notesSlides/notesSlide14.xml" Id="Rcab1589daa30496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a28c41c42145c5" /><Relationship Type="http://schemas.openxmlformats.org/officeDocument/2006/relationships/notesSlide" Target="/ppt/notesSlides/notesSlide15.xml" Id="R8af47127b7d642d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a36f832b8f4070" /><Relationship Type="http://schemas.openxmlformats.org/officeDocument/2006/relationships/notesSlide" Target="/ppt/notesSlides/notesSlide16.xml" Id="R0c5b99cb2451406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133155642b4bf7" /><Relationship Type="http://schemas.openxmlformats.org/officeDocument/2006/relationships/image" Target="/ppt/media/image.png" Id="R317eb0619bfb43f1" /><Relationship Type="http://schemas.openxmlformats.org/officeDocument/2006/relationships/image" Target="/ppt/media/image2.png" Id="R096491c2cba340b6" /><Relationship Type="http://schemas.openxmlformats.org/officeDocument/2006/relationships/notesSlide" Target="/ppt/notesSlides/notesSlide17.xml" Id="R0f8a2b2d093a469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4b593359334f7f" /><Relationship Type="http://schemas.openxmlformats.org/officeDocument/2006/relationships/image" Target="/ppt/media/image3.png" Id="R9bdc50360bb7421b" /><Relationship Type="http://schemas.openxmlformats.org/officeDocument/2006/relationships/image" Target="/ppt/media/image4.png" Id="R67f39057378b4a02" /><Relationship Type="http://schemas.openxmlformats.org/officeDocument/2006/relationships/notesSlide" Target="/ppt/notesSlides/notesSlide18.xml" Id="R6cbcc1fb8a6d4bd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1e234304274e73" /><Relationship Type="http://schemas.openxmlformats.org/officeDocument/2006/relationships/image" Target="/ppt/media/image5.png" Id="R0104d7616d5a47cf" /><Relationship Type="http://schemas.openxmlformats.org/officeDocument/2006/relationships/image" Target="/ppt/media/image6.png" Id="R91e87938b6bc4a40" /><Relationship Type="http://schemas.openxmlformats.org/officeDocument/2006/relationships/notesSlide" Target="/ppt/notesSlides/notesSlide19.xml" Id="Rd0a7a7126654438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94dfad13da4157" /><Relationship Type="http://schemas.openxmlformats.org/officeDocument/2006/relationships/notesSlide" Target="/ppt/notesSlides/notesSlide20.xml" Id="Rab3112934fb7468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dd0497849e4da9" /><Relationship Type="http://schemas.openxmlformats.org/officeDocument/2006/relationships/notesSlide" Target="/ppt/notesSlides/notesSlide21.xml" Id="Rf95e460c77b7497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d71647af9d46ab" /><Relationship Type="http://schemas.openxmlformats.org/officeDocument/2006/relationships/notesSlide" Target="/ppt/notesSlides/notesSlide22.xml" Id="R11c34d165b8443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021D3F-D963-4795-813A-FAF1EB59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174963-F796-438F-AE47-261A6937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93CFB7-0CB0-4C0E-B554-3E5A334C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研究背景及动机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187D19-719F-43D5-ADEC-4C327E6B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模型方法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05BCE2-195E-4F92-816F-3ADBD74EB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实验结果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654CDD-20A0-4430-B576-6DC86216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DCD30D-8CCA-4485-97B5-433EB1A4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480F34-4916-477B-A667-5A66F50D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22F359-40F6-4906-B117-D1D39ABB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D1A040-9B4F-442C-B4B8-86B4B46E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智造 PMC 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B4C53A-D787-4039-949E-C9DD9CB0A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FE3459-5136-4812-89B6-5E329D7B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面向制造企业的可追溽物料计划助手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3D2C2D-D1F3-4536-88B4-12AC1E14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F5B021-DBC0-4946-96E2-6BDD3551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01 / 22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B0A489-AF6A-49E0-8B34-5A9918C8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53F73"/>
                </a:solidFill>
              </a:defRPr>
            </a:pPr>
            <a:r>
              <a:rPr sz="3900" b="1">
                <a:solidFill>
                  <a:srgbClr val="153F73"/>
                </a:solidFill>
              </a:rPr>
              <a:t>受控事实与确定性计算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60E934-E9A1-470E-854C-230692A6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861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2D40"/>
                </a:solidFill>
              </a:defRPr>
            </a:pPr>
            <a:r>
              <a:rPr sz="2400" b="0">
                <a:solidFill>
                  <a:srgbClr val="172D40"/>
                </a:solidFill>
              </a:rPr>
              <a:t>连续对话中的 BOM、库存与采购分析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420DA8-258B-4120-9C39-C0C2DDF7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67300"/>
            <a:ext cx="762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27487"/>
                </a:solidFill>
              </a:defRPr>
            </a:pPr>
            <a:r>
              <a:rPr sz="1875" b="0">
                <a:solidFill>
                  <a:srgbClr val="627487"/>
                </a:solidFill>
              </a:rPr>
              <a:t>项目研究汇报</a:t>
            </a:r>
          </a:p>
          <a:p xmlns:a="http://schemas.openxmlformats.org/drawingml/2006/main">
            <a:pPr>
              <a:defRPr sz="1875" b="0">
                <a:solidFill>
                  <a:srgbClr val="627487"/>
                </a:solidFill>
              </a:defRPr>
            </a:pPr>
            <a:r>
              <a:rPr sz="1875" b="0">
                <a:solidFill>
                  <a:srgbClr val="627487"/>
                </a:solidFill>
              </a:rPr>
              <a:t>2026年10月12日</a:t>
            </a:r>
          </a:p>
        </p:txBody>
      </p:sp>
    </p:spTree>
    <p:extLst>
      <p:ext uri="{BB962C8B-B14F-4D97-AF65-F5344CB8AC3E}">
        <p14:creationId xmlns:p14="http://schemas.microsoft.com/office/powerpoint/2010/main" val="16519765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402EA5-DCD6-438D-A6D7-148A06AE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01900A-C22A-4366-B33C-9A97A3CC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0305E5-1CCC-41CF-8EC1-FA8BB9D1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研究背景及动机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4118AD-B2CD-46E7-9E7D-772F0ACB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模型方法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9A0BFC-8BFF-45A6-95B6-552FA771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实验结果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B6C626-3943-43A1-B714-3C4500CF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353D8D-0748-4308-9F6F-E855D8B2C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CCF340-A029-4959-87C6-9D34AF9E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74BF10-D014-47C8-8B21-9FA8D0EC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6DA6AA-4218-4CB4-9FB7-ADBF2008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目录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DC8956-7726-4EB6-A239-A9E2A02A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938AE4-3DF5-432B-B02A-1E7F039F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围绕任务、方法、证据与边界展开汇报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7C59F0-150A-4E9D-B1BF-0EF3AECA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82DCA4-9327-4F1E-B91C-240CE736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02 / 22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C56BFD-84DE-42C8-B48C-7FDD92C0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86000"/>
            <a:ext cx="809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3F73"/>
                </a:solidFill>
              </a:defRPr>
            </a:pPr>
            <a:r>
              <a:rPr sz="3000" b="1">
                <a:solidFill>
                  <a:srgbClr val="153F73"/>
                </a:solidFill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7A5EF5-F675-486B-8256-504522E5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3362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3F73"/>
                </a:solidFill>
              </a:defRPr>
            </a:pPr>
            <a:r>
              <a:rPr sz="2250" b="1">
                <a:solidFill>
                  <a:srgbClr val="153F73"/>
                </a:solidFill>
              </a:rPr>
              <a:t>研究背景及动机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83702F-AC67-43AE-BD74-8EA73B5F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812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D40"/>
                </a:solidFill>
              </a:defRPr>
            </a:pPr>
            <a:r>
              <a:rPr sz="1875" b="0">
                <a:solidFill>
                  <a:srgbClr val="172D40"/>
                </a:solidFill>
              </a:rPr>
              <a:t>业务场景、困难、研究问题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7C79DF-D779-4E41-9F12-2216F62F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43250"/>
            <a:ext cx="809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3F73"/>
                </a:solidFill>
              </a:defRPr>
            </a:pPr>
            <a:r>
              <a:rPr sz="3000" b="1">
                <a:solidFill>
                  <a:srgbClr val="153F73"/>
                </a:solidFill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25CB41-D3DA-42BF-9E65-F7C4F492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908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3F73"/>
                </a:solidFill>
              </a:defRPr>
            </a:pPr>
            <a:r>
              <a:rPr sz="2250" b="1">
                <a:solidFill>
                  <a:srgbClr val="153F73"/>
                </a:solidFill>
              </a:rPr>
              <a:t>模型方法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F0B369-8F97-44B0-BA8C-3C85BA69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385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D40"/>
                </a:solidFill>
              </a:defRPr>
            </a:pPr>
            <a:r>
              <a:rPr sz="1875" b="0">
                <a:solidFill>
                  <a:srgbClr val="172D40"/>
                </a:solidFill>
              </a:rPr>
              <a:t>系统总览及图4—9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47399C-2157-4508-9DB2-759C0DFE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00500"/>
            <a:ext cx="809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3F73"/>
                </a:solidFill>
              </a:defRPr>
            </a:pPr>
            <a:r>
              <a:rPr sz="3000" b="1">
                <a:solidFill>
                  <a:srgbClr val="153F73"/>
                </a:solidFill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781173-7A30-4D4F-9BB1-1886F57B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4812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3F73"/>
                </a:solidFill>
              </a:defRPr>
            </a:pPr>
            <a:r>
              <a:rPr sz="2250" b="1">
                <a:solidFill>
                  <a:srgbClr val="153F73"/>
                </a:solidFill>
              </a:rPr>
              <a:t>实验结果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042E61-F2A2-44D4-9CE2-DE526F5C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D40"/>
                </a:solidFill>
              </a:defRPr>
            </a:pPr>
            <a:r>
              <a:rPr sz="1875" b="0">
                <a:solidFill>
                  <a:srgbClr val="172D40"/>
                </a:solidFill>
              </a:rPr>
              <a:t>完整案例、数量边界、验收与真实截图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8D6368-1D2C-4342-BC7B-C4E5BDE7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57750"/>
            <a:ext cx="809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3F73"/>
                </a:solidFill>
              </a:defRPr>
            </a:pPr>
            <a:r>
              <a:rPr sz="3000" b="1">
                <a:solidFill>
                  <a:srgbClr val="153F73"/>
                </a:solidFill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1EA42D-305B-4AF6-8A54-4096EA61E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053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3F73"/>
                </a:solidFill>
              </a:defRPr>
            </a:pPr>
            <a:r>
              <a:rPr sz="2250" b="1">
                <a:solidFill>
                  <a:srgbClr val="153F73"/>
                </a:solidFill>
              </a:rPr>
              <a:t>结论与讨论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352DB2-70F9-4FC0-B43F-1E42C1A3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530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D40"/>
                </a:solidFill>
              </a:defRPr>
            </a:pPr>
            <a:r>
              <a:rPr sz="1875" b="0">
                <a:solidFill>
                  <a:srgbClr val="172D40"/>
                </a:solidFill>
              </a:rPr>
              <a:t>能力边界、局限及结论</a:t>
            </a:r>
          </a:p>
        </p:txBody>
      </p:sp>
    </p:spTree>
    <p:extLst>
      <p:ext uri="{BB962C8B-B14F-4D97-AF65-F5344CB8AC3E}">
        <p14:creationId xmlns:p14="http://schemas.microsoft.com/office/powerpoint/2010/main" val="2641230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881B8B-E11F-44D2-B91D-A9F87023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69C633-26E8-4C1C-A753-88190045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C3F459-1F1C-474F-82B4-61B8E129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研究背景及动机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07EC31-3385-4E40-97E2-7D044962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模型方法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09497A-6379-4586-BF41-8D9984BB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实验结果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F6F316-1E5A-46BB-BB31-DF81F45D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7DC9BA-5FFD-4C96-9A32-326FE5FF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F80901-4061-4BEB-A2CF-EA859994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6CC8DE-0B45-424A-BF67-C2982146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B4BC5C-6A19-460F-82A6-EBD633D5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业务场景：生产任务的物料核对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B171F7-F3FB-41C3-B7E5-B8D1296F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734800-2D45-48D3-8850-E5DF0FE9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计划员提出生产数量后，需要哪些事实才能判断？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26F521-2982-42FB-8F31-4D5D6D0A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29F0B3-03A8-4C4E-841B-1527DDB7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03 / 22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2B7B75-1AFD-4F1D-BC14-3EE346356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3F73"/>
                </a:solidFill>
              </a:defRPr>
            </a:pPr>
            <a:r>
              <a:rPr sz="2250" b="1">
                <a:solidFill>
                  <a:srgbClr val="153F73"/>
                </a:solidFill>
              </a:rPr>
              <a:t>输入任务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BC8C1E-C9BC-4FE0-80E3-EF5EA637A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49530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“生产100台，物料是否齐套？”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产品与目标数量</a:t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BOM版本和生效日期</a:t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库存分析时点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066EF8-C33C-48B0-8AD3-26E7DA83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33625"/>
            <a:ext cx="19050" cy="309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4E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299FC7-23DD-45B5-A0A6-E48EB2ED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33625"/>
            <a:ext cx="5095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3F73"/>
                </a:solidFill>
              </a:defRPr>
            </a:pPr>
            <a:r>
              <a:rPr sz="2250" b="1">
                <a:solidFill>
                  <a:srgbClr val="153F73"/>
                </a:solidFill>
              </a:rPr>
              <a:t>核对输出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D5C8FF-1D29-498D-B3F3-A1852C1C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952750"/>
            <a:ext cx="509587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每种物料的需求、可用量与缺口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完整性与异常原因</a:t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可追溯的数据来源</a:t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符合条件时的采购建议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C58A22-35AB-4033-A907-5A55B4F8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531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7487"/>
                </a:solidFill>
              </a:defRPr>
            </a:pPr>
            <a:r>
              <a:rPr sz="1350" b="0">
                <a:solidFill>
                  <a:srgbClr val="627487"/>
                </a:solidFill>
              </a:rPr>
              <a:t>本稿案例全部使用 DEMO-PMC-01 合成数据，不展示企业原始库存。</a:t>
            </a:r>
          </a:p>
        </p:txBody>
      </p:sp>
    </p:spTree>
    <p:extLst>
      <p:ext uri="{BB962C8B-B14F-4D97-AF65-F5344CB8AC3E}">
        <p14:creationId xmlns:p14="http://schemas.microsoft.com/office/powerpoint/2010/main" val="4686266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C1D2A9-5BB8-4F17-8D6A-D7A76FEF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615D80-63F0-4A8B-9FB0-9699919A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35B119-0830-4931-BA2F-7E949533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研究背景及动机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466B11-18A8-46D8-8D2A-336761865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模型方法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E979B7-1753-4AB6-99FA-4938A560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实验结果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B1D4DB-9AC0-4E24-ABF6-DCBD7C27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D1148B-2A9D-4415-B781-1E9CEBD4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A9D223-0CA2-4A57-A1D6-8172057E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E9C027-EA38-4E78-A173-27EB7ED0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DA6F49-3CFF-42EC-B134-9E2E13DA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现有困难：缺失、歧义与时点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1BF50A-8FD0-4FA8-83C6-B3393A2A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1666FC-6214-4894-BF3D-170315CD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哪些信息问题会让一个看似完整的回答失去依据？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D55820-E70C-493E-A692-F5CE3E02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17773F-2FC4-4F9C-9A24-A08083B79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04 / 22</a:t>
            </a:r>
          </a:p>
        </p:txBody>
      </p:sp>
      <p:graphicFrame>
        <p:nvGraphicFrame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D9C18A-4837-49DE-9367-F175513B4450}"/>
              </a:ext>
            </a:extLst>
          </p:cNvPr>
          <p:cNvGraphicFramePr/>
          <p:nvPr/>
        </p:nvGraphicFramePr>
        <p:xfrm>
          <a:off xmlns:a="http://schemas.openxmlformats.org/drawingml/2006/main" x="523875" y="2333625"/>
          <a:ext xmlns:a="http://schemas.openxmlformats.org/drawingml/2006/main" cx="11144250" cy="300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3714750"/>
                <a:gridCol w="3714750"/>
              </a:tblGrid>
              <a:tr h="6000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困难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可能影响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项目处理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版本或产品不唯一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核对对象错误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精确匹配，歧义先澄清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数量、单位、时点缺失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不可比或不可计算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参数校验与明确补充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库存记录不完整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未知误作零或可用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保留 null 和完整性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回答脱离来源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难以核查缺料原因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结构化证据与来源查询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EA4A0B-7CBF-4DB9-B6C7-2DD52C0C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531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7487"/>
                </a:solidFill>
              </a:defRPr>
            </a:pPr>
            <a:r>
              <a:rPr sz="1350" b="0">
                <a:solidFill>
                  <a:srgbClr val="627487"/>
                </a:solidFill>
              </a:rPr>
              <a:t>困难来自当前代码的校验分支，未引用无来源行业占比。</a:t>
            </a:r>
          </a:p>
        </p:txBody>
      </p:sp>
    </p:spTree>
    <p:extLst>
      <p:ext uri="{BB962C8B-B14F-4D97-AF65-F5344CB8AC3E}">
        <p14:creationId xmlns:p14="http://schemas.microsoft.com/office/powerpoint/2010/main" val="10596711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5A4AB9-C721-4EA0-89D8-96B1F895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F0BABA-3B77-4896-9F2E-88A105E00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E580B6-C58C-4BE5-8034-B776459B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研究背景及动机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BC23F5-E150-4842-AF62-65B98F33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模型方法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ED8F0E-877B-4AA2-81A5-09006126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实验结果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DE71F8-9C38-4191-BA84-9AEAE1B2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290130-72EB-4C27-83F6-F45C4EB9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BA35AE-E4AB-4706-B0D9-638E1888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18A854-BBB8-4EB7-BCF0-8FFC54C7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23AEF8-1E8E-43D5-90DF-7FC22E2E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研究问题与实现目标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0451E6-71AD-4BFE-95EB-AE39A9C3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FA3782-F2EF-475A-AFAC-7A18E586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如何让自然语言任务得到可验证的业务结果？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8FCE5E-B60D-4E78-9D5D-5C20F7B4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033536-7E98-4840-A2B5-235E16D1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05 / 22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E73207-977C-4596-89A1-EE9E192A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3F73"/>
                </a:solidFill>
              </a:defRPr>
            </a:pPr>
            <a:r>
              <a:rPr sz="2250" b="1">
                <a:solidFill>
                  <a:srgbClr val="153F73"/>
                </a:solidFill>
              </a:rPr>
              <a:t>问题一：事实从哪里来？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A36CBB-B1F2-411A-A141-443863EF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D40"/>
                </a:solidFill>
              </a:defRPr>
            </a:pPr>
            <a:r>
              <a:rPr sz="2025" b="0">
                <a:solidFill>
                  <a:srgbClr val="172D40"/>
                </a:solidFill>
              </a:rPr>
              <a:t>受控导入、发布状态与来源绑定限定查询范围。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7233E6-2C65-46C1-A22F-90B036E2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3F73"/>
                </a:solidFill>
              </a:defRPr>
            </a:pPr>
            <a:r>
              <a:rPr sz="2250" b="1">
                <a:solidFill>
                  <a:srgbClr val="153F73"/>
                </a:solidFill>
              </a:rPr>
              <a:t>问题二：业务数字由谁产生？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64A419-EEE1-4C44-94A9-78243015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4337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D40"/>
                </a:solidFill>
              </a:defRPr>
            </a:pPr>
            <a:r>
              <a:rPr sz="2025" b="0">
                <a:solidFill>
                  <a:srgbClr val="172D40"/>
                </a:solidFill>
              </a:rPr>
              <a:t>白名单工具调用 Python Service，语言层组织受约束的事实说明。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131869-EBE2-4D63-A6A5-40FEF6C2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053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3F73"/>
                </a:solidFill>
              </a:defRPr>
            </a:pPr>
            <a:r>
              <a:rPr sz="2250" b="1">
                <a:solidFill>
                  <a:srgbClr val="153F73"/>
                </a:solidFill>
              </a:rPr>
              <a:t>问题三：追问如何保持同一任务？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7A2E0F-95CB-4F84-A1D4-FC68059F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292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D40"/>
                </a:solidFill>
              </a:defRPr>
            </a:pPr>
            <a:r>
              <a:rPr sz="2025" b="0">
                <a:solidFill>
                  <a:srgbClr val="172D40"/>
                </a:solidFill>
              </a:rPr>
              <a:t>核对产品、数量、版本与时点后复用 Evidence。</a:t>
            </a:r>
          </a:p>
        </p:txBody>
      </p:sp>
    </p:spTree>
    <p:extLst>
      <p:ext uri="{BB962C8B-B14F-4D97-AF65-F5344CB8AC3E}">
        <p14:creationId xmlns:p14="http://schemas.microsoft.com/office/powerpoint/2010/main" val="6509585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4EBF9D-5F0F-4E10-AB69-04F642026ED0}"/>
              </a:ext>
            </a:extLst>
          </p:cNvPr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10096500" y="5000625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E9A95E-1C73-4AFA-99B4-CC511FF10566}"/>
              </a:ext>
            </a:extLst>
          </p:cNvPr>
          <p:cNvCxnSpPr>
            <a:stCxn xmlns:a="http://schemas.openxmlformats.org/drawingml/2006/main" id="22" idx="0"/>
            <a:endCxn xmlns:a="http://schemas.openxmlformats.org/drawingml/2006/main" id="18" idx="2"/>
          </p:cNvCxnSpPr>
          <p:nvPr/>
        </p:nvCxnSpPr>
        <p:spPr>
          <a:xfrm xmlns:a="http://schemas.openxmlformats.org/drawingml/2006/main" flipV="1">
            <a:off x="10096500" y="3286125"/>
            <a:ext cx="238125" cy="857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E35E0F-4B9B-42AB-B166-753AF9F94C1D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8048625" y="457200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ECF663-9FDF-4FD5-B665-4FF03B11F48C}"/>
              </a:ext>
            </a:extLst>
          </p:cNvPr>
          <p:cNvCxnSpPr>
            <a:stCxn xmlns:a="http://schemas.openxmlformats.org/drawingml/2006/main" id="17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 flipH="1">
            <a:off x="6786563" y="3286125"/>
            <a:ext cx="23813" cy="857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DDF489-BF25-4DDA-8158-E7EAEDFBA595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4857750" y="2881313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903C3C-6316-415A-AC7E-87465693A053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2095500" y="2790825"/>
            <a:ext cx="476250" cy="904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CB5778-7B93-4963-B8EE-A752A441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76C5C2-93B4-4FE4-A399-0F0491E4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研究背景及动机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F1295A-2B3C-4231-B189-AE870853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B44D16-9EF8-4293-B9EE-D8CB29DF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模型方法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D946D1-41DC-46A8-B9D9-673FEFDC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实验结果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788B9C-5167-4BC9-B3FC-86C2EBBC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54C09E-CE2C-4978-9C84-E4FE0BE1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D7802D-146D-4A6D-94B2-1A24346F0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B58360-4E11-4765-B387-3F1349D7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F4586F-143C-4F30-861A-D6C3D96A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图5  系统总览与职责分工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425437-1E56-44DA-A89E-8AD9B47E7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4AF058-4D18-4E42-819D-1A089893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当前 Trial 如何完成从页面到事实再到回答的调用？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242FD1-60B5-4B14-9227-FBE3E44E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2EFD58-0423-4FF1-85CA-77EDFD3A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06 / 22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15C6DE-FE2C-4F1C-8C9C-E8A5ECC45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76500"/>
            <a:ext cx="1619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Vue 工作台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579F55-D9E4-4699-A90B-E4608820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76500"/>
            <a:ext cx="2286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Trial FastAPI</a:t>
            </a:r>
          </a:p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会话所有权校验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F5C7B1-4914-40B2-BE23-6260F32F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476500"/>
            <a:ext cx="2857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Persistent Service</a:t>
            </a:r>
          </a:p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Planner / Orchestrator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DFA486-ECA1-4985-8564-77C86EEFC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76500"/>
            <a:ext cx="2571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0"/>
          </a:solidFill>
          <a:ln xmlns:a="http://schemas.openxmlformats.org/drawingml/2006/main" w="14288">
            <a:solidFill>
              <a:srgbClr val="167D70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67D70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67D70"/>
                </a:solidFill>
              </a:defRPr>
            </a:pPr>
            <a:r>
              <a:rPr sz="1725" b="1">
                <a:solidFill>
                  <a:srgbClr val="167D70"/>
                </a:solidFill>
              </a:rPr>
              <a:t>Evidence</a:t>
            </a:r>
          </a:p>
          <a:p xmlns:a="http://schemas.openxmlformats.org/drawingml/2006/main">
            <a:pPr algn="ctr">
              <a:defRPr sz="1725" b="1">
                <a:solidFill>
                  <a:srgbClr val="167D70"/>
                </a:solidFill>
              </a:defRPr>
            </a:pPr>
            <a:r>
              <a:rPr sz="1725" b="1">
                <a:solidFill>
                  <a:srgbClr val="167D70"/>
                </a:solidFill>
              </a:rPr>
              <a:t>回答与历史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C79438-CC5F-4717-98DE-4FC01FCB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43375"/>
            <a:ext cx="25241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Tool Registry</a:t>
            </a:r>
          </a:p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白名单与参数校验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279401-0B35-4300-99B9-73983522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43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Published Service</a:t>
            </a:r>
          </a:p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BOM / 库存 / 采购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5B978E-929F-4A23-BD25-3DFF8FBCC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381625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0"/>
          </a:solidFill>
          <a:ln xmlns:a="http://schemas.openxmlformats.org/drawingml/2006/main" w="14288">
            <a:solidFill>
              <a:srgbClr val="167D70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67D70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67D70"/>
                </a:solidFill>
              </a:defRPr>
            </a:pPr>
            <a:r>
              <a:rPr sz="1725" b="1">
                <a:solidFill>
                  <a:srgbClr val="167D70"/>
                </a:solidFill>
              </a:rPr>
              <a:t>独立 Demo SQLite</a:t>
            </a:r>
          </a:p>
          <a:p xmlns:a="http://schemas.openxmlformats.org/drawingml/2006/main">
            <a:pPr algn="ctr">
              <a:defRPr sz="1725" b="1">
                <a:solidFill>
                  <a:srgbClr val="167D70"/>
                </a:solidFill>
              </a:defRPr>
            </a:pPr>
            <a:r>
              <a:rPr sz="1725" b="1">
                <a:solidFill>
                  <a:srgbClr val="167D70"/>
                </a:solidFill>
              </a:rPr>
              <a:t>已发布合成事实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D66177-0990-43D9-B1ED-A0067AF8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48125"/>
            <a:ext cx="428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27487"/>
                </a:solidFill>
              </a:defRPr>
            </a:pPr>
            <a:r>
              <a:rPr sz="1875" b="0">
                <a:solidFill>
                  <a:srgbClr val="627487"/>
                </a:solidFill>
              </a:rPr>
              <a:t>其他入口（未混入本次链路）</a:t>
            </a:r>
          </a:p>
          <a:p xmlns:a="http://schemas.openxmlformats.org/drawingml/2006/main">
            <a:pPr>
              <a:defRPr sz="1875" b="0">
                <a:solidFill>
                  <a:srgbClr val="627487"/>
                </a:solidFill>
              </a:defRPr>
            </a:pPr>
            <a:r>
              <a:rPr sz="1875" b="0">
                <a:solidFill>
                  <a:srgbClr val="627487"/>
                </a:solidFill>
              </a:rPr>
              <a:t>企业：受控账面查询优先</a:t>
            </a:r>
          </a:p>
          <a:p xmlns:a="http://schemas.openxmlformats.org/drawingml/2006/main">
            <a:pPr>
              <a:defRPr sz="1875" b="0">
                <a:solidFill>
                  <a:srgbClr val="627487"/>
                </a:solidFill>
              </a:defRPr>
            </a:pPr>
            <a:r>
              <a:rPr sz="1875" b="0">
                <a:solidFill>
                  <a:srgbClr val="627487"/>
                </a:solidFill>
              </a:rPr>
              <a:t>旧生产路径：LangGraph PMC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0162D7-9300-46B2-AC19-3260A2EF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531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7487"/>
                </a:solidFill>
              </a:defRPr>
            </a:pPr>
            <a:r>
              <a:rPr sz="1350" b="0">
                <a:solidFill>
                  <a:srgbClr val="627487"/>
                </a:solidFill>
              </a:rPr>
              <a:t>本次模式：Trial 禁用模型出站；开发环境可选 LLM，旧路径单独保留。</a:t>
            </a:r>
          </a:p>
        </p:txBody>
      </p:sp>
    </p:spTree>
    <p:extLst>
      <p:ext uri="{BB962C8B-B14F-4D97-AF65-F5344CB8AC3E}">
        <p14:creationId xmlns:p14="http://schemas.microsoft.com/office/powerpoint/2010/main" val="17445998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A8A071-107C-4187-99C4-866A3C9AD779}"/>
              </a:ext>
            </a:extLst>
          </p:cNvPr>
          <p:cNvCxnSpPr>
            <a:stCxn xmlns:a="http://schemas.openxmlformats.org/drawingml/2006/main" id="20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10096500" y="4905375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78034A-6079-4F71-AA3F-8409C5850891}"/>
              </a:ext>
            </a:extLst>
          </p:cNvPr>
          <p:cNvCxnSpPr>
            <a:stCxn xmlns:a="http://schemas.openxmlformats.org/drawingml/2006/main" id="20" idx="0"/>
            <a:endCxn xmlns:a="http://schemas.openxmlformats.org/drawingml/2006/main" id="18" idx="2"/>
          </p:cNvCxnSpPr>
          <p:nvPr/>
        </p:nvCxnSpPr>
        <p:spPr>
          <a:xfrm xmlns:a="http://schemas.openxmlformats.org/drawingml/2006/main" flipV="1">
            <a:off x="10096500" y="3000375"/>
            <a:ext cx="0" cy="1095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391DC6-DA70-4D13-A6FC-91B7CD2D1049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905750" y="4500563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840E81-F1BB-48EA-87C3-7EB816A09422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429500" y="2881313"/>
            <a:ext cx="1381125" cy="1619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B2448F-AC26-4E7E-A9FF-5C546FAAEBAC}"/>
              </a:ext>
            </a:extLst>
          </p:cNvPr>
          <p:cNvCxnSpPr>
            <a:stCxn xmlns:a="http://schemas.openxmlformats.org/drawingml/2006/main" id="17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6619875" y="3286125"/>
            <a:ext cx="238125" cy="809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A20368-AD3D-4A8E-869B-D6D2BD34AF66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V="1">
            <a:off x="7429500" y="2595563"/>
            <a:ext cx="1381125" cy="285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2B61E6-774A-41CF-B243-1C055BDF7FF3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5191125" y="2881313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7FA4D1-827B-45D9-8476-4EB609E9DEF4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2428875" y="2790825"/>
            <a:ext cx="523875" cy="904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42EC27-9712-4FB8-B6C3-2D21C257B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A54B03-EBFB-41C1-A5EA-1886407C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研究背景及动机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DEBD8E-95BD-4FA0-AA14-8FD6C577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72ACC9-9275-4B51-A8F1-274E1D54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模型方法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40102C-EF03-4BA4-A8B5-F6457D47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实验结果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7C093A-6DE8-40DC-B77C-F6850ED1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4642A9-5584-43F4-BEDB-15F847B5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A26836-93E2-4C0B-A444-52E40D1E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72DF9C-92FE-4C64-B2E5-44E20ED1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341252-E0C3-4467-8000-1FCCB4328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图4  受控事实导入与发布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1C3014-181E-4936-99AF-AD358C1E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F03A26-D1BB-45A7-8B88-D156799C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原始 BOM 在什么条件下可以进入可查询事实？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DA6958-A18F-42C1-A66A-49DCC2F5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0E1280-0858-4E31-81F9-A0438AB9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07 / 22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2C0E0F-AC2E-49FB-8D00-D0A02718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76500"/>
            <a:ext cx="1905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来源文件与映射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B5D788-18C7-4CBA-BB03-D97035F6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76500"/>
            <a:ext cx="223837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stage_bom</a:t>
            </a:r>
          </a:p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暂存与逐行校验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6E4209-BD89-433A-B663-56361F5C0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76500"/>
            <a:ext cx="1619250" cy="8096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校验结果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C34CF8-BC5A-41C4-8D62-2D26BB99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90750"/>
            <a:ext cx="2571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F"/>
          </a:solidFill>
          <a:ln xmlns:a="http://schemas.openxmlformats.org/drawingml/2006/main" w="14288">
            <a:solidFill>
              <a:srgbClr val="B44635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B44635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B44635"/>
                </a:solidFill>
              </a:defRPr>
            </a:pPr>
            <a:r>
              <a:rPr sz="1725" b="1">
                <a:solidFill>
                  <a:srgbClr val="B44635"/>
                </a:solidFill>
              </a:rPr>
              <a:t>INVALID</a:t>
            </a:r>
          </a:p>
          <a:p xmlns:a="http://schemas.openxmlformats.org/drawingml/2006/main">
            <a:pPr algn="ctr">
              <a:defRPr sz="1725" b="1">
                <a:solidFill>
                  <a:srgbClr val="B44635"/>
                </a:solidFill>
              </a:defRPr>
            </a:pPr>
            <a:r>
              <a:rPr sz="1725" b="1">
                <a:solidFill>
                  <a:srgbClr val="B44635"/>
                </a:solidFill>
              </a:rPr>
              <a:t>保留错误，不发布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959C8C-0BA6-4B8A-83E8-C279D401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2095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待确认字段</a:t>
            </a:r>
          </a:p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人工确认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C76090-A788-4745-A086-3E8BDEC1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095750"/>
            <a:ext cx="2571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READY_TO_PUBLISH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90C82E-661A-4F76-9ECF-592A419C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334000"/>
            <a:ext cx="2571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0"/>
          </a:solidFill>
          <a:ln xmlns:a="http://schemas.openxmlformats.org/drawingml/2006/main" w="14288">
            <a:solidFill>
              <a:srgbClr val="167D70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67D70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67D70"/>
                </a:solidFill>
              </a:defRPr>
            </a:pPr>
            <a:r>
              <a:rPr sz="1725" b="1">
                <a:solidFill>
                  <a:srgbClr val="167D70"/>
                </a:solidFill>
              </a:rPr>
              <a:t>publish_batch</a:t>
            </a:r>
          </a:p>
          <a:p xmlns:a="http://schemas.openxmlformats.org/drawingml/2006/main">
            <a:pPr algn="ctr">
              <a:defRPr sz="1725" b="1">
                <a:solidFill>
                  <a:srgbClr val="167D70"/>
                </a:solidFill>
              </a:defRPr>
            </a:pPr>
            <a:r>
              <a:rPr sz="1725" b="1">
                <a:solidFill>
                  <a:srgbClr val="167D70"/>
                </a:solidFill>
              </a:rPr>
              <a:t>原子发布及来源审计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A3FEEE-7E31-4626-B3F1-0136FA32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431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B44635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B44635"/>
                </a:solidFill>
              </a:defRPr>
            </a:pPr>
            <a:r>
              <a:rPr sz="1425" b="0">
                <a:solidFill>
                  <a:srgbClr val="B44635"/>
                </a:solidFill>
              </a:rPr>
              <a:t>有错误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F56857-DFA3-4CA7-A8BF-B0920C67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195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2D40"/>
                </a:solidFill>
              </a:defRPr>
            </a:pPr>
            <a:r>
              <a:rPr sz="1425" b="0">
                <a:solidFill>
                  <a:srgbClr val="172D40"/>
                </a:solidFill>
              </a:rPr>
              <a:t>需确认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206872-3C58-4BF3-BD13-4CC4C19F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4861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2D40"/>
                </a:solidFill>
              </a:defRPr>
            </a:pPr>
            <a:r>
              <a:rPr sz="1425" b="0">
                <a:solidFill>
                  <a:srgbClr val="172D40"/>
                </a:solidFill>
              </a:rPr>
              <a:t>已满足条件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CEB169-1BB0-418B-BFAF-767968ED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38625"/>
            <a:ext cx="4572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D40"/>
                </a:solidFill>
              </a:defRPr>
            </a:pPr>
            <a:r>
              <a:rPr sz="1875" b="0">
                <a:solidFill>
                  <a:srgbClr val="172D40"/>
                </a:solidFill>
              </a:rPr>
              <a:t>确认不是统一必经步骤</a:t>
            </a:r>
          </a:p>
          <a:p xmlns:a="http://schemas.openxmlformats.org/drawingml/2006/main">
            <a:pPr>
              <a:defRPr sz="1875" b="0">
                <a:solidFill>
                  <a:srgbClr val="172D40"/>
                </a:solidFill>
              </a:defRPr>
            </a:pPr>
            <a:r>
              <a:rPr sz="1875" b="0">
                <a:solidFill>
                  <a:srgbClr val="172D40"/>
                </a:solidFill>
              </a:rPr>
              <a:t>只对待确认字段执行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72D40"/>
                </a:solidFill>
              </a:defRPr>
            </a:pPr>
            <a:r>
              <a:rPr sz="1875" b="0">
                <a:solidFill>
                  <a:srgbClr val="172D40"/>
                </a:solidFill>
              </a:rPr>
              <a:t>Demo 由场景包幂等发布</a:t>
            </a:r>
          </a:p>
          <a:p xmlns:a="http://schemas.openxmlformats.org/drawingml/2006/main">
            <a:pPr>
              <a:defRPr sz="1875" b="0">
                <a:solidFill>
                  <a:srgbClr val="172D40"/>
                </a:solidFill>
              </a:defRPr>
            </a:pPr>
            <a:r>
              <a:rPr sz="1875" b="0">
                <a:solidFill>
                  <a:srgbClr val="172D40"/>
                </a:solidFill>
              </a:rPr>
              <a:t>不冒充企业人工导入过程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9E17E8-E917-4527-8AB4-B9AF700C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531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7487"/>
                </a:solidFill>
              </a:defRPr>
            </a:pPr>
            <a:r>
              <a:rPr sz="1350" b="0">
                <a:solidFill>
                  <a:srgbClr val="627487"/>
                </a:solidFill>
              </a:rPr>
              <a:t>图示为企业 BOM 导入路径。本次 Demo 初始化是独立场景发布路径。</a:t>
            </a:r>
          </a:p>
        </p:txBody>
      </p:sp>
    </p:spTree>
    <p:extLst>
      <p:ext uri="{BB962C8B-B14F-4D97-AF65-F5344CB8AC3E}">
        <p14:creationId xmlns:p14="http://schemas.microsoft.com/office/powerpoint/2010/main" val="5725441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75B0D6-619B-4BD1-AF53-E70E217FEE4B}"/>
              </a:ext>
            </a:extLst>
          </p:cNvPr>
          <p:cNvCxnSpPr>
            <a:stCxn xmlns:a="http://schemas.openxmlformats.org/drawingml/2006/main" id="19" idx="2"/>
            <a:endCxn xmlns:a="http://schemas.openxmlformats.org/drawingml/2006/main" id="20" idx="3"/>
          </p:cNvCxnSpPr>
          <p:nvPr/>
        </p:nvCxnSpPr>
        <p:spPr>
          <a:xfrm xmlns:a="http://schemas.openxmlformats.org/drawingml/2006/main" flipH="1">
            <a:off x="9144000" y="4572000"/>
            <a:ext cx="1452563" cy="928688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BDDA5C-BA9C-4835-8814-8D1406D65E30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5667375" y="4143375"/>
            <a:ext cx="3810000" cy="5000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69DCF8-508C-470B-8A33-C92112E6B786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9239250" y="2738438"/>
            <a:ext cx="1357313" cy="976313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030969-D366-46F0-8504-3BA35A952C74}"/>
              </a:ext>
            </a:extLst>
          </p:cNvPr>
          <p:cNvCxnSpPr>
            <a:stCxn xmlns:a="http://schemas.openxmlformats.org/drawingml/2006/main" id="16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4286250" y="3286125"/>
            <a:ext cx="166688" cy="952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8D8411-F4AA-4A8E-8BBD-A029B2728CAB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5334000" y="2738438"/>
            <a:ext cx="1143000" cy="142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4376CC-1A4E-42ED-9787-B9C5E8BC75D4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2667000" y="2790825"/>
            <a:ext cx="571500" cy="904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238F01-239F-4B6E-95B9-01C9A441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F73A7A-FC75-4E6D-A7C3-4B92D3DE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研究背景及动机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9D132A-BB4C-41BA-AA5B-638B645E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840390-89D0-4401-B679-88D565CE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模型方法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582D03-C27B-4B34-B0CE-0A85B7AF7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实验结果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A8F255-6E88-4BC3-87A9-F057A685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5C4A92-B0D5-4C6C-AD4C-56B9E558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B9A64F-2C47-41F9-84EA-22A05EB3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D63742-890E-45A0-AA6F-63F60676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89141C-139D-46B7-800E-84E8850E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图6  问题规划及产品上下文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BFB949-722A-413C-909B-AFD4F633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ECBE83-4298-442C-B869-5CD32DBF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怎样避免产品歧义与上一轮条件污染？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43155B-BD5E-448F-B493-52E95E31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DB2E01-12CA-4883-9B9C-E8CAF6BF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08 / 22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3EA1A2-7791-4D58-AABE-A32B8003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76500"/>
            <a:ext cx="21431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用户问题与历史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8E666E-3981-488A-AE26-2BD48DBD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76500"/>
            <a:ext cx="2095500" cy="8096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入口模式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BED41C-35C6-4A00-A1FC-B18EFE61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33625"/>
            <a:ext cx="2762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企业 / Review</a:t>
            </a:r>
          </a:p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权限目录精确解析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F7240E-A629-4932-8CC0-A69C4951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238625"/>
            <a:ext cx="242887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Trial</a:t>
            </a:r>
          </a:p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固定 Demo 上下文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ED0F34-5368-489A-93A5-1B53B540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714750"/>
            <a:ext cx="22383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Planner</a:t>
            </a:r>
          </a:p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任务与缺失参数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570CE6-A1E2-4B5C-8796-DD5CF38A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95875"/>
            <a:ext cx="2476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F"/>
          </a:solidFill>
          <a:ln xmlns:a="http://schemas.openxmlformats.org/drawingml/2006/main" w="14288">
            <a:solidFill>
              <a:srgbClr val="B44635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B44635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B44635"/>
                </a:solidFill>
              </a:defRPr>
            </a:pPr>
            <a:r>
              <a:rPr sz="1725" b="1">
                <a:solidFill>
                  <a:srgbClr val="B44635"/>
                </a:solidFill>
              </a:rPr>
              <a:t>澄清 / 拒绝</a:t>
            </a:r>
          </a:p>
          <a:p xmlns:a="http://schemas.openxmlformats.org/drawingml/2006/main">
            <a:pPr algn="ctr">
              <a:defRPr sz="1725" b="1">
                <a:solidFill>
                  <a:srgbClr val="B44635"/>
                </a:solidFill>
              </a:defRPr>
            </a:pPr>
            <a:r>
              <a:rPr sz="1725" b="1">
                <a:solidFill>
                  <a:srgbClr val="B44635"/>
                </a:solidFill>
              </a:rPr>
              <a:t>不执行工具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01A4E6-F492-4A7A-AB7A-773F53D7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286125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D40"/>
                </a:solidFill>
              </a:defRPr>
            </a:pPr>
            <a:r>
              <a:rPr sz="1650" b="0">
                <a:solidFill>
                  <a:srgbClr val="172D40"/>
                </a:solidFill>
              </a:rPr>
              <a:t>企业路径：明确编码优先，</a:t>
            </a:r>
          </a:p>
          <a:p xmlns:a="http://schemas.openxmlformats.org/drawingml/2006/main">
            <a:pPr>
              <a:defRPr sz="1650" b="0">
                <a:solidFill>
                  <a:srgbClr val="172D40"/>
                </a:solidFill>
              </a:defRPr>
            </a:pPr>
            <a:r>
              <a:rPr sz="1650" b="0">
                <a:solidFill>
                  <a:srgbClr val="172D40"/>
                </a:solidFill>
              </a:rPr>
              <a:t>多候选澄清，目录浏览不切换。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F1D38A-183A-4674-AF37-410EB926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905375"/>
            <a:ext cx="2238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D40"/>
                </a:solidFill>
              </a:defRPr>
            </a:pPr>
            <a:r>
              <a:rPr sz="1575" b="0">
                <a:solidFill>
                  <a:srgbClr val="172D40"/>
                </a:solidFill>
              </a:rPr>
              <a:t>参数完整时调用工具</a:t>
            </a:r>
          </a:p>
          <a:p xmlns:a="http://schemas.openxmlformats.org/drawingml/2006/main">
            <a:pPr>
              <a:defRPr sz="1575" b="0">
                <a:solidFill>
                  <a:srgbClr val="172D40"/>
                </a:solidFill>
              </a:defRPr>
            </a:pPr>
            <a:r>
              <a:rPr sz="1575" b="0">
                <a:solidFill>
                  <a:srgbClr val="172D40"/>
                </a:solidFill>
              </a:rPr>
              <a:t>上下文解析失败返回说明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D62BBC-C543-4E88-A54A-FFE503BC0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531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7487"/>
                </a:solidFill>
              </a:defRPr>
            </a:pPr>
            <a:r>
              <a:rPr sz="1350" b="0">
                <a:solidFill>
                  <a:srgbClr val="627487"/>
                </a:solidFill>
              </a:rPr>
              <a:t>企业产品切换与 Trial 固定场景是两种入口，不能拼成统一必经流程。</a:t>
            </a:r>
          </a:p>
        </p:txBody>
      </p:sp>
    </p:spTree>
    <p:extLst>
      <p:ext uri="{BB962C8B-B14F-4D97-AF65-F5344CB8AC3E}">
        <p14:creationId xmlns:p14="http://schemas.microsoft.com/office/powerpoint/2010/main" val="248969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9EB4F4-23C2-45AB-9D82-FCA8733C3A6E}"/>
              </a:ext>
            </a:extLst>
          </p:cNvPr>
          <p:cNvCxnSpPr>
            <a:stCxn xmlns:a="http://schemas.openxmlformats.org/drawingml/2006/main" id="19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5381625" y="5000625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74FE93-45AE-459D-B342-DB287FADE777}"/>
              </a:ext>
            </a:extLst>
          </p:cNvPr>
          <p:cNvCxnSpPr>
            <a:stCxn xmlns:a="http://schemas.openxmlformats.org/drawingml/2006/main" id="19" idx="1"/>
            <a:endCxn xmlns:a="http://schemas.openxmlformats.org/drawingml/2006/main" id="20" idx="3"/>
          </p:cNvCxnSpPr>
          <p:nvPr/>
        </p:nvCxnSpPr>
        <p:spPr>
          <a:xfrm xmlns:a="http://schemas.openxmlformats.org/drawingml/2006/main" flipH="1" flipV="1">
            <a:off x="3238500" y="4524375"/>
            <a:ext cx="904875" cy="47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A49E2F-A15F-4D75-96BE-19525DFB8419}"/>
              </a:ext>
            </a:extLst>
          </p:cNvPr>
          <p:cNvCxnSpPr>
            <a:stCxn xmlns:a="http://schemas.openxmlformats.org/drawingml/2006/main" id="18" idx="1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6619875" y="4572000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222569-B2EA-470A-8E18-24AE54D1F7A8}"/>
              </a:ext>
            </a:extLst>
          </p:cNvPr>
          <p:cNvCxnSpPr>
            <a:stCxn xmlns:a="http://schemas.openxmlformats.org/drawingml/2006/main" id="17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9429750" y="3143250"/>
            <a:ext cx="0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160ACB-B22A-44C5-993F-345CD0F1C758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6572250" y="2738438"/>
            <a:ext cx="1285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9EF895-A1E3-4A04-866D-C0B45E74E57C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3143250" y="2738438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736E26-4AC7-4187-BDD6-C7834942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227570-9B62-4088-A114-69E7DBD9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研究背景及动机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F30D1D-EA9C-48FB-A0B6-2709B92D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ECF077-A266-41A7-879B-933E7FD9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模型方法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846E37-7CAE-4BE9-A096-A7A355718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实验结果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0EDDAC-E551-4617-BA31-B1539A32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F6EB3A-5118-4560-8BEC-A3DE049E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184A41-127D-4C2F-AFFD-1A01D97A0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81190F-8800-46AD-862D-92E3DFBF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A8147D-C608-48F4-AB76-5D865383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图7  物料需求与库存核对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8274F7-7137-4014-BB2C-E2217EEF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E8F265-5C0B-4756-B87B-81C2F7A4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多层 BOM 如何转化为需求、缺口和理论数量？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375DC3-144C-42F7-BFC1-88D8EC6B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CC806C-A4CB-45E0-AB6D-DC12AE6C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09 / 22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26EE1B-D3BE-44DC-889C-90BE8B53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33625"/>
            <a:ext cx="261937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产品 / 版本</a:t>
            </a:r>
          </a:p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生效日 / 数量 / 时点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0F11AA-EF2D-4F4A-A223-7EAFEF35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33625"/>
            <a:ext cx="2571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选择有效 BOM</a:t>
            </a:r>
          </a:p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walk 递归展开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D608D6-AC70-443C-A97D-B97C8502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333625"/>
            <a:ext cx="3143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叶子用量汇总</a:t>
            </a:r>
          </a:p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显式单位换算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F17371-9164-4221-A270-28C5A27D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143375"/>
            <a:ext cx="3143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查询库存快照</a:t>
            </a:r>
          </a:p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校验可用量与来源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A4013B-0682-4D22-A106-5F28C7BE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143375"/>
            <a:ext cx="2476500" cy="857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完整性与时点</a:t>
            </a:r>
          </a:p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是否满足？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39BF5E-FDC8-4DFB-A8BB-FBBF78C9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95750"/>
            <a:ext cx="2714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0"/>
          </a:solidFill>
          <a:ln xmlns:a="http://schemas.openxmlformats.org/drawingml/2006/main" w="14288">
            <a:solidFill>
              <a:srgbClr val="167D70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67D70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67D70"/>
                </a:solidFill>
              </a:defRPr>
            </a:pPr>
            <a:r>
              <a:rPr sz="1725" b="1">
                <a:solidFill>
                  <a:srgbClr val="167D70"/>
                </a:solidFill>
              </a:rPr>
              <a:t>需求、缺口、齐套</a:t>
            </a:r>
          </a:p>
          <a:p xmlns:a="http://schemas.openxmlformats.org/drawingml/2006/main">
            <a:pPr algn="ctr">
              <a:defRPr sz="1725" b="1">
                <a:solidFill>
                  <a:srgbClr val="167D70"/>
                </a:solidFill>
              </a:defRPr>
            </a:pPr>
            <a:r>
              <a:rPr sz="1725" b="1">
                <a:solidFill>
                  <a:srgbClr val="167D70"/>
                </a:solidFill>
              </a:rPr>
              <a:t>理论上限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C06B0A-C58A-4BBB-A793-FCA48CAA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381625"/>
            <a:ext cx="2476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F"/>
          </a:solidFill>
          <a:ln xmlns:a="http://schemas.openxmlformats.org/drawingml/2006/main" w="14288">
            <a:solidFill>
              <a:srgbClr val="B44635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B44635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B44635"/>
                </a:solidFill>
              </a:defRPr>
            </a:pPr>
            <a:r>
              <a:rPr sz="1725" b="1">
                <a:solidFill>
                  <a:srgbClr val="B44635"/>
                </a:solidFill>
              </a:rPr>
              <a:t>不完整 / 冲突</a:t>
            </a:r>
          </a:p>
          <a:p xmlns:a="http://schemas.openxmlformats.org/drawingml/2006/main">
            <a:pPr algn="ctr">
              <a:defRPr sz="1725" b="1">
                <a:solidFill>
                  <a:srgbClr val="B44635"/>
                </a:solidFill>
              </a:defRPr>
            </a:pPr>
            <a:r>
              <a:rPr sz="1725" b="1">
                <a:solidFill>
                  <a:srgbClr val="B44635"/>
                </a:solidFill>
              </a:rPr>
              <a:t>保留未知和警告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9A93B6-5583-4712-92EE-D471CF25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76625"/>
            <a:ext cx="704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B44635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44635"/>
                </a:solidFill>
              </a:defRPr>
            </a:pPr>
            <a:r>
              <a:rPr sz="1650" b="0">
                <a:solidFill>
                  <a:srgbClr val="B44635"/>
                </a:solidFill>
              </a:rPr>
              <a:t>环路 / 深度 / 版本冲突：终止展开并返回 data_unavailable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47F342-D7E0-4D22-8AAD-1D30D047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48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67D70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7D70"/>
                </a:solidFill>
              </a:defRPr>
            </a:pPr>
            <a:r>
              <a:rPr sz="1500" b="0">
                <a:solidFill>
                  <a:srgbClr val="167D70"/>
                </a:solidFill>
              </a:rPr>
              <a:t>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06A507-CEB5-4E8D-A67D-9F13E1AB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2387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B44635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B44635"/>
                </a:solidFill>
              </a:defRPr>
            </a:pPr>
            <a:r>
              <a:rPr sz="1500" b="0">
                <a:solidFill>
                  <a:srgbClr val="B44635"/>
                </a:solidFill>
              </a:rPr>
              <a:t>否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E312B2-F811-4D9A-9D12-F6B59AA4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531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7487"/>
                </a:solidFill>
              </a:defRPr>
            </a:pPr>
            <a:r>
              <a:rPr sz="1350" b="0">
                <a:solidFill>
                  <a:srgbClr val="627487"/>
                </a:solidFill>
              </a:rPr>
              <a:t>本次有生效日，进入多层路径；无生效日的直接子项备选路径见备注。</a:t>
            </a:r>
          </a:p>
        </p:txBody>
      </p:sp>
    </p:spTree>
    <p:extLst>
      <p:ext uri="{BB962C8B-B14F-4D97-AF65-F5344CB8AC3E}">
        <p14:creationId xmlns:p14="http://schemas.microsoft.com/office/powerpoint/2010/main" val="5969807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54D2CE-CA5C-4B85-87B6-F7D8B8558AAE}"/>
              </a:ext>
            </a:extLst>
          </p:cNvPr>
          <p:cNvCxnSpPr>
            <a:stCxn xmlns:a="http://schemas.openxmlformats.org/drawingml/2006/main" id="16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4738688" y="3286125"/>
            <a:ext cx="947738" cy="2047875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0D7731-FB84-4EE6-96E0-DD5AD427CB59}"/>
              </a:ext>
            </a:extLst>
          </p:cNvPr>
          <p:cNvCxnSpPr>
            <a:stCxn xmlns:a="http://schemas.openxmlformats.org/drawingml/2006/main" id="20" idx="0"/>
            <a:endCxn xmlns:a="http://schemas.openxmlformats.org/drawingml/2006/main" id="18" idx="2"/>
          </p:cNvCxnSpPr>
          <p:nvPr/>
        </p:nvCxnSpPr>
        <p:spPr>
          <a:xfrm xmlns:a="http://schemas.openxmlformats.org/drawingml/2006/main" flipH="1" flipV="1">
            <a:off x="10453688" y="3286125"/>
            <a:ext cx="214313" cy="10001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44635"/>
            </a:solidFill>
            <a:prstDash val="solid"/>
            <a:tailEnd type="triangle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982E47-B92C-43B4-8BFE-94C7434B4C99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382125" y="4691063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B01765-88AB-4BCE-9436-316D85A4D2F2}"/>
              </a:ext>
            </a:extLst>
          </p:cNvPr>
          <p:cNvCxnSpPr>
            <a:stCxn xmlns:a="http://schemas.openxmlformats.org/drawingml/2006/main" id="17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7905750" y="3286125"/>
            <a:ext cx="119063" cy="10001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627487"/>
            </a:solidFill>
            <a:prstDash val="dash"/>
            <a:tailEnd type="triangle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C94C0A-AC27-4A08-9A63-F63242AABE99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9048750" y="2881313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16F53C-E026-4326-A01D-0F4DC4681B1C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6096000" y="2881313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212062-E2B5-497F-9A79-B511704E71BD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2809875" y="288131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BBF50E-59A1-4A0A-8544-E657BDD6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3D060D-B5D1-4492-8F31-11BA9ACB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研究背景及动机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13D033-6FA8-43ED-8EF5-DF3C3D63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14CE72-67F2-4B66-A00C-CFA540332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模型方法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3AB19E-B212-42C0-8D83-09813A4A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实验结果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1CB6EF-65E4-4876-AC6F-2F8F6E2F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1D3BF2-8647-4ADB-9B87-5F5D7627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E73B9F-3996-4974-BEC1-31F49711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54718D-946B-4705-8214-56295A7E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1A314A-78E5-4B19-A01A-F3EFF7F9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图8  证据校验与结果输出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EF1C48-9521-4EF8-BB61-F169518D2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96F883-526D-4BD3-866A-C9C46D050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工具结果如何进入回答，语言层又能改动什么？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D9F06F-5C81-4AA2-80BD-C5F6F950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40197D-A55A-4477-B201-1EE2C8A1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10 / 22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BA903B-E339-4BEF-9CB2-83371157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76500"/>
            <a:ext cx="2286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Tool 调用</a:t>
            </a:r>
          </a:p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结构化返回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FBAF78-0D74-496B-AEA7-16CE255E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476500"/>
            <a:ext cx="27146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0"/>
          </a:solidFill>
          <a:ln xmlns:a="http://schemas.openxmlformats.org/drawingml/2006/main" w="14288">
            <a:solidFill>
              <a:srgbClr val="167D70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67D70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67D70"/>
                </a:solidFill>
              </a:defRPr>
            </a:pPr>
            <a:r>
              <a:rPr sz="1725" b="1">
                <a:solidFill>
                  <a:srgbClr val="167D70"/>
                </a:solidFill>
              </a:rPr>
              <a:t>EvidenceCollector</a:t>
            </a:r>
          </a:p>
          <a:p xmlns:a="http://schemas.openxmlformats.org/drawingml/2006/main">
            <a:pPr algn="ctr">
              <a:defRPr sz="1725" b="1">
                <a:solidFill>
                  <a:srgbClr val="167D70"/>
                </a:solidFill>
              </a:defRPr>
            </a:pPr>
            <a:r>
              <a:rPr sz="1725" b="1">
                <a:solidFill>
                  <a:srgbClr val="167D70"/>
                </a:solidFill>
              </a:rPr>
              <a:t>查询 / 数据 / 来源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93CF1E-FC87-4834-98AF-FC6658E6A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76500"/>
            <a:ext cx="2286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Python 事实说明</a:t>
            </a:r>
          </a:p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formatter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48B0F6-D23A-47AD-8B52-BD6A8E76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76500"/>
            <a:ext cx="223837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0"/>
          </a:solidFill>
          <a:ln xmlns:a="http://schemas.openxmlformats.org/drawingml/2006/main" w="14288">
            <a:solidFill>
              <a:srgbClr val="167D70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67D70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67D70"/>
                </a:solidFill>
              </a:defRPr>
            </a:pPr>
            <a:r>
              <a:rPr sz="1725" b="1">
                <a:solidFill>
                  <a:srgbClr val="167D70"/>
                </a:solidFill>
              </a:rPr>
              <a:t>规则输出</a:t>
            </a:r>
          </a:p>
          <a:p xmlns:a="http://schemas.openxmlformats.org/drawingml/2006/main">
            <a:pPr algn="ctr">
              <a:defRPr sz="1725" b="1">
                <a:solidFill>
                  <a:srgbClr val="167D70"/>
                </a:solidFill>
              </a:defRPr>
            </a:pPr>
            <a:r>
              <a:rPr sz="1725" b="1">
                <a:solidFill>
                  <a:srgbClr val="167D70"/>
                </a:solidFill>
              </a:rPr>
              <a:t>本次 Trial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3D5FC6-2BA9-47B7-A9F4-AD3E251F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86250"/>
            <a:ext cx="27146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可选 LLM</a:t>
            </a:r>
          </a:p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仅选择 statement_ids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33220E-4AA6-449F-9389-0912D0E4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286250"/>
            <a:ext cx="2095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F"/>
          </a:solidFill>
          <a:ln xmlns:a="http://schemas.openxmlformats.org/drawingml/2006/main" w="14288">
            <a:solidFill>
              <a:srgbClr val="B44635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B44635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B44635"/>
                </a:solidFill>
              </a:defRPr>
            </a:pPr>
            <a:r>
              <a:rPr sz="1725" b="1">
                <a:solidFill>
                  <a:srgbClr val="B44635"/>
                </a:solidFill>
              </a:rPr>
              <a:t>Schema / 引用集</a:t>
            </a:r>
          </a:p>
          <a:p xmlns:a="http://schemas.openxmlformats.org/drawingml/2006/main">
            <a:pPr algn="ctr">
              <a:defRPr sz="1725" b="1">
                <a:solidFill>
                  <a:srgbClr val="B44635"/>
                </a:solidFill>
              </a:defRPr>
            </a:pPr>
            <a:r>
              <a:rPr sz="1725" b="1">
                <a:solidFill>
                  <a:srgbClr val="B44635"/>
                </a:solidFill>
              </a:rPr>
              <a:t>校验不通过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549F0A-D506-468C-A5C5-673EB47C7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334000"/>
            <a:ext cx="33813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0"/>
          </a:solidFill>
          <a:ln xmlns:a="http://schemas.openxmlformats.org/drawingml/2006/main" w="14288">
            <a:solidFill>
              <a:srgbClr val="167D70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67D70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67D70"/>
                </a:solidFill>
              </a:defRPr>
            </a:pPr>
            <a:r>
              <a:rPr sz="1725" b="1">
                <a:solidFill>
                  <a:srgbClr val="167D70"/>
                </a:solidFill>
              </a:rPr>
              <a:t>展示投影与持久会话</a:t>
            </a:r>
          </a:p>
          <a:p xmlns:a="http://schemas.openxmlformats.org/drawingml/2006/main">
            <a:pPr algn="ctr">
              <a:defRPr sz="1725" b="1">
                <a:solidFill>
                  <a:srgbClr val="167D70"/>
                </a:solidFill>
              </a:defRPr>
            </a:pPr>
            <a:r>
              <a:rPr sz="1725" b="1">
                <a:solidFill>
                  <a:srgbClr val="167D70"/>
                </a:solidFill>
              </a:rPr>
              <a:t>来源可查、完整性不变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608A11-ACCC-4773-A65F-EB90A6D2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91000"/>
            <a:ext cx="5048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D40"/>
                </a:solidFill>
              </a:defRPr>
            </a:pPr>
            <a:r>
              <a:rPr sz="1875" b="0">
                <a:solidFill>
                  <a:srgbClr val="172D40"/>
                </a:solidFill>
              </a:rPr>
              <a:t>工具异常也收集失败证据</a:t>
            </a:r>
          </a:p>
          <a:p xmlns:a="http://schemas.openxmlformats.org/drawingml/2006/main">
            <a:pPr>
              <a:defRPr sz="1875" b="0">
                <a:solidFill>
                  <a:srgbClr val="172D40"/>
                </a:solidFill>
              </a:defRPr>
            </a:pPr>
            <a:r>
              <a:rPr sz="1875" b="0">
                <a:solidFill>
                  <a:srgbClr val="172D40"/>
                </a:solidFill>
              </a:rPr>
              <a:t>不补写库存或成功结果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3D4ABA-02AF-42E0-AB00-FFCC3320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531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7487"/>
                </a:solidFill>
              </a:defRPr>
            </a:pPr>
            <a:r>
              <a:rPr sz="1350" b="0">
                <a:solidFill>
                  <a:srgbClr val="627487"/>
                </a:solidFill>
              </a:rPr>
              <a:t>蓝实线为主路径，灰虚线为开发可选模式，红线表示失败或回退。</a:t>
            </a:r>
          </a:p>
        </p:txBody>
      </p:sp>
    </p:spTree>
    <p:extLst>
      <p:ext uri="{BB962C8B-B14F-4D97-AF65-F5344CB8AC3E}">
        <p14:creationId xmlns:p14="http://schemas.microsoft.com/office/powerpoint/2010/main" val="6869662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11E9EB-D209-4428-905A-ADDD06DCE25B}"/>
              </a:ext>
            </a:extLst>
          </p:cNvPr>
          <p:cNvCxnSpPr>
            <a:stCxn xmlns:a="http://schemas.openxmlformats.org/drawingml/2006/main" id="18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8239125" y="5048250"/>
            <a:ext cx="333375" cy="333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B8D03D-C294-465E-9F0D-16CD2C04E18E}"/>
              </a:ext>
            </a:extLst>
          </p:cNvPr>
          <p:cNvCxnSpPr>
            <a:stCxn xmlns:a="http://schemas.openxmlformats.org/drawingml/2006/main" id="19" idx="0"/>
            <a:endCxn xmlns:a="http://schemas.openxmlformats.org/drawingml/2006/main" id="15" idx="2"/>
          </p:cNvCxnSpPr>
          <p:nvPr/>
        </p:nvCxnSpPr>
        <p:spPr>
          <a:xfrm xmlns:a="http://schemas.openxmlformats.org/drawingml/2006/main" flipH="1" flipV="1">
            <a:off x="1738313" y="3190875"/>
            <a:ext cx="1095375" cy="1047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71B692-233F-40E3-B00F-D8E4AE6FD9B6}"/>
              </a:ext>
            </a:extLst>
          </p:cNvPr>
          <p:cNvCxnSpPr>
            <a:stCxn xmlns:a="http://schemas.openxmlformats.org/drawingml/2006/main" id="17" idx="1"/>
            <a:endCxn xmlns:a="http://schemas.openxmlformats.org/drawingml/2006/main" id="19" idx="0"/>
          </p:cNvCxnSpPr>
          <p:nvPr/>
        </p:nvCxnSpPr>
        <p:spPr>
          <a:xfrm xmlns:a="http://schemas.openxmlformats.org/drawingml/2006/main" flipH="1">
            <a:off x="2833688" y="2809875"/>
            <a:ext cx="3738563" cy="1428750"/>
          </a:xfrm>
          <a:prstGeom xmlns:a="http://schemas.openxmlformats.org/drawingml/2006/main" prst="bentConnector4">
            <a:avLst>
              <a:gd name="adj1" fmla="val 6115"/>
              <a:gd name="adj2" fmla="val 84000"/>
            </a:avLst>
          </a:prstGeom>
          <a:ln xmlns:a="http://schemas.openxmlformats.org/drawingml/2006/main" w="19050">
            <a:solidFill>
              <a:srgbClr val="B44635"/>
            </a:solidFill>
            <a:prstDash val="solid"/>
            <a:tailEnd type="triangle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59ABB9-87B0-487C-B35C-01329F83F22E}"/>
              </a:ext>
            </a:extLst>
          </p:cNvPr>
          <p:cNvCxnSpPr>
            <a:stCxn xmlns:a="http://schemas.openxmlformats.org/drawingml/2006/main" id="17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8191500" y="3333750"/>
            <a:ext cx="47625" cy="9048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67D70"/>
            </a:solidFill>
            <a:prstDash val="solid"/>
            <a:tailEnd type="triangle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52B985-3D3D-446C-805D-9FF64E903704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5667375" y="2786063"/>
            <a:ext cx="904875" cy="23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F57CC6-4C74-4140-9EF6-810B51ECFCAC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2952750" y="2786063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003B33-9B27-4D1E-B7BB-FE474A3C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C9C372-EA54-43CE-BECE-DC4BAD49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研究背景及动机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D33CE5-7822-4828-8732-4B3D1725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63B19E-1E2C-4E6D-AD08-CCC34511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模型方法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07F759-62D5-4C1D-9AE4-B41767CA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实验结果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DB7635-AA78-44D2-9639-EA90BBEC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EE61E6-346F-4E1E-BF69-8A2D8142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E0A720-ABD4-4C80-BFBD-D0BAA9FC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E75D95-93B8-4D88-B05F-B97749B0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0FB098-3EED-4F4D-8A6D-C22C756A8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图9  连续追问及证据复用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8878B4-5795-447F-B5E0-FA86CCC3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2C59D2-398F-47C0-B10F-87A9640E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“为什么不能生产”是否需要再次计算库存？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99E038-D402-4AAE-90FD-8D7A8C53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931C91-7B52-4818-BEEF-579DF26D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11 / 22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B50B54-F5E1-4B0E-B4D3-DF8BFBD1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81250"/>
            <a:ext cx="242887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0"/>
          </a:solidFill>
          <a:ln xmlns:a="http://schemas.openxmlformats.org/drawingml/2006/main" w="14288">
            <a:solidFill>
              <a:srgbClr val="167D70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67D70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67D70"/>
                </a:solidFill>
              </a:defRPr>
            </a:pPr>
            <a:r>
              <a:rPr sz="1725" b="1">
                <a:solidFill>
                  <a:srgbClr val="167D70"/>
                </a:solidFill>
              </a:rPr>
              <a:t>上一轮</a:t>
            </a:r>
          </a:p>
          <a:p xmlns:a="http://schemas.openxmlformats.org/drawingml/2006/main">
            <a:pPr algn="ctr">
              <a:defRPr sz="1725" b="1">
                <a:solidFill>
                  <a:srgbClr val="167D70"/>
                </a:solidFill>
              </a:defRPr>
            </a:pPr>
            <a:r>
              <a:rPr sz="1725" b="1">
                <a:solidFill>
                  <a:srgbClr val="167D70"/>
                </a:solidFill>
              </a:rPr>
              <a:t>持久化结果与引用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F4F25F-CF39-4A7B-93C3-D5B0591D4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81250"/>
            <a:ext cx="2000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追问识别</a:t>
            </a:r>
          </a:p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explain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3BD56E-A021-4F1B-B7ED-4BED286F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86000"/>
            <a:ext cx="3238500" cy="10477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匹配任务？</a:t>
            </a:r>
          </a:p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对象 / 版本 / 数量 / 时点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319BBE-0689-4C73-B8EA-7C0C83FB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238625"/>
            <a:ext cx="3048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0"/>
          </a:solidFill>
          <a:ln xmlns:a="http://schemas.openxmlformats.org/drawingml/2006/main" w="14288">
            <a:solidFill>
              <a:srgbClr val="167D70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67D70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67D70"/>
                </a:solidFill>
              </a:defRPr>
            </a:pPr>
            <a:r>
              <a:rPr sz="1725" b="1">
                <a:solidFill>
                  <a:srgbClr val="167D70"/>
                </a:solidFill>
              </a:rPr>
              <a:t>复用历史 Evidence</a:t>
            </a:r>
          </a:p>
          <a:p xmlns:a="http://schemas.openxmlformats.org/drawingml/2006/main">
            <a:pPr algn="ctr">
              <a:defRPr sz="1725" b="1">
                <a:solidFill>
                  <a:srgbClr val="167D70"/>
                </a:solidFill>
              </a:defRPr>
            </a:pPr>
            <a:r>
              <a:rPr sz="1725" b="1">
                <a:solidFill>
                  <a:srgbClr val="167D70"/>
                </a:solidFill>
              </a:rPr>
              <a:t>标明非最新重查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6C5E8C-F094-4239-876F-F82B9D48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38625"/>
            <a:ext cx="452437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未匹配 / 明确刷新</a:t>
            </a:r>
          </a:p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进入正常规划与校验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B0C277-146A-4B01-806A-D74F05DA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81625"/>
            <a:ext cx="4191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0"/>
          </a:solidFill>
          <a:ln xmlns:a="http://schemas.openxmlformats.org/drawingml/2006/main" w="14288">
            <a:solidFill>
              <a:srgbClr val="167D70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67D70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67D70"/>
                </a:solidFill>
              </a:defRPr>
            </a:pPr>
            <a:r>
              <a:rPr sz="1725" b="1">
                <a:solidFill>
                  <a:srgbClr val="167D70"/>
                </a:solidFill>
              </a:rPr>
              <a:t>保存本轮回答</a:t>
            </a:r>
          </a:p>
          <a:p xmlns:a="http://schemas.openxmlformats.org/drawingml/2006/main">
            <a:pPr algn="ctr">
              <a:defRPr sz="1725" b="1">
                <a:solidFill>
                  <a:srgbClr val="167D70"/>
                </a:solidFill>
              </a:defRPr>
            </a:pPr>
            <a:r>
              <a:rPr sz="1725" b="1">
                <a:solidFill>
                  <a:srgbClr val="167D70"/>
                </a:solidFill>
              </a:rPr>
              <a:t>保留 reused_from_turn_id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909EF1-3528-42EC-BCE2-66BAEF73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7909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67D70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67D70"/>
                </a:solidFill>
              </a:defRPr>
            </a:pPr>
            <a:r>
              <a:rPr sz="1650" b="0">
                <a:solidFill>
                  <a:srgbClr val="167D70"/>
                </a:solidFill>
              </a:rPr>
              <a:t>是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E62225-5061-46BA-B9FA-72EDE5C0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766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B44635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44635"/>
                </a:solidFill>
              </a:defRPr>
            </a:pPr>
            <a:r>
              <a:rPr sz="1650" b="0">
                <a:solidFill>
                  <a:srgbClr val="B44635"/>
                </a:solidFill>
              </a:rPr>
              <a:t>否 / 刷新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6E8CF3-5A52-406A-8599-2F1083A2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531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7487"/>
                </a:solidFill>
              </a:defRPr>
            </a:pPr>
            <a:r>
              <a:rPr sz="1350" b="0">
                <a:solidFill>
                  <a:srgbClr val="627487"/>
                </a:solidFill>
              </a:rPr>
              <a:t>原因追问实测不重复执行工具；改变数量后按新任务重新计算。</a:t>
            </a:r>
          </a:p>
        </p:txBody>
      </p:sp>
    </p:spTree>
    <p:extLst>
      <p:ext uri="{BB962C8B-B14F-4D97-AF65-F5344CB8AC3E}">
        <p14:creationId xmlns:p14="http://schemas.microsoft.com/office/powerpoint/2010/main" val="9448095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A32262-D32B-4A9C-BAFE-7AA5FECE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8B0AB9-A938-4749-A9C8-CB924AE0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研究背景及动机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E8BB7F-CF6C-4A56-8138-F57ECEA6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模型方法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30E734-C721-40C9-BE89-5B79FA14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BE581F-5E21-4EBC-A0C8-D6EE3D6E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实验结果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7A56AD-47C9-4519-A4BB-383CCE10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C1D84D-600A-4308-9D58-2C54A0D99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261C37-7470-4F52-87B8-659A62AD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FD73DD-78EF-4697-9944-B678BBE5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F73163-9FA5-418F-9424-96F236FA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完整案例：100台不足，50台齐套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C1FC86-39C1-4B97-A75E-8D7E0C2C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FD46AF-4739-4ADA-9311-E76897AED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同一数据版本下，任务修改与原因追问得到什么结果？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BBA3C0-96B6-4B3D-9BC5-D8311E6C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CEC3CB-A881-4746-8D70-DF4FDFBA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12 / 22</a:t>
            </a:r>
          </a:p>
        </p:txBody>
      </p:sp>
      <p:graphicFrame>
        <p:nvGraphicFrame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9FCAFE-602C-4659-9423-0144218E2ABA}"/>
              </a:ext>
            </a:extLst>
          </p:cNvPr>
          <p:cNvGraphicFramePr/>
          <p:nvPr/>
        </p:nvGraphicFramePr>
        <p:xfrm>
          <a:off xmlns:a="http://schemas.openxmlformats.org/drawingml/2006/main" x="523875" y="2238375"/>
          <a:ext xmlns:a="http://schemas.openxmlformats.org/drawingml/2006/main" cx="1114425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3714750"/>
                <a:gridCol w="3714750"/>
              </a:tblGrid>
              <a:tr h="5397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轮次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问题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实际响应与业务含义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生产100台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4项叶子物料不足，保留缺口与来源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为什么不能生产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复用第1轮证据，不重新查询库存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生产50台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4项物料均齐套，结果与新数量绑定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展开来源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查看 BOM / 库存来源及快照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后续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100台采购建议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4项采购建议，合成成本1560.00 CNY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</a:tbl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3002DD-5A04-4096-A868-A5F169E8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531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7487"/>
                </a:solidFill>
              </a:defRPr>
            </a:pPr>
            <a:r>
              <a:rPr sz="1350" b="0">
                <a:solidFill>
                  <a:srgbClr val="627487"/>
                </a:solidFill>
              </a:rPr>
              <a:t>齐套口径不考虑设备、工时与工单审批；采购建议不等于实际下单。</a:t>
            </a:r>
          </a:p>
        </p:txBody>
      </p:sp>
    </p:spTree>
    <p:extLst>
      <p:ext uri="{BB962C8B-B14F-4D97-AF65-F5344CB8AC3E}">
        <p14:creationId xmlns:p14="http://schemas.microsoft.com/office/powerpoint/2010/main" val="137759142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BC54F8-C7B2-4529-800B-F45BDA9D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7A8E7E-56A7-4C77-83BD-C87272A3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研究背景及动机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4FCB71-0B46-496D-BA47-2FEFB0AE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模型方法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3602FA-D527-4A24-A001-491665B4A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2F0A0B-CFE4-421B-B94A-C98211E1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实验结果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A0811A-80CB-4F76-88AE-5E262392E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5A31F9-4363-454A-B741-1D6608D0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EDB1AC-990A-46B4-9CE4-0265AAF3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7DF6F9-866A-4B0D-BAFA-4A7015B0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4AC4EB-BCE5-4EF8-9775-AE4E06A1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实验设置与版本绑定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E81CB4-7CD3-4B4C-B638-5FE78509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1A57F0-564B-43F1-BAC6-EFB6D8182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这些结果在哪个环境、模式和数据时点下产生？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39E8E9-C5F6-46E9-AED6-91C47873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474142-10FA-43F0-AEC9-1385A9E1A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13 / 22</a:t>
            </a:r>
          </a:p>
        </p:txBody>
      </p:sp>
      <p:graphicFrame>
        <p:nvGraphicFrame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5AAA2F-521A-4764-B7C3-2377ACA0F65B}"/>
              </a:ext>
            </a:extLst>
          </p:cNvPr>
          <p:cNvGraphicFramePr/>
          <p:nvPr/>
        </p:nvGraphicFramePr>
        <p:xfrm>
          <a:off xmlns:a="http://schemas.openxmlformats.org/drawingml/2006/main" x="523875" y="2143125"/>
          <a:ext xmlns:a="http://schemas.openxmlformats.org/drawingml/2006/main" cx="1114425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72125"/>
                <a:gridCol w="5572125"/>
              </a:tblGrid>
              <a:tr h="5102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设置项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本次取值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</a:tr>
              <a:tr h="51026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代码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HEAD 95a526b + 当前未提交修改，关键源码 SHA 归档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51026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模式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当前 Vue 独立编译 + Trial FastAPI，规则理解，rule_fallback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26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产品与BOM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DEMO-PMC-01 / V01，全部为合成数据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51026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业务时点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生效日2026-10-02，库存2026-10-02 00:00 UTC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26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采购计划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开工日2026-10-20，合成价格为 CNY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51026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复测日期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2026-10-12，本机 Edge，独立 SQLite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B25AA7-19AC-4338-A6C4-D5E4D208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531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7487"/>
                </a:solidFill>
              </a:defRPr>
            </a:pPr>
            <a:r>
              <a:rPr sz="1350" b="0">
                <a:solidFill>
                  <a:srgbClr val="627487"/>
                </a:solidFill>
              </a:rPr>
              <a:t>完整前端构建仍被测试 TypeScript 错误阻断；本次单独 Vite 编译成功。</a:t>
            </a:r>
          </a:p>
        </p:txBody>
      </p:sp>
    </p:spTree>
    <p:extLst>
      <p:ext uri="{BB962C8B-B14F-4D97-AF65-F5344CB8AC3E}">
        <p14:creationId xmlns:p14="http://schemas.microsoft.com/office/powerpoint/2010/main" val="10741013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D7DED7-00D7-4027-AB64-894CF8EF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F642B8-2034-4611-B5BE-A435CED4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研究背景及动机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0380D5-D732-4962-A386-0F2150E5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模型方法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735991-DFD0-421E-840C-B19D1DC4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B85922-6380-48E8-9BCA-FDCDAE6A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实验结果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DB3E0B-ED23-4864-9FAB-E1C609F9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9EF574-493E-4E00-A7FA-0B28EB92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928CE5-9873-4B62-B002-2F7E8209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D2C519-A62C-4713-BCB3-F7A80C6F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AFD7EA-C889-49BF-B3E0-E854EC3C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数量边界：四种物料同时限制75台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ECA7B4-E62A-4504-9596-878E1853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7B6788-2CDC-4395-B050-246958D9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75台与76台的分界能否由原始用量和库存复算？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A489B7-7190-47D9-9BB0-A2F771A8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2AEA11-E594-4829-B3E6-780C4EC8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14 / 22</a:t>
            </a:r>
          </a:p>
        </p:txBody>
      </p:sp>
      <p:graphicFrame>
        <p:nvGraphicFrame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5767B3-209D-4C0A-BC65-803FEC625702}"/>
              </a:ext>
            </a:extLst>
          </p:cNvPr>
          <p:cNvGraphicFramePr/>
          <p:nvPr/>
        </p:nvGraphicFramePr>
        <p:xfrm>
          <a:off xmlns:a="http://schemas.openxmlformats.org/drawingml/2006/main" x="523875" y="2333625"/>
          <a:ext xmlns:a="http://schemas.openxmlformats.org/drawingml/2006/main" cx="8239125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47825"/>
                <a:gridCol w="1647825"/>
                <a:gridCol w="1647825"/>
                <a:gridCol w="1647825"/>
                <a:gridCol w="1647825"/>
              </a:tblGrid>
              <a:tr h="5524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叶子物料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用量 件/台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可用库存 件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100台缺口 件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上限 台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演示主板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75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25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75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演示芯片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300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100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75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演示电机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150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75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演示紧固件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600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200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75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F5792C-805E-40F8-9025-EBF6AB2D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812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3F73"/>
                </a:solidFill>
              </a:defRPr>
            </a:pPr>
            <a:r>
              <a:rPr sz="2250" b="1">
                <a:solidFill>
                  <a:srgbClr val="153F73"/>
                </a:solidFill>
              </a:rPr>
              <a:t>实跑边界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452EF5-8E79-4AF2-9018-901EE003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95625"/>
            <a:ext cx="2381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D40"/>
                </a:solidFill>
              </a:defRPr>
            </a:pPr>
            <a:r>
              <a:rPr sz="2175" b="0">
                <a:solidFill>
                  <a:srgbClr val="172D40"/>
                </a:solidFill>
              </a:rPr>
              <a:t>50台：齐套</a:t>
            </a:r>
          </a:p>
          <a:p xmlns:a="http://schemas.openxmlformats.org/drawingml/2006/main">
            <a:pPr>
              <a:defRPr sz="2175" b="0">
                <a:solidFill>
                  <a:srgbClr val="172D40"/>
                </a:solidFill>
              </a:defRPr>
            </a:pPr>
            <a:r>
              <a:rPr sz="2175" b="0">
                <a:solidFill>
                  <a:srgbClr val="172D40"/>
                </a:solidFill>
              </a:rPr>
              <a:t>75台：齐套</a:t>
            </a:r>
          </a:p>
          <a:p xmlns:a="http://schemas.openxmlformats.org/drawingml/2006/main">
            <a:pPr>
              <a:defRPr sz="2175" b="0">
                <a:solidFill>
                  <a:srgbClr val="172D40"/>
                </a:solidFill>
              </a:defRPr>
            </a:pPr>
            <a:r>
              <a:rPr sz="2175" b="0">
                <a:solidFill>
                  <a:srgbClr val="172D40"/>
                </a:solidFill>
              </a:rPr>
              <a:t>76台：不足</a:t>
            </a:r>
          </a:p>
          <a:p xmlns:a="http://schemas.openxmlformats.org/drawingml/2006/main">
            <a:pPr>
              <a:defRPr sz="2175" b="0">
                <a:solidFill>
                  <a:srgbClr val="172D40"/>
                </a:solidFill>
              </a:defRPr>
            </a:pPr>
            <a:r>
              <a:rPr sz="2175" b="0">
                <a:solidFill>
                  <a:srgbClr val="172D40"/>
                </a:solidFill>
              </a:rPr>
              <a:t>100台：不足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E8245C-C156-4174-B142-3F93CB53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97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D40"/>
                </a:solidFill>
              </a:defRPr>
            </a:pPr>
            <a:r>
              <a:rPr sz="1650" b="0">
                <a:solidFill>
                  <a:srgbClr val="172D40"/>
                </a:solidFill>
              </a:rPr>
              <a:t>需求 = 单台用量 × 目标数量</a:t>
            </a:r>
          </a:p>
          <a:p xmlns:a="http://schemas.openxmlformats.org/drawingml/2006/main">
            <a:pPr>
              <a:defRPr sz="1650" b="0">
                <a:solidFill>
                  <a:srgbClr val="172D40"/>
                </a:solidFill>
              </a:defRPr>
            </a:pPr>
            <a:r>
              <a:rPr sz="1650" b="0">
                <a:solidFill>
                  <a:srgbClr val="172D40"/>
                </a:solidFill>
              </a:rPr>
              <a:t>缺口 = max(需求 − 可用库存, 0)</a:t>
            </a:r>
          </a:p>
          <a:p xmlns:a="http://schemas.openxmlformats.org/drawingml/2006/main">
            <a:pPr>
              <a:defRPr sz="1650" b="0">
                <a:solidFill>
                  <a:srgbClr val="172D40"/>
                </a:solidFill>
              </a:defRPr>
            </a:pPr>
            <a:r>
              <a:rPr sz="1650" b="0">
                <a:solidFill>
                  <a:srgbClr val="172D40"/>
                </a:solidFill>
              </a:rPr>
              <a:t>理论上限 = min floor(各物料库存 ÷ 单台用量)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62478F-17F6-49A3-A0D2-E486C3AC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531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7487"/>
                </a:solidFill>
              </a:defRPr>
            </a:pPr>
            <a:r>
              <a:rPr sz="1350" b="0">
                <a:solidFill>
                  <a:srgbClr val="627487"/>
                </a:solidFill>
              </a:rPr>
              <a:t>只有数据完整、单位可比且快照一致时，系统才给出理论上限。</a:t>
            </a:r>
          </a:p>
        </p:txBody>
      </p:sp>
    </p:spTree>
    <p:extLst>
      <p:ext uri="{BB962C8B-B14F-4D97-AF65-F5344CB8AC3E}">
        <p14:creationId xmlns:p14="http://schemas.microsoft.com/office/powerpoint/2010/main" val="61051491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5E6F3F-0284-4422-86C7-8E450D4E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3F0002-25D6-488A-8844-D16F5E1F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研究背景及动机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E6CE76-E9A5-4CC2-91D8-479E56EB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模型方法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1C5BFB-4F5C-4B35-AA80-2131474B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4AA73B-3DB2-4AA2-B53A-9EB0645E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实验结果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95EB93-F2E2-41DB-9300-85A53C19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CA6319-FBF2-43CC-B8C0-3A731BAB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B6D6E0-0B13-4C19-B40E-AB1A029F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6E7BED-1943-4A9F-B00D-7A0090B7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97C5A6-F75A-4A37-B6B5-FF4A1B01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异常与交互：失败不产生替代数字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4929E0-6373-47E6-B437-E9E66E4C2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2E6F16-9DD4-47EA-9539-4D77F380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非法数量和证据追问如何影响工具调用？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853383-DE42-4040-906D-864B4F780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F2522C-F157-46E0-B527-FC32B76B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15 / 22</a:t>
            </a:r>
          </a:p>
        </p:txBody>
      </p:sp>
      <p:graphicFrame>
        <p:nvGraphicFrame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E92173-EBDD-47D2-8CAA-F04139E62247}"/>
              </a:ext>
            </a:extLst>
          </p:cNvPr>
          <p:cNvGraphicFramePr/>
          <p:nvPr/>
        </p:nvGraphicFramePr>
        <p:xfrm>
          <a:off xmlns:a="http://schemas.openxmlformats.org/drawingml/2006/main" x="523875" y="2286000"/>
          <a:ext xmlns:a="http://schemas.openxmlformats.org/drawingml/2006/main" cx="1114425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3714750"/>
                <a:gridCol w="3714750"/>
              </a:tblGrid>
              <a:tr h="5238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情形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核验方式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可支持结论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生产0台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真实HTTP响应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needs_input，不执行事实计算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原因追问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真实HTTP + reused_from_turn_id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复用100台证据，completed_steps为空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75 / 76 边界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真实HTTP +专项测试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切换数量触发新计算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会话所有权拒绝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本次 test_remote_trial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跨账号读取受阻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网络错误 / UI恢复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历史验收文档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本次未专项复测，需另验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</a:tbl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4B0C3D-5B18-4792-9AF7-9EAE10F9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531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7487"/>
                </a:solidFill>
              </a:defRPr>
            </a:pPr>
            <a:r>
              <a:rPr sz="1350" b="0">
                <a:solidFill>
                  <a:srgbClr val="627487"/>
                </a:solidFill>
              </a:rPr>
              <a:t>本次专项：37 passed。软件测试计数不代表业务准确率。</a:t>
            </a:r>
          </a:p>
        </p:txBody>
      </p:sp>
    </p:spTree>
    <p:extLst>
      <p:ext uri="{BB962C8B-B14F-4D97-AF65-F5344CB8AC3E}">
        <p14:creationId xmlns:p14="http://schemas.microsoft.com/office/powerpoint/2010/main" val="206793950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B81A67-3A69-4148-8E6F-C8D32825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0A7931-BC18-4025-8C42-D19E5BE4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研究背景及动机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F14C89-35A6-4F14-AF48-6988A7F5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模型方法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509583-B1C5-451D-B9DF-1317CEB6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CC2A41-B9EA-4BCF-820C-4699ABCD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实验结果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793B0C-D79D-4067-A224-4CF57DB4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23928D-7292-4514-BA92-F2719066D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F5FC06-8C4A-49F0-BCD4-8C41D4C0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51FDFA-A313-4FCB-960E-48EA64BF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547448-9ED8-49E2-8415-A69CC60B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验收覆盖与尚缺的效果比较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EE441B-4100-4B2D-B54A-EDFED7F23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929FB4-F325-48DE-92B1-CE36164C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当前证据足以支持哪些结论，哪些比较仍无法开展？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AF0F72-7D13-45E5-8B9D-53E46FE7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6A86F-83BD-4F3E-A6EA-86CF17174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16 / 22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1109E8-1030-40B4-AE23-655B2727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3F73"/>
                </a:solidFill>
              </a:defRPr>
            </a:pPr>
            <a:r>
              <a:rPr sz="2250" b="1">
                <a:solidFill>
                  <a:srgbClr val="153F73"/>
                </a:solidFill>
              </a:rPr>
              <a:t>本次已核验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381BC0-CB7D-4244-B77A-31186702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49530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同版本连续问答和来源展开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50 / 75 / 76 / 100 数量边界</a:t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0数量拒绝与证据复用</a:t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采购规则、价格与总成本</a:t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三个专项测试文件：37项通过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E9403A-E0C5-43DA-9174-904209A8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33625"/>
            <a:ext cx="19050" cy="309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4E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DA07E2-D3D0-414C-9E59-DC58BFC0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33625"/>
            <a:ext cx="5095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3F73"/>
                </a:solidFill>
              </a:defRPr>
            </a:pPr>
            <a:r>
              <a:rPr sz="2250" b="1">
                <a:solidFill>
                  <a:srgbClr val="153F73"/>
                </a:solidFill>
              </a:rPr>
              <a:t>仍缺对比证据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B36862-1A0C-4DEC-8489-4E48604A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952750"/>
            <a:ext cx="509587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没有人工或普通问答基线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未测真实业务决策准确率</a:t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未测现场节省时间</a:t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未测大样本延迟与并发</a:t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未重新跑当前完整软件测试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8CC53A-54AE-416B-966C-D0D5031BD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531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7487"/>
                </a:solidFill>
              </a:defRPr>
            </a:pPr>
            <a:r>
              <a:rPr sz="1350" b="0">
                <a:solidFill>
                  <a:srgbClr val="627487"/>
                </a:solidFill>
              </a:rPr>
              <a:t>因此本页使用验收覆盖，不画无基线的提升率或对比柱状图。</a:t>
            </a:r>
          </a:p>
        </p:txBody>
      </p:sp>
    </p:spTree>
    <p:extLst>
      <p:ext uri="{BB962C8B-B14F-4D97-AF65-F5344CB8AC3E}">
        <p14:creationId xmlns:p14="http://schemas.microsoft.com/office/powerpoint/2010/main" val="25898374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BF8F1C-3458-4D22-ADF1-99AE0A211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ED66BD-591C-4F50-8249-FE202FCDA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研究背景及动机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296AD0-E2A1-41E8-8FEC-6FCD4991C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模型方法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128388-2465-4CCE-AFA1-3D6076DF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5323B2-A453-407F-92BF-0B568472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实验结果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A730DA-9E23-43A8-9E54-77F0642C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04C346-6BFC-4D17-ABA0-DF545E1B7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2ACB64-3C87-403E-948A-08C5C15C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3A7BAB-7E31-4BB8-AC0F-786B698A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2347BB-53F7-41F5-84E5-693BE115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当前系统截图：100台缺料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5E6952-6DF2-4C70-BAA6-39181340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DCB7DD-13EC-4F46-9B50-B8610D3AB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页面是否展示与真实响应一致的缺口？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0FEEFC-0830-4CCE-8D9A-157BD480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6B2573-3AB3-4E22-9304-9F54D09E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17 / 22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81C15A-27DE-4C5C-B817-D2C3D6BC5B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7eb0619bfb43f1"/>
          <a:stretch xmlns:a="http://schemas.openxmlformats.org/drawingml/2006/main"/>
        </p:blipFill>
        <p:spPr>
          <a:xfrm xmlns:a="http://schemas.openxmlformats.org/drawingml/2006/main">
            <a:off x="1147505" y="2171700"/>
            <a:ext cx="4658240" cy="3667125"/>
          </a:xfrm>
          <a:prstGeom xmlns:a="http://schemas.openxmlformats.org/drawingml/2006/main" prst="rect">
            <a:avLst/>
          </a:prstGeom>
        </p:spPr>
      </p:pic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E3A7DF-62C5-408F-99FE-FA3FD57923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6491c2cba340b6"/>
          <a:stretch xmlns:a="http://schemas.openxmlformats.org/drawingml/2006/main"/>
        </p:blipFill>
        <p:spPr>
          <a:xfrm xmlns:a="http://schemas.openxmlformats.org/drawingml/2006/main">
            <a:off x="6572250" y="2343758"/>
            <a:ext cx="5095875" cy="3361109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A271A1-CEA8-44CC-838C-B0139986B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531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7487"/>
                </a:solidFill>
              </a:defRPr>
            </a:pPr>
            <a:r>
              <a:rPr sz="1350" b="0">
                <a:solidFill>
                  <a:srgbClr val="627487"/>
                </a:solidFill>
              </a:rPr>
              <a:t>2026-10-12，当前工作区，Trial规则模式，DEMO-PMC-01/V01合成数据。</a:t>
            </a:r>
          </a:p>
        </p:txBody>
      </p:sp>
    </p:spTree>
    <p:extLst>
      <p:ext uri="{BB962C8B-B14F-4D97-AF65-F5344CB8AC3E}">
        <p14:creationId xmlns:p14="http://schemas.microsoft.com/office/powerpoint/2010/main" val="186084079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655BB3-B8F3-4860-A165-88E0CE03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D410B5-A87B-4A54-B524-702C8BD2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研究背景及动机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64EA05-23E8-46CC-BCA3-E28AF298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模型方法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13ED6C-620D-40D5-ABF1-FF64A70C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C46791-48B0-47C5-A303-587F4AEB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实验结果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BE4B74-5663-4895-AE85-1EB900CD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9497B4-A78D-4546-825C-60757EB6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71475C-D53A-4836-AB91-7F3745D2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F0AA1F-D89A-4ADE-82C7-C97174DA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7E41F1-37E3-488B-8C1E-632C7DBA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当前系统截图：追问与50台齐套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3A8EB6-14E6-42D9-BFE1-D4ACBB64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84E215-D3A6-4600-868E-FA6756CD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从解释原因到修改数量，页面是否同步新任务？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9E1282-F889-4C41-887A-3C4D7FFB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8F37A3-D115-4800-B1D9-BE72E87E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18 / 22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922A4D-177C-48CF-93F8-AE99A80A63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dc50360bb7421b"/>
          <a:stretch xmlns:a="http://schemas.openxmlformats.org/drawingml/2006/main"/>
        </p:blipFill>
        <p:spPr>
          <a:xfrm xmlns:a="http://schemas.openxmlformats.org/drawingml/2006/main">
            <a:off x="476250" y="2556950"/>
            <a:ext cx="5619750" cy="2706126"/>
          </a:xfrm>
          <a:prstGeom xmlns:a="http://schemas.openxmlformats.org/drawingml/2006/main" prst="rect">
            <a:avLst/>
          </a:prstGeom>
        </p:spPr>
      </p:pic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3EBB70-120F-48B7-B701-476611BEA7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f39057378b4a02"/>
          <a:stretch xmlns:a="http://schemas.openxmlformats.org/drawingml/2006/main"/>
        </p:blipFill>
        <p:spPr>
          <a:xfrm xmlns:a="http://schemas.openxmlformats.org/drawingml/2006/main">
            <a:off x="6381750" y="2124915"/>
            <a:ext cx="5334000" cy="3608294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074A62-C29C-4445-998A-BFF503E59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38800"/>
            <a:ext cx="5572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53F73"/>
                </a:solidFill>
              </a:defRPr>
            </a:pPr>
            <a:r>
              <a:rPr sz="1575" b="1">
                <a:solidFill>
                  <a:srgbClr val="153F73"/>
                </a:solidFill>
              </a:rPr>
              <a:t>原因追问：说明“不是最新库存重查”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ADBC87-C4BB-4C31-8C57-1157BED3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638800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167D70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67D70"/>
                </a:solidFill>
              </a:defRPr>
            </a:pPr>
            <a:r>
              <a:rPr sz="1575" b="1">
                <a:solidFill>
                  <a:srgbClr val="167D70"/>
                </a:solidFill>
              </a:rPr>
              <a:t>50台：主板50/75，其余物料缺口均0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1C8BD7-EA11-4645-97E9-EEF2A49D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531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7487"/>
                </a:solidFill>
              </a:defRPr>
            </a:pPr>
            <a:r>
              <a:rPr sz="1350" b="0">
                <a:solidFill>
                  <a:srgbClr val="627487"/>
                </a:solidFill>
              </a:rPr>
              <a:t>同一会话、同一数据版本。两幅图仅裁剪原始截图，未改动业务结果。</a:t>
            </a:r>
          </a:p>
        </p:txBody>
      </p:sp>
    </p:spTree>
    <p:extLst>
      <p:ext uri="{BB962C8B-B14F-4D97-AF65-F5344CB8AC3E}">
        <p14:creationId xmlns:p14="http://schemas.microsoft.com/office/powerpoint/2010/main" val="101058604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298931-53FD-4471-B301-F1D44592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429887-FAC9-46A6-AD70-ADC64BE35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研究背景及动机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F28285-2A2D-4841-AC7D-E14B56CE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模型方法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51F7BD-5F0F-47A1-B83F-683B2023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C506EA-97DD-41B2-8703-17DCBBD8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实验结果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039D02-BBE3-4537-9A0B-8C125D63D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979A5F-C7F9-4DA7-9CE0-5A843602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A0F9FE-2E6D-4D9E-9AAC-D2FB4C9D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4EDC6B-8275-43F9-90F5-4829D24E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412CD9-4498-4875-97DF-F58D546F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当前系统截图：来源与适用条件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67E349-53D7-46A9-BAA6-EF9959E4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3C5771-1E1B-4DA7-8FB2-5F4EECF1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结论能否定位到具体事实文件、版本和库存时点？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E9F05B-7FB3-4657-9BAD-D569BEB7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722B24-23ED-4AD9-B3EE-ACD6AE98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19 / 22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D2B8AE-487E-4DDD-A1E6-76A25E399E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04d7616d5a47cf"/>
          <a:stretch xmlns:a="http://schemas.openxmlformats.org/drawingml/2006/main"/>
        </p:blipFill>
        <p:spPr>
          <a:xfrm xmlns:a="http://schemas.openxmlformats.org/drawingml/2006/main">
            <a:off x="523875" y="2312811"/>
            <a:ext cx="4953000" cy="3375378"/>
          </a:xfrm>
          <a:prstGeom xmlns:a="http://schemas.openxmlformats.org/drawingml/2006/main" prst="rect">
            <a:avLst/>
          </a:prstGeom>
        </p:spPr>
      </p:pic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71929F-C11D-48FE-866C-E839325F3E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e87938b6bc4a40"/>
          <a:stretch xmlns:a="http://schemas.openxmlformats.org/drawingml/2006/main"/>
        </p:blipFill>
        <p:spPr>
          <a:xfrm xmlns:a="http://schemas.openxmlformats.org/drawingml/2006/main">
            <a:off x="6000750" y="2323394"/>
            <a:ext cx="5524500" cy="2782711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9B52A8-6A98-4AC3-B6D1-3CB000BAF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57800"/>
            <a:ext cx="542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D40"/>
                </a:solidFill>
              </a:defRPr>
            </a:pPr>
            <a:r>
              <a:rPr sz="1650" b="0">
                <a:solidFill>
                  <a:srgbClr val="172D40"/>
                </a:solidFill>
              </a:rPr>
              <a:t>BOM版本 V01</a:t>
            </a:r>
          </a:p>
          <a:p xmlns:a="http://schemas.openxmlformats.org/drawingml/2006/main">
            <a:pPr>
              <a:defRPr sz="1650" b="0">
                <a:solidFill>
                  <a:srgbClr val="172D40"/>
                </a:solidFill>
              </a:defRPr>
            </a:pPr>
            <a:r>
              <a:rPr sz="1650" b="0">
                <a:solidFill>
                  <a:srgbClr val="172D40"/>
                </a:solidFill>
              </a:rPr>
              <a:t>库存快照 2026-10-02 00:00 UTC</a:t>
            </a:r>
          </a:p>
          <a:p xmlns:a="http://schemas.openxmlformats.org/drawingml/2006/main">
            <a:pPr>
              <a:defRPr sz="1650" b="0">
                <a:solidFill>
                  <a:srgbClr val="172D40"/>
                </a:solidFill>
              </a:defRPr>
            </a:pPr>
            <a:r>
              <a:rPr sz="1650" b="0">
                <a:solidFill>
                  <a:srgbClr val="172D40"/>
                </a:solidFill>
              </a:rPr>
              <a:t>来源保留批次和文件校验摘要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E1B16F-2B1A-4B0D-BE51-284E5C94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531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7487"/>
                </a:solidFill>
              </a:defRPr>
            </a:pPr>
            <a:r>
              <a:rPr sz="1350" b="0">
                <a:solidFill>
                  <a:srgbClr val="627487"/>
                </a:solidFill>
              </a:rPr>
              <a:t>Trial规则模式，合成事实。来源页字段“未提供”保持原样，未补写。</a:t>
            </a:r>
          </a:p>
        </p:txBody>
      </p:sp>
    </p:spTree>
    <p:extLst>
      <p:ext uri="{BB962C8B-B14F-4D97-AF65-F5344CB8AC3E}">
        <p14:creationId xmlns:p14="http://schemas.microsoft.com/office/powerpoint/2010/main" val="94154030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1CBFB5-C5B7-4595-A0AC-EC1321C2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25C221-5966-4C28-B757-02949ADA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研究背景及动机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B1ECF5-8F12-4D15-B09B-ADEF1B89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模型方法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A970A9-5809-4B66-8286-26F91A89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实验结果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58FCE3-C849-46D5-AB45-35E16660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FB42B9-20C5-465B-9468-94E7A0FA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D11AA1-C12E-4107-BB39-1EDA48E0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4EE76D-F46C-4484-9211-76A9D2F7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23E36A-B581-4828-A2DA-EB1E411F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9287D7-3BD6-4A44-A709-EE6C5FC6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能力边界：数量核对与业务放行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2D93F1-14C3-4831-8839-64C2FC7A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6D6152-C48E-48EE-8E33-CF494814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系统的计算结果能否直接用于排产、采购或交期承诺？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983A22-4185-42EA-BEF7-D50DCD2A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A0D9F1-2F01-487A-A0A6-006410A9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20 / 22</a:t>
            </a:r>
          </a:p>
        </p:txBody>
      </p:sp>
      <p:graphicFrame>
        <p:nvGraphicFrame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461235-5272-40FC-9F94-BDF93E30C031}"/>
              </a:ext>
            </a:extLst>
          </p:cNvPr>
          <p:cNvGraphicFramePr/>
          <p:nvPr/>
        </p:nvGraphicFramePr>
        <p:xfrm>
          <a:off xmlns:a="http://schemas.openxmlformats.org/drawingml/2006/main" x="523875" y="2381250"/>
          <a:ext xmlns:a="http://schemas.openxmlformats.org/drawingml/2006/main" cx="11144250" cy="2905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3714750"/>
                <a:gridCol w="3714750"/>
              </a:tblGrid>
              <a:tr h="5810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可提供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必要条件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不可据此承诺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BOM与物料需求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已发布版本、用量与单位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BOM工程正确性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库存齐套与理论上限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完整权威可用量与一致快照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设备工时、工单放行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采购数量与合成成本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MOQ、倍数、价格与日期完整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实际订单、供应商交期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历史原因和来源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同一任务绑定的证据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实时ERP同步与最新库存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9CEF0A-3501-465C-B588-843981D0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531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7487"/>
                </a:solidFill>
              </a:defRPr>
            </a:pPr>
            <a:r>
              <a:rPr sz="1350" b="0">
                <a:solidFill>
                  <a:srgbClr val="627487"/>
                </a:solidFill>
              </a:rPr>
              <a:t>1560.00 CNY 为合成采购测算：30×20 +100×2 +50×15 +200×0.05。</a:t>
            </a:r>
          </a:p>
        </p:txBody>
      </p:sp>
    </p:spTree>
    <p:extLst>
      <p:ext uri="{BB962C8B-B14F-4D97-AF65-F5344CB8AC3E}">
        <p14:creationId xmlns:p14="http://schemas.microsoft.com/office/powerpoint/2010/main" val="54332039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D459EC-A210-492E-9536-51516272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08E24A-A829-4062-9FA9-0D0B4675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研究背景及动机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7EBF1B-8B88-44C5-959C-8AAD12163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模型方法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2EBF92-F629-41CD-8364-DAFA8A67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实验结果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B37464-DBF5-47B5-A8DC-39A9CAF81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8A0DCE-C998-43C9-B4E9-4DE0C868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E90854-AAED-4883-8DC7-8BF47DAE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4D8540-0FBE-4428-93AD-6760F947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533B23-4EF7-46A4-B68F-78EFCB32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57A1D8-C0DF-489B-BDF4-18175A2C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局限与后续验证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476806-AC37-41B6-B508-377B08BF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CE071F-DE98-4F93-9CF3-E2D3A30EC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当前演示与真实生产部署之间还缺哪些证据？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D7513A-BE74-4EB8-80FE-E2ED78F4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FD3E24-2763-4DD3-848E-E50A1393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21 / 22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2E0655-42A8-43E9-9246-48F6E91B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3F73"/>
                </a:solidFill>
              </a:defRPr>
            </a:pPr>
            <a:r>
              <a:rPr sz="2250" b="1">
                <a:solidFill>
                  <a:srgbClr val="153F73"/>
                </a:solidFill>
              </a:rPr>
              <a:t>数据与实验局限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A3DF71-E342-4A29-995C-E3102FCB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49530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本次只复测固定合成场景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库存为版本化快照</a:t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缺少真实设备与工时约束</a:t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没有真实基线和用户效果数据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736AFF-3266-4EA0-9109-C97AC6C3C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33625"/>
            <a:ext cx="19050" cy="309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4E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BB1A05-A027-4B2A-8A2F-6241548C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33625"/>
            <a:ext cx="5095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3F73"/>
                </a:solidFill>
              </a:defRPr>
            </a:pPr>
            <a:r>
              <a:rPr sz="2250" b="1">
                <a:solidFill>
                  <a:srgbClr val="153F73"/>
                </a:solidFill>
              </a:rPr>
              <a:t>工程与后续工作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1044DF-1E08-48A9-AC1F-91BD083B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952750"/>
            <a:ext cx="509587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完整前端构建仍有类型错误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修复后重新完成全量验收</a:t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扩大任务集并加入缺失数据</a:t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建立人工/普通问答统一比较</a:t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独立验证现场权限与交付流程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5D5FB8-3226-497E-BF6F-68F1CAAC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531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7487"/>
                </a:solidFill>
              </a:defRPr>
            </a:pPr>
            <a:r>
              <a:rPr sz="1350" b="0">
                <a:solidFill>
                  <a:srgbClr val="627487"/>
                </a:solidFill>
              </a:rPr>
              <a:t>外部供应风险预测、自动下单与实时 ERP 接入不作为当前已实现成果。</a:t>
            </a:r>
          </a:p>
        </p:txBody>
      </p:sp>
    </p:spTree>
    <p:extLst>
      <p:ext uri="{BB962C8B-B14F-4D97-AF65-F5344CB8AC3E}">
        <p14:creationId xmlns:p14="http://schemas.microsoft.com/office/powerpoint/2010/main" val="9640709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A3EC74-C2B1-42DC-9186-757AF88B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EEF9FA-C027-468E-8AF6-5C7B3025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研究背景及动机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4AA62B-C247-43D7-9784-E4E81162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模型方法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2DAF16-D1D0-411E-90F5-D6D76712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实验结果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E7CCC8-073B-487F-AADC-266F6DF7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6FC707-0EAB-4BB3-BA7A-3748AEF1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B97EED-BD69-4141-9BCA-73FB452F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CF5CAC-DD6A-43E5-85D2-43A3DCCC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BCE3C-CF9F-4918-9437-998214CB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7CBBE1-31FC-4102-B56D-B10617AA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结论与致谢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482ED8-75AA-46AF-B3E7-158B6A1B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0EE87D-B457-40A0-A557-EC3858EB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本次可验证的项目贡献是什么？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08140D-13DA-4ACD-A6EC-15618F48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A814B8-7697-42FB-999A-417683EC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22 / 22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43CA5C-5AD8-48DC-8075-D7371044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F73"/>
                </a:solidFill>
              </a:defRPr>
            </a:pPr>
            <a:r>
              <a:rPr sz="3225" b="1">
                <a:solidFill>
                  <a:srgbClr val="153F73"/>
                </a:solidFill>
              </a:rPr>
              <a:t>可核查的物料计划辅助流程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4FC4CF-46BF-4852-BDA0-DE56BDA5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24250"/>
            <a:ext cx="10763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D40"/>
                </a:solidFill>
              </a:defRPr>
            </a:pPr>
            <a:r>
              <a:rPr sz="2175" b="0">
                <a:solidFill>
                  <a:srgbClr val="172D40"/>
                </a:solidFill>
              </a:rPr>
              <a:t>受控事实限定数据范围，Python 计算业务数量。</a:t>
            </a:r>
          </a:p>
          <a:p xmlns:a="http://schemas.openxmlformats.org/drawingml/2006/main">
            <a:pPr>
              <a:defRPr sz="2175" b="0">
                <a:solidFill>
                  <a:srgbClr val="172D40"/>
                </a:solidFill>
              </a:defRPr>
            </a:pPr>
            <a:r>
              <a:rPr sz="2175" b="0">
                <a:solidFill>
                  <a:srgbClr val="172D40"/>
                </a:solidFill>
              </a:rPr>
              <a:t>连续追问核对任务绑定，Evidence 支撑原因与来源查询。</a:t>
            </a:r>
          </a:p>
          <a:p xmlns:a="http://schemas.openxmlformats.org/drawingml/2006/main">
            <a:pPr>
              <a:defRPr sz="2175" b="0">
                <a:solidFill>
                  <a:srgbClr val="172D40"/>
                </a:solidFill>
              </a:defRPr>
            </a:pPr>
            <a:r>
              <a:rPr sz="2175" b="0">
                <a:solidFill>
                  <a:srgbClr val="172D40"/>
                </a:solidFill>
              </a:rPr>
              <a:t>合成案例复测支持数量边界和采购规则，真实业务效果仍待验证。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F6F28B-6484-4973-96FE-ACAFC2C3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245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53F73"/>
                </a:solidFill>
              </a:defRPr>
            </a:pPr>
            <a:r>
              <a:rPr sz="2550" b="1">
                <a:solidFill>
                  <a:srgbClr val="153F73"/>
                </a:solidFill>
              </a:rPr>
              <a:t>感谢聆听，欢迎批评指正</a:t>
            </a:r>
          </a:p>
        </p:txBody>
      </p:sp>
    </p:spTree>
    <p:extLst>
      <p:ext uri="{BB962C8B-B14F-4D97-AF65-F5344CB8AC3E}">
        <p14:creationId xmlns:p14="http://schemas.microsoft.com/office/powerpoint/2010/main" val="11828599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2026-10-12T02:53:03.6140000Z</dcterms:created>
  <dcterms:modified xsi:type="dcterms:W3CDTF">2026-10-12T02:53:03.6140000Z</dcterms:modified>
</coreProperties>
</file>