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54a38ee03c4597" /><Relationship Type="http://schemas.openxmlformats.org/officeDocument/2006/relationships/extended-properties" Target="/docProps/app.xml" Id="R2e89d363f0284054" /><Relationship Type="http://schemas.openxmlformats.org/officeDocument/2006/relationships/officeDocument" Target="/ppt/presentation.xml" Id="R31e1974d0a06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335a4763d47c8"/>
  </p:sldMasterIdLst>
  <p:notesMasterIdLst>
    <p:notesMasterId xmlns:r="http://schemas.openxmlformats.org/officeDocument/2006/relationships" r:id="Ra4c7795f59774dff"/>
  </p:notesMasterIdLst>
  <p:sldIdLst>
    <p:sldId xmlns:r="http://schemas.openxmlformats.org/officeDocument/2006/relationships" id="256" r:id="Rb7770779439147b5"/>
    <p:sldId xmlns:r="http://schemas.openxmlformats.org/officeDocument/2006/relationships" id="257" r:id="Rde143e449fa74b1f"/>
    <p:sldId xmlns:r="http://schemas.openxmlformats.org/officeDocument/2006/relationships" id="258" r:id="R9a8ae9cb97f547d8"/>
    <p:sldId xmlns:r="http://schemas.openxmlformats.org/officeDocument/2006/relationships" id="259" r:id="R26588a750463401f"/>
    <p:sldId xmlns:r="http://schemas.openxmlformats.org/officeDocument/2006/relationships" id="260" r:id="R148c9637de42432b"/>
    <p:sldId xmlns:r="http://schemas.openxmlformats.org/officeDocument/2006/relationships" id="261" r:id="Rb0c69d9cae3f4a26"/>
    <p:sldId xmlns:r="http://schemas.openxmlformats.org/officeDocument/2006/relationships" id="262" r:id="R5cdad25482584fe3"/>
    <p:sldId xmlns:r="http://schemas.openxmlformats.org/officeDocument/2006/relationships" id="263" r:id="Re9d60f1e563443f7"/>
    <p:sldId xmlns:r="http://schemas.openxmlformats.org/officeDocument/2006/relationships" id="264" r:id="R1be15ec7b45649b8"/>
    <p:sldId xmlns:r="http://schemas.openxmlformats.org/officeDocument/2006/relationships" id="265" r:id="R5b04a88d229248aa"/>
    <p:sldId xmlns:r="http://schemas.openxmlformats.org/officeDocument/2006/relationships" id="266" r:id="Ree873dc20c574543"/>
    <p:sldId xmlns:r="http://schemas.openxmlformats.org/officeDocument/2006/relationships" id="267" r:id="Ra065bc444d86454f"/>
    <p:sldId xmlns:r="http://schemas.openxmlformats.org/officeDocument/2006/relationships" id="268" r:id="R62089c1172bd471a"/>
    <p:sldId xmlns:r="http://schemas.openxmlformats.org/officeDocument/2006/relationships" id="269" r:id="R2abd29665400451a"/>
    <p:sldId xmlns:r="http://schemas.openxmlformats.org/officeDocument/2006/relationships" id="270" r:id="Re294a9ab550c4f84"/>
    <p:sldId xmlns:r="http://schemas.openxmlformats.org/officeDocument/2006/relationships" id="271" r:id="Rbab2019b731f43e4"/>
    <p:sldId xmlns:r="http://schemas.openxmlformats.org/officeDocument/2006/relationships" id="272" r:id="R2b94b77c57f94a53"/>
    <p:sldId xmlns:r="http://schemas.openxmlformats.org/officeDocument/2006/relationships" id="273" r:id="Rba59df84cdd647f7"/>
    <p:sldId xmlns:r="http://schemas.openxmlformats.org/officeDocument/2006/relationships" id="274" r:id="R9e0329bb6d944bd6"/>
    <p:sldId xmlns:r="http://schemas.openxmlformats.org/officeDocument/2006/relationships" id="275" r:id="Rbe5654baa1484cf9"/>
    <p:sldId xmlns:r="http://schemas.openxmlformats.org/officeDocument/2006/relationships" id="276" r:id="Rf6e406ff0b8a4e14"/>
    <p:sldId xmlns:r="http://schemas.openxmlformats.org/officeDocument/2006/relationships" id="277" r:id="R8877d9982057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4f46ce45644ca" /><Relationship Type="http://schemas.openxmlformats.org/officeDocument/2006/relationships/slideMaster" Target="/ppt/slideMasters/slideMaster1.xml" Id="Rd5c335a4763d47c8" /><Relationship Type="http://schemas.openxmlformats.org/officeDocument/2006/relationships/notesMaster" Target="/ppt/notesMasters/notesMaster1.xml" Id="Ra4c7795f59774dff" /><Relationship Type="http://schemas.openxmlformats.org/officeDocument/2006/relationships/presProps" Target="/ppt/presProps.xml" Id="R379f1f76bcc140b8" /><Relationship Type="http://schemas.openxmlformats.org/officeDocument/2006/relationships/tableStyles" Target="/ppt/tableStyles.xml" Id="R6b62f98dedd041cd" /><Relationship Type="http://schemas.openxmlformats.org/officeDocument/2006/relationships/slide" Target="/ppt/slides/slide1.xml" Id="Rb7770779439147b5" /><Relationship Type="http://schemas.openxmlformats.org/officeDocument/2006/relationships/slide" Target="/ppt/slides/slide2.xml" Id="Rde143e449fa74b1f" /><Relationship Type="http://schemas.openxmlformats.org/officeDocument/2006/relationships/slide" Target="/ppt/slides/slide3.xml" Id="R9a8ae9cb97f547d8" /><Relationship Type="http://schemas.openxmlformats.org/officeDocument/2006/relationships/slide" Target="/ppt/slides/slide4.xml" Id="R26588a750463401f" /><Relationship Type="http://schemas.openxmlformats.org/officeDocument/2006/relationships/slide" Target="/ppt/slides/slide5.xml" Id="R148c9637de42432b" /><Relationship Type="http://schemas.openxmlformats.org/officeDocument/2006/relationships/slide" Target="/ppt/slides/slide6.xml" Id="Rb0c69d9cae3f4a26" /><Relationship Type="http://schemas.openxmlformats.org/officeDocument/2006/relationships/slide" Target="/ppt/slides/slide7.xml" Id="R5cdad25482584fe3" /><Relationship Type="http://schemas.openxmlformats.org/officeDocument/2006/relationships/slide" Target="/ppt/slides/slide8.xml" Id="Re9d60f1e563443f7" /><Relationship Type="http://schemas.openxmlformats.org/officeDocument/2006/relationships/slide" Target="/ppt/slides/slide9.xml" Id="R1be15ec7b45649b8" /><Relationship Type="http://schemas.openxmlformats.org/officeDocument/2006/relationships/slide" Target="/ppt/slides/slide10.xml" Id="R5b04a88d229248aa" /><Relationship Type="http://schemas.openxmlformats.org/officeDocument/2006/relationships/slide" Target="/ppt/slides/slide11.xml" Id="Ree873dc20c574543" /><Relationship Type="http://schemas.openxmlformats.org/officeDocument/2006/relationships/slide" Target="/ppt/slides/slide12.xml" Id="Ra065bc444d86454f" /><Relationship Type="http://schemas.openxmlformats.org/officeDocument/2006/relationships/slide" Target="/ppt/slides/slide13.xml" Id="R62089c1172bd471a" /><Relationship Type="http://schemas.openxmlformats.org/officeDocument/2006/relationships/slide" Target="/ppt/slides/slide14.xml" Id="R2abd29665400451a" /><Relationship Type="http://schemas.openxmlformats.org/officeDocument/2006/relationships/slide" Target="/ppt/slides/slide15.xml" Id="Re294a9ab550c4f84" /><Relationship Type="http://schemas.openxmlformats.org/officeDocument/2006/relationships/slide" Target="/ppt/slides/slide16.xml" Id="Rbab2019b731f43e4" /><Relationship Type="http://schemas.openxmlformats.org/officeDocument/2006/relationships/slide" Target="/ppt/slides/slide17.xml" Id="R2b94b77c57f94a53" /><Relationship Type="http://schemas.openxmlformats.org/officeDocument/2006/relationships/slide" Target="/ppt/slides/slide18.xml" Id="Rba59df84cdd647f7" /><Relationship Type="http://schemas.openxmlformats.org/officeDocument/2006/relationships/slide" Target="/ppt/slides/slide19.xml" Id="R9e0329bb6d944bd6" /><Relationship Type="http://schemas.openxmlformats.org/officeDocument/2006/relationships/slide" Target="/ppt/slides/slide20.xml" Id="Rbe5654baa1484cf9" /><Relationship Type="http://schemas.openxmlformats.org/officeDocument/2006/relationships/slide" Target="/ppt/slides/slide21.xml" Id="Rf6e406ff0b8a4e14" /><Relationship Type="http://schemas.openxmlformats.org/officeDocument/2006/relationships/slide" Target="/ppt/slides/slide22.xml" Id="R8877d9982057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04ee4ce30d44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0195c823b4bff" /><Relationship Type="http://schemas.openxmlformats.org/officeDocument/2006/relationships/notesMaster" Target="/ppt/notesMasters/notesMaster1.xml" Id="R72cd15356a3146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728ba62f94a48" /><Relationship Type="http://schemas.openxmlformats.org/officeDocument/2006/relationships/notesMaster" Target="/ppt/notesMasters/notesMaster1.xml" Id="Rd235ee2fac7e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6cfcc8dfb41d4" /><Relationship Type="http://schemas.openxmlformats.org/officeDocument/2006/relationships/notesMaster" Target="/ppt/notesMasters/notesMaster1.xml" Id="R7f3fd3f8599c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d00f46110d48ec" /><Relationship Type="http://schemas.openxmlformats.org/officeDocument/2006/relationships/notesMaster" Target="/ppt/notesMasters/notesMaster1.xml" Id="R07029e563316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9f253e6ed4325" /><Relationship Type="http://schemas.openxmlformats.org/officeDocument/2006/relationships/notesMaster" Target="/ppt/notesMasters/notesMaster1.xml" Id="Refc110fd082d4b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d0f6b6e4e4aee" /><Relationship Type="http://schemas.openxmlformats.org/officeDocument/2006/relationships/notesMaster" Target="/ppt/notesMasters/notesMaster1.xml" Id="Ra1a56f90cab34c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9d831ab7844b4" /><Relationship Type="http://schemas.openxmlformats.org/officeDocument/2006/relationships/notesMaster" Target="/ppt/notesMasters/notesMaster1.xml" Id="R9086f2c0a520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c9ddc574a4655" /><Relationship Type="http://schemas.openxmlformats.org/officeDocument/2006/relationships/notesMaster" Target="/ppt/notesMasters/notesMaster1.xml" Id="R8bb1eb5f2b8740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033af30988448b" /><Relationship Type="http://schemas.openxmlformats.org/officeDocument/2006/relationships/notesMaster" Target="/ppt/notesMasters/notesMaster1.xml" Id="R39bccc28222a48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9ab2c4f8cc4d6b" /><Relationship Type="http://schemas.openxmlformats.org/officeDocument/2006/relationships/notesMaster" Target="/ppt/notesMasters/notesMaster1.xml" Id="Rf0acecd3067d4c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2792e0067740cb" /><Relationship Type="http://schemas.openxmlformats.org/officeDocument/2006/relationships/notesMaster" Target="/ppt/notesMasters/notesMaster1.xml" Id="R75bde92226f943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a74a12a8d14684" /><Relationship Type="http://schemas.openxmlformats.org/officeDocument/2006/relationships/notesMaster" Target="/ppt/notesMasters/notesMaster1.xml" Id="R622b7b3255aa43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62dd73e5c548b5" /><Relationship Type="http://schemas.openxmlformats.org/officeDocument/2006/relationships/notesMaster" Target="/ppt/notesMasters/notesMaster1.xml" Id="R813e47ba6ce240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e4e442d8d94a84" /><Relationship Type="http://schemas.openxmlformats.org/officeDocument/2006/relationships/notesMaster" Target="/ppt/notesMasters/notesMaster1.xml" Id="Rd7d97af9aec640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bf5d1b59204747" /><Relationship Type="http://schemas.openxmlformats.org/officeDocument/2006/relationships/notesMaster" Target="/ppt/notesMasters/notesMaster1.xml" Id="R25fff0f4621843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30c06ed86a4678" /><Relationship Type="http://schemas.openxmlformats.org/officeDocument/2006/relationships/notesMaster" Target="/ppt/notesMasters/notesMaster1.xml" Id="Rb02be415d98442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ab0bc1c7d14c20" /><Relationship Type="http://schemas.openxmlformats.org/officeDocument/2006/relationships/notesMaster" Target="/ppt/notesMasters/notesMaster1.xml" Id="R9973c5a7ec894b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7dfc5345cb4ef8" /><Relationship Type="http://schemas.openxmlformats.org/officeDocument/2006/relationships/notesMaster" Target="/ppt/notesMasters/notesMaster1.xml" Id="Rbbc5f115ce5c46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cd2e1bf2074e6b" /><Relationship Type="http://schemas.openxmlformats.org/officeDocument/2006/relationships/notesMaster" Target="/ppt/notesMasters/notesMaster1.xml" Id="R301188eeb0354a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0a9e400fac430b" /><Relationship Type="http://schemas.openxmlformats.org/officeDocument/2006/relationships/notesMaster" Target="/ppt/notesMasters/notesMaster1.xml" Id="R66318b70338643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c6cd65d5724e57" /><Relationship Type="http://schemas.openxmlformats.org/officeDocument/2006/relationships/notesMaster" Target="/ppt/notesMasters/notesMaster1.xml" Id="R469309718ce64b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e1cc0fb46e4fa9" /><Relationship Type="http://schemas.openxmlformats.org/officeDocument/2006/relationships/notesMaster" Target="/ppt/notesMasters/notesMaster1.xml" Id="R24f809d3b563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本页问题：面向制造企业的可追溽物料计划助手</a:t>
            </a:r>
          </a:p>
          <a:p xmlns:a="http://schemas.openxmlformats.org/drawingml/2006/main">
            <a:r>
              <a:t>可支持结论：项目定位为辅助数量核对和证据查询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本页问题：围绕任务、方法、证据与边界展开汇报</a:t>
            </a:r>
          </a:p>
          <a:p xmlns:a="http://schemas.openxmlformats.org/drawingml/2006/main">
            <a:r>
              <a:t>可支持结论：22页主文组织为四章节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本页问题：计划员提出生产数量后，需要哪些事实才能判断？</a:t>
            </a:r>
          </a:p>
          <a:p xmlns:a="http://schemas.openxmlformats.org/drawingml/2006/main">
            <a:r>
              <a:t>可支持结论：齐套判断依赖版本化BOM和权威可用库存</a:t>
            </a:r>
          </a:p>
          <a:p xmlns:a="http://schemas.openxmlformats.org/drawingml/2006/main">
            <a:r>
              <a:t>依据：README.md；services/published_planning_service.py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本页问题：哪些信息问题会让一个看似完整的回答失去依据？</a:t>
            </a:r>
          </a:p>
          <a:p xmlns:a="http://schemas.openxmlformats.org/drawingml/2006/main">
            <a:r>
              <a:t>可支持结论：不能从语言猜测缺失业务条件</a:t>
            </a:r>
          </a:p>
          <a:p xmlns:a="http://schemas.openxmlformats.org/drawingml/2006/main">
            <a:r>
              <a:t>依据：agents/context_resolver.py；services/published_planning_service.py；agents/response_generator.py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本页问题：如何让自然语言任务得到可验证的业务结果？</a:t>
            </a:r>
          </a:p>
          <a:p xmlns:a="http://schemas.openxmlformats.org/drawingml/2006/main">
            <a:r>
              <a:t>可支持结论：建立理解、计算和证据的职责边界</a:t>
            </a:r>
          </a:p>
          <a:p xmlns:a="http://schemas.openxmlformats.org/drawingml/2006/main">
            <a:r>
              <a:t>依据：agents/orchestrator.py；services/published_planning_service.py；agents/response_generator.py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本页问题：当前 Trial 如何完成从页面到事实再到回答的调用？</ns1:t>
            </ns1:r>
          </ns1:p>
          <ns1:p>
            <ns1:r>
              <ns1:t>可支持结论：Trial独立事实库与规则模式形成实测闭环</ns1:t>
            </ns1:r>
          </ns1:p>
          <ns1:p>
            <ns1:r>
              <ns1:t>依据：services/persistent_agent_service.py；agents/orchestrator.py；tools/demo_scenario_tools.py；api/trial_app.py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`api/trial_app.py:25` `create_trial_app`，代码范围 25—130，SHA256 `185eec1757c65214590b9150f76ba877e2cda358dad8229900f543223523cd62`。
- `services/persistent_agent_service.py:183` `enable_orchestrator`，代码范围 183—237，SHA256 `26a24cae05dac3d5bd680931a7fd52bd075f05ba0ed6b2cc841f827020255191`。
- `services/persistent_agent_service.py:239` `query`，代码范围 239—281，SHA256 `26a24cae05dac3d5bd680931a7fd52bd075f05ba0ed6b2cc841f827020255191`。
- `agents/orchestrator.py:45` `run`，代码范围 45—288，SHA256 `8415f6feded7091ec48d8007cec769b68689432d3e091e838e896ed34db00f45`。
- `tools/demo_scenario_tools.py:15` `build_demo_scenario_tools`，代码范围 15—54，SHA256 `1d514bf641eb2601793ef2c096ab71412f9dc10b2460854e2ade4aaaff77969f`。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本页问题：原始 BOM 在什么条件下可以进入可查询事实？</ns1:t>
            </ns1:r>
          </ns1:p>
          <ns1:p>
            <ns1:r>
              <ns1:t>可支持结论：发布前存在校验与按条件人工确认</ns1:t>
            </ns1:r>
          </ns1:p>
          <ns1:p>
            <ns1:r>
              <ns1:t>依据：services/bom_import_service.py；repositories/fact_repository.py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`services/bom_import_service.py:81` `stage_bom`，代码范围 81—266，SHA256 `de365c51564c39f7ba8ad91bcf9567473725b1005778f52a32215c485f49c033`。
- `services/bom_import_service.py:268` `confirm_pending_fields`，代码范围 268—280，SHA256 `de365c51564c39f7ba8ad91bcf9567473725b1005778f52a32215c485f49c033`。
- `services/bom_import_service.py:287` `publish`，代码范围 287—288，SHA256 `de365c51564c39f7ba8ad91bcf9567473725b1005778f52a32215c485f49c033`。
- `repositories/fact_repository.py:613` `publish_batch`，代码范围 613—861，SHA256 `20e2ff7fd0498ed5d7954e2ee4037308fcc14b2096f918ae8ce594bc4e395273`。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本页问题：怎样避免产品歧义与上一轮条件污染？</ns1:t>
            </ns1:r>
          </ns1:p>
          <ns1:p>
            <ns1:r>
              <ns1:t>可支持结论：区分企业目录解析和Trial固定产品上下文</ns1:t>
            </ns1:r>
          </ns1:p>
          <ns1:p>
            <ns1:r>
              <ns1:t>依据：agents/planner.py；agents/context_resolver.py；agents/product_resolver.py；services/persistent_agent_service.py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`agents/product_resolver.py:5` `resolve_product`，代码范围 5—75，SHA256 `30e4509279b1997be67140fbce5dfc203a5be6753dd7e6cb795df68b7233f48b`。
- `agents/planner.py:148` `plan`，代码范围 148—277，SHA256 `295ffc2dbb9d1c8ab756103d059e69bde9ee2d7559d45c294f8d61fbab04e72d`。
- `agents/context_resolver.py:86` `resolve`，代码范围 86—98，SHA256 `86dbb9fbde5173a0bb991feb7cdd0b369ba86bd2f4b6ec68d1cdab588dbfc445`。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本页问题：多层 BOM 如何转化为需求、缺口和理论数量？</ns1:t>
            </ns1:r>
          </ns1:p>
          <ns1:p>
            <ns1:r>
              <ns1:t>可支持结论：effective_date存在时实际进入多层PublishedPlanningService</ns1:t>
            </ns1:r>
          </ns1:p>
          <ns1:p>
            <ns1:r>
              <ns1:t>依据：services/published_planning_service.py；services/production_feasibility_query_service.py；tools/demo_scenario_tools.py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`services/production_feasibility_query_service.py:45` `query`，代码范围 45—255，SHA256 `4b7ff1344882372e625db7e80d65f30bf79d974e44f6b7c13fa6df5056c25d62`。
- `services/published_planning_service.py:54` `query`，代码范围 54—312，SHA256 `5693e0d33ef85da5eee6ed80e71f75bde440baf883923e57c0d852f66beee919`。
- `services/published_planning_service.py:123` `choose_version`，代码范围 123—136，SHA256 `5693e0d33ef85da5eee6ed80e71f75bde440baf883923e57c0d852f66beee919`。
- `services/published_planning_service.py:138` `factor`，代码范围 138—167，SHA256 `5693e0d33ef85da5eee6ed80e71f75bde440baf883923e57c0d852f66beee919`。
- `services/published_planning_service.py:169` `walk`，代码范围 169—219，SHA256 `5693e0d33ef85da5eee6ed80e71f75bde440baf883923e57c0d852f66beee919`。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本页问题：工具结果如何进入回答，语言层又能改动什么？</ns1:t>
            </ns1:r>
          </ns1:p>
          <ns1:p>
            <ns1:r>
              <ns1:t>可支持结论：模型仅受约束组织事实说明，失败回退业务模板</ns1:t>
            </ns1:r>
          </ns1:p>
          <ns1:p>
            <ns1:r>
              <ns1:t>依据：agents/orchestrator.py；agents/evidence.py；agents/response_generator.py；services/persistent_agent_service.py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`agents/orchestrator.py:45` `run`，代码范围 45—288，SHA256 `8415f6feded7091ec48d8007cec769b68689432d3e091e838e896ed34db00f45`。
- `agents/evidence.py:36` `collect`，代码范围 36—57，SHA256 `b6ce37f245b9f5f8549f7332a5486e842c6697a0ad355958560eb32d8fab0add`。
- `agents/response_generator.py:42` `generate`，代码范围 42—79，SHA256 `59eeb7dcf018883197e8762c3ffc6bae2560025a69b34911d557e170eba1d7b0`。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本页问题：“为什么不能生产”是否需要再次计算库存？</ns1:t>
            </ns1:r>
          </ns1:p>
          <ns1:p>
            <ns1:r>
              <ns1:t>可支持结论：实测原因追问复用100台turn，completed_steps为空</ns1:t>
            </ns1:r>
          </ns1:p>
          <ns1:p>
            <ns1:r>
              <ns1:t>依据：agents/orchestrator.py；services/persistent_agent_service.py；outputs/PMC-Agent-report/runtime-responses.json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`agents/orchestrator.py:45` `run`，代码范围 45—288，SHA256 `8415f6feded7091ec48d8007cec769b68689432d3e091e838e896ed34db00f45`。
- `agents/orchestrator.py:342` `_reuse`，代码范围 342—414，SHA256 `8415f6feded7091ec48d8007cec769b68689432d3e091e838e896ed34db00f45`。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本页问题：同一数据版本下，任务修改与原因追问得到什么结果？</a:t>
            </a:r>
          </a:p>
          <a:p xmlns:a="http://schemas.openxmlformats.org/drawingml/2006/main">
            <a:r>
              <a:t>可支持结论：仅支持合成数据上的数量和采购案例</a:t>
            </a:r>
          </a:p>
          <a:p xmlns:a="http://schemas.openxmlformats.org/drawingml/2006/main">
            <a:r>
              <a:t>依据：outputs/PMC-Agent-report/runtime-responses.json；services/published_planning_service.py；services/published_purchase_planning_service.py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本页问题：这些结果在哪个环境、模式和数据时点下产生？</a:t>
            </a:r>
          </a:p>
          <a:p xmlns:a="http://schemas.openxmlformats.org/drawingml/2006/main">
            <a:r>
              <a:t>可支持结论：本地隔离合成Trial复测，非LLM效果实验</a:t>
            </a:r>
          </a:p>
          <a:p xmlns:a="http://schemas.openxmlformats.org/drawingml/2006/main">
            <a:r>
              <a:t>依据：api/trial_app.py；repositories/demo_scenario_repository.py；outputs/PMC-Agent-report/runtime-responses.json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本页问题：75台与76台的分界能否由原始用量和库存复算？</a:t>
            </a:r>
          </a:p>
          <a:p xmlns:a="http://schemas.openxmlformats.org/drawingml/2006/main">
            <a:r>
              <a:t>可支持结论：min floor(库存/单位用量)=75，与实跑一致</a:t>
            </a:r>
          </a:p>
          <a:p xmlns:a="http://schemas.openxmlformats.org/drawingml/2006/main">
            <a:r>
              <a:t>依据：services/published_planning_service.py；outputs/PMC-Agent-report/runtime-responses.json；data/demo/demo_scenario_50_vs_100/bom_facts.json；data/demo/demo_scenario_50_vs_100/inventory_facts.json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本页问题：非法数量和证据追问如何影响工具调用？</a:t>
            </a:r>
          </a:p>
          <a:p xmlns:a="http://schemas.openxmlformats.org/drawingml/2006/main">
            <a:r>
              <a:t>可支持结论：0台拒绝且无completed_steps；追问复用证据</a:t>
            </a:r>
          </a:p>
          <a:p xmlns:a="http://schemas.openxmlformats.org/drawingml/2006/main">
            <a:r>
              <a:t>依据：agents/orchestrator.py；outputs/PMC-Agent-report/runtime-responses.json；tests/test_remote_trial.py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本页问题：当前证据足以支持哪些结论，哪些比较仍无法开展？</a:t>
            </a:r>
          </a:p>
          <a:p xmlns:a="http://schemas.openxmlformats.org/drawingml/2006/main">
            <a:r>
              <a:t>可支持结论：仅报告案例与专项测试，不宣称胜过人工</a:t>
            </a:r>
          </a:p>
          <a:p xmlns:a="http://schemas.openxmlformats.org/drawingml/2006/main">
            <a:r>
              <a:t>依据：outputs/PMC-Agent-report/runtime-responses.json；tests/test_demo_scenario_50_100.py；tests/test_demo_purchase_parameters.py；tests/test_remote_trial.py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本页问题：页面是否展示与真实响应一致的缺口？</a:t>
            </a:r>
          </a:p>
          <a:p xmlns:a="http://schemas.openxmlformats.org/drawingml/2006/main">
            <a:r>
              <a:t>可支持结论：实跑四项缺料，页面原始截图与响应一致</a:t>
            </a:r>
          </a:p>
          <a:p xmlns:a="http://schemas.openxmlformats.org/drawingml/2006/main">
            <a:r>
              <a:t>依据：outputs/PMC-Agent-report/runtime-responses.json；raw-screenshots/01-100.png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本页问题：从解释原因到修改数量，页面是否同步新任务？</a:t>
            </a:r>
          </a:p>
          <a:p xmlns:a="http://schemas.openxmlformats.org/drawingml/2006/main">
            <a:r>
              <a:t>可支持结论：追问说明证据复用，50台页面齐套</a:t>
            </a:r>
          </a:p>
          <a:p xmlns:a="http://schemas.openxmlformats.org/drawingml/2006/main">
            <a:r>
              <a:t>依据：outputs/PMC-Agent-report/runtime-responses.json；raw-screenshots/02-reason.png；raw-screenshots/03-50.png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本页问题：结论能否定位到具体事实文件、版本和库存时点？</a:t>
            </a:r>
          </a:p>
          <a:p xmlns:a="http://schemas.openxmlformats.org/drawingml/2006/main">
            <a:r>
              <a:t>可支持结论：实际来源展开含事实文件与快照信息</a:t>
            </a:r>
          </a:p>
          <a:p xmlns:a="http://schemas.openxmlformats.org/drawingml/2006/main">
            <a:r>
              <a:t>依据：outputs/PMC-Agent-report/runtime-responses.json；raw-screenshots/04-source.png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本页问题：系统的计算结果能否直接用于排产、采购或交期承诺？</a:t>
            </a:r>
          </a:p>
          <a:p xmlns:a="http://schemas.openxmlformats.org/drawingml/2006/main">
            <a:r>
              <a:t>可支持结论：只能支持数据条件下的辅助分析</a:t>
            </a:r>
          </a:p>
          <a:p xmlns:a="http://schemas.openxmlformats.org/drawingml/2006/main">
            <a:r>
              <a:t>依据：README.md；services/published_planning_service.py；services/published_purchase_planning_service.py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本页问题：当前演示与真实生产部署之间还缺哪些证据？</a:t>
            </a:r>
          </a:p>
          <a:p xmlns:a="http://schemas.openxmlformats.org/drawingml/2006/main">
            <a:r>
              <a:t>可支持结论：合成场景验证不能外推真实生产效果</a:t>
            </a:r>
          </a:p>
          <a:p xmlns:a="http://schemas.openxmlformats.org/drawingml/2006/main">
            <a:r>
              <a:t>依据：README.md；outputs/PMC-Agent-report/runtime-responses.json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本页问题：本次可验证的项目贡献是什么？</a:t>
            </a:r>
          </a:p>
          <a:p xmlns:a="http://schemas.openxmlformats.org/drawingml/2006/main">
            <a:r>
              <a:t>可支持结论：职责分工和固定场景闭环成立，效果泛化待验证</a:t>
            </a:r>
          </a:p>
          <a:p xmlns:a="http://schemas.openxmlformats.org/drawingml/2006/main">
            <a:r>
              <a:t>依据：agents/orchestrator.py；services/published_planning_service.py；outputs/PMC-Agent-report/runtime-responses.json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cd8bfd09a49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c3957a25f4b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07debc39e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9dc2a04eb4c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0dc21d22c48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7ae23b4f1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EEACD-4F3C-4D6F-9A68-70175BC66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B51263-EEB2-42DD-8817-814FF0A6A0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F6359C-7B40-4ECE-8CA0-AE1CCD9E9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6377FA-91F1-4131-9B69-D955AF72E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721967-A4BA-4644-9B4C-DFB5A6DB4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162566-3652-48D1-90D6-791C8CA6D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F5CA22-5842-4FB3-872C-89389AAE99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07BD8A-B7DB-4724-A37A-39EAD64742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C1696-E42C-4F97-9CB4-03327C699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0FB4DE-9CB9-4507-B33C-E4342B9AF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39fbd2207455b" /><Relationship Type="http://schemas.openxmlformats.org/officeDocument/2006/relationships/slideLayout" Target="/ppt/slideLayouts/slideLayout1.xml" Id="R5f2694ed8c444899" /><Relationship Type="http://schemas.openxmlformats.org/officeDocument/2006/relationships/slideLayout" Target="/ppt/slideLayouts/slideLayout2.xml" Id="R19ca1c4006dd4350" /><Relationship Type="http://schemas.openxmlformats.org/officeDocument/2006/relationships/slideLayout" Target="/ppt/slideLayouts/slideLayout3.xml" Id="Rc998c62b587e4648" /><Relationship Type="http://schemas.openxmlformats.org/officeDocument/2006/relationships/slideLayout" Target="/ppt/slideLayouts/slideLayout4.xml" Id="R26c3a7a8f49949ef" /><Relationship Type="http://schemas.openxmlformats.org/officeDocument/2006/relationships/slideLayout" Target="/ppt/slideLayouts/slideLayout5.xml" Id="R2b78f06ad0b84f9f" /><Relationship Type="http://schemas.openxmlformats.org/officeDocument/2006/relationships/slideLayout" Target="/ppt/slideLayouts/slideLayout6.xml" Id="R352aba677f31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694ed8c444899"/>
    <p:sldLayoutId xmlns:r="http://schemas.openxmlformats.org/officeDocument/2006/relationships" id="2147483650" r:id="R19ca1c4006dd4350"/>
    <p:sldLayoutId xmlns:r="http://schemas.openxmlformats.org/officeDocument/2006/relationships" id="2147483651" r:id="Rc998c62b587e4648"/>
    <p:sldLayoutId xmlns:r="http://schemas.openxmlformats.org/officeDocument/2006/relationships" id="2147483652" r:id="R26c3a7a8f49949ef"/>
    <p:sldLayoutId xmlns:r="http://schemas.openxmlformats.org/officeDocument/2006/relationships" id="2147483653" r:id="R2b78f06ad0b84f9f"/>
    <p:sldLayoutId xmlns:r="http://schemas.openxmlformats.org/officeDocument/2006/relationships" id="2147483654" r:id="R352aba677f31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0bf30a46549b5" /><Relationship Type="http://schemas.openxmlformats.org/officeDocument/2006/relationships/notesSlide" Target="/ppt/notesSlides/notesSlide1.xml" Id="Rbc1be0107962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4c95637b64233" /><Relationship Type="http://schemas.openxmlformats.org/officeDocument/2006/relationships/notesSlide" Target="/ppt/notesSlides/notesSlide2.xml" Id="R28f1dd40245f4f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a821379c34257" /><Relationship Type="http://schemas.openxmlformats.org/officeDocument/2006/relationships/notesSlide" Target="/ppt/notesSlides/notesSlide3.xml" Id="R087c1b8d7035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a37d30f7b4df8" /><Relationship Type="http://schemas.openxmlformats.org/officeDocument/2006/relationships/notesSlide" Target="/ppt/notesSlides/notesSlide4.xml" Id="Rea227f014853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50ca8c20e4f18" /><Relationship Type="http://schemas.openxmlformats.org/officeDocument/2006/relationships/notesSlide" Target="/ppt/notesSlides/notesSlide5.xml" Id="Rd6548e3a59fc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d5a1489f4e2c" /><Relationship Type="http://schemas.openxmlformats.org/officeDocument/2006/relationships/notesSlide" Target="/ppt/notesSlides/notesSlide6.xml" Id="R32c75768038c4f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8f49efd814630" /><Relationship Type="http://schemas.openxmlformats.org/officeDocument/2006/relationships/notesSlide" Target="/ppt/notesSlides/notesSlide7.xml" Id="R5722fdb42c28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dbd9e499d408e" /><Relationship Type="http://schemas.openxmlformats.org/officeDocument/2006/relationships/notesSlide" Target="/ppt/notesSlides/notesSlide8.xml" Id="Rf07f6a46fd26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0232297814e67" /><Relationship Type="http://schemas.openxmlformats.org/officeDocument/2006/relationships/notesSlide" Target="/ppt/notesSlides/notesSlide9.xml" Id="R457b8354ea5c42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1799680444c8a" /><Relationship Type="http://schemas.openxmlformats.org/officeDocument/2006/relationships/notesSlide" Target="/ppt/notesSlides/notesSlide10.xml" Id="R1db5f6c69ed543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da1620dac4248" /><Relationship Type="http://schemas.openxmlformats.org/officeDocument/2006/relationships/notesSlide" Target="/ppt/notesSlides/notesSlide11.xml" Id="R116f78cc6f424d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677987a0c4f23" /><Relationship Type="http://schemas.openxmlformats.org/officeDocument/2006/relationships/notesSlide" Target="/ppt/notesSlides/notesSlide12.xml" Id="R7c42a2a59c9a46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343812d964557" /><Relationship Type="http://schemas.openxmlformats.org/officeDocument/2006/relationships/notesSlide" Target="/ppt/notesSlides/notesSlide13.xml" Id="R8f1db426e8ad45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6b597c4ea4811" /><Relationship Type="http://schemas.openxmlformats.org/officeDocument/2006/relationships/notesSlide" Target="/ppt/notesSlides/notesSlide14.xml" Id="Rcab1589daa3049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28c41c42145c5" /><Relationship Type="http://schemas.openxmlformats.org/officeDocument/2006/relationships/notesSlide" Target="/ppt/notesSlides/notesSlide15.xml" Id="R8af47127b7d642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36f832b8f4070" /><Relationship Type="http://schemas.openxmlformats.org/officeDocument/2006/relationships/notesSlide" Target="/ppt/notesSlides/notesSlide16.xml" Id="R0c5b99cb245140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33155642b4bf7" /><Relationship Type="http://schemas.openxmlformats.org/officeDocument/2006/relationships/image" Target="/ppt/media/image.png" Id="R317eb0619bfb43f1" /><Relationship Type="http://schemas.openxmlformats.org/officeDocument/2006/relationships/image" Target="/ppt/media/image2.png" Id="R096491c2cba340b6" /><Relationship Type="http://schemas.openxmlformats.org/officeDocument/2006/relationships/notesSlide" Target="/ppt/notesSlides/notesSlide17.xml" Id="R0f8a2b2d093a46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b593359334f7f" /><Relationship Type="http://schemas.openxmlformats.org/officeDocument/2006/relationships/image" Target="/ppt/media/image3.png" Id="R9bdc50360bb7421b" /><Relationship Type="http://schemas.openxmlformats.org/officeDocument/2006/relationships/image" Target="/ppt/media/image4.png" Id="R67f39057378b4a02" /><Relationship Type="http://schemas.openxmlformats.org/officeDocument/2006/relationships/notesSlide" Target="/ppt/notesSlides/notesSlide18.xml" Id="R6cbcc1fb8a6d4b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e234304274e73" /><Relationship Type="http://schemas.openxmlformats.org/officeDocument/2006/relationships/image" Target="/ppt/media/image5.png" Id="R0104d7616d5a47cf" /><Relationship Type="http://schemas.openxmlformats.org/officeDocument/2006/relationships/image" Target="/ppt/media/image6.png" Id="R91e87938b6bc4a40" /><Relationship Type="http://schemas.openxmlformats.org/officeDocument/2006/relationships/notesSlide" Target="/ppt/notesSlides/notesSlide19.xml" Id="Rd0a7a712665443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4dfad13da4157" /><Relationship Type="http://schemas.openxmlformats.org/officeDocument/2006/relationships/notesSlide" Target="/ppt/notesSlides/notesSlide20.xml" Id="Rab3112934fb746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d0497849e4da9" /><Relationship Type="http://schemas.openxmlformats.org/officeDocument/2006/relationships/notesSlide" Target="/ppt/notesSlides/notesSlide21.xml" Id="Rf95e460c77b749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71647af9d46ab" /><Relationship Type="http://schemas.openxmlformats.org/officeDocument/2006/relationships/notesSlide" Target="/ppt/notesSlides/notesSlide22.xml" Id="R11c34d165b8443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21D3F-D963-4795-813A-FAF1EB5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74963-F796-438F-AE47-261A693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3CFB7-0CB0-4C0E-B554-3E5A334C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87D19-719F-43D5-ADEC-4C327E6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5BCE2-195E-4F92-816F-3ADBD74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54CDD-20A0-4430-B576-6DC8621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CD30D-8CCA-4485-97B5-433EB1A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0F34-4916-477B-A667-5A66F50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2F359-40F6-4906-B117-D1D39AB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1A040-9B4F-442C-B4B8-86B4B46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智造 PMC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4C53A-D787-4039-949E-C9DD9CB0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3459-5136-4812-89B6-5E329D7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面向制造企业的可追溽物料计划助手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2C2D-D1F3-4536-88B4-12AC1E1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5B021-DBC0-4946-96E2-6BDD355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0A489-AF6A-49E0-8B34-5A9918C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F73"/>
                </a:solidFill>
              </a:defRPr>
            </a:pPr>
            <a:r>
              <a:rPr sz="3900" b="1">
                <a:solidFill>
                  <a:srgbClr val="153F73"/>
                </a:solidFill>
              </a:rPr>
              <a:t>受控事实与确定性计算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0E934-E9A1-470E-854C-230692A6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D40"/>
                </a:solidFill>
              </a:defRPr>
            </a:pPr>
            <a:r>
              <a:rPr sz="2400" b="0">
                <a:solidFill>
                  <a:srgbClr val="172D40"/>
                </a:solidFill>
              </a:rPr>
              <a:t>连续对话中的 BOM、库存与采购分析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20DA8-258B-4120-9C39-C0C2DDF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项目研究汇报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651976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02EA5-DCD6-438D-A6D7-148A06A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900A-C22A-4366-B33C-9A97A3C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05E5-1CCC-41CF-8EC1-FA8BB9D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118AD-B2CD-46E7-9E7D-772F0AC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A0BFC-8BFF-45A6-95B6-552FA771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6C626-3943-43A1-B714-3C4500CF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53D8D-0748-4308-9F6F-E855D8B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CF340-A029-4959-87C6-9D34AF9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BF10-D014-47C8-8B21-9FA8D0EC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DA6AA-4218-4CB4-9FB7-ADBF2008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C8956-7726-4EB6-A239-A9E2A02A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38AE4-3DF5-432B-B02A-1E7F039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围绕任务、方法、证据与边界展开汇报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C59F0-150A-4E9D-B1BF-0EF3AEC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2DCA4-9327-4F1E-B91C-240CE73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56BFD-84DE-42C8-B48C-7FDD92C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A5EF5-F675-486B-8256-504522E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3702F-AC67-43AE-BD74-8EA73B5F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业务场景、困难、研究问题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C79DF-D779-4E41-9F12-2216F62F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5CB41-D3DA-42BF-9E65-F7C4F49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0B369-8F97-44B0-BA8C-3C85BA6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系统总览及图4—9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7399C-2157-4508-9DB2-759C0DF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81173-7A30-4D4F-9BB1-1886F57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42E61-F2A2-44D4-9CE2-DE526F5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完整案例、数量边界、验收与真实截图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D6368-1D2C-4342-BC7B-C4E5BDE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EA42D-305B-4AF6-8A54-4096EA61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52DB2-70F9-4FC0-B43F-1E42C1A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能力边界、局限及结论</a:t>
            </a:r>
          </a:p>
        </p:txBody>
      </p:sp>
    </p:spTree>
    <p:extLst>
      <p:ext uri="{BB962C8B-B14F-4D97-AF65-F5344CB8AC3E}">
        <p14:creationId xmlns:p14="http://schemas.microsoft.com/office/powerpoint/2010/main" val="264123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81B8B-E11F-44D2-B91D-A9F8702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C633-26E8-4C1C-A753-88190045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3F459-1F1C-474F-82B4-61B8E12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7EC31-3385-4E40-97E2-7D04496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9497A-6379-4586-BF41-8D9984B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F316-1E5A-46BB-BB31-DF81F45D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DC9BA-5FFD-4C96-9A32-326FE5F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80901-4061-4BEB-A2CF-EA85999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CC8DE-0B45-424A-BF67-C298214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4BC5C-6A19-460F-82A6-EBD633D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业务场景：生产任务的物料核对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171F7-F3FB-41C3-B7E5-B8D1296F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34800-2D45-48D3-8850-E5DF0FE9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计划员提出生产数量后，需要哪些事实才能判断？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6F521-2982-42FB-8F31-4D5D6D0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9F0B3-03A8-4C4E-841B-1527DDB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03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B7B75-1AFD-4F1D-BC14-3EE3463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输入任务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C8C1E-C9BC-4FE0-80E3-EF5EA63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“生产100台，物料是否齐套？”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产品与目标数量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BOM版本和生效日期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库存分析时点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66EF8-C33C-48B0-8AD3-26E7DA83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99FC7-23DD-45B5-A0A6-E48EB2E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核对输出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5C8FF-1D29-498D-B3F3-A1852C1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每种物料的需求、可用量与缺口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完整性与异常原因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可追溯的数据来源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符合条件时的采购建议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58A22-35AB-4033-A907-5A55B4F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本稿案例全部使用 DEMO-PMC-01 合成数据，不展示企业原始库存。</a:t>
            </a:r>
          </a:p>
        </p:txBody>
      </p:sp>
    </p:spTree>
    <p:extLst>
      <p:ext uri="{BB962C8B-B14F-4D97-AF65-F5344CB8AC3E}">
        <p14:creationId xmlns:p14="http://schemas.microsoft.com/office/powerpoint/2010/main" val="468626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1D2A9-5BB8-4F17-8D6A-D7A76FE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15D80-63F0-4A8B-9FB0-9699919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B119-0830-4931-BA2F-7E94953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6B11-18A8-46D8-8D2A-33676186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79B7-1753-4AB6-99FA-4938A56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1D4DB-9AC0-4E24-ABF6-DCBD7C2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148B-2A9D-4415-B781-1E9CEBD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9D223-0CA2-4A57-A1D6-8172057E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9C027-EA38-4E78-A173-27EB7ED0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6F49-3CFF-42EC-B134-9E2E13D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现有困难：缺失、歧义与时点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BF50A-8FD0-4FA8-83C6-B3393A2A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666FC-6214-4894-BF3D-170315C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哪些信息问题会让一个看似完整的回答失去依据？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55820-E70C-493E-A692-F5CE3E0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7773F-2FC4-4F9C-9A24-A08083B7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9C18A-4837-49DE-9367-F175513B4450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11144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困难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可能影响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项目处理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版本或产品不唯一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核对对象错误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精确匹配，歧义先澄清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数量、单位、时点缺失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不可比或不可计算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参数校验与明确补充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库存记录不完整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未知误作零或可用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保留 null 和完整性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回答脱离来源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难以核查缺料原因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结构化证据与来源查询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A4A0B-7CBF-4DB9-B6C7-2DD52C0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困难来自当前代码的校验分支，未引用无来源行业占比。</a:t>
            </a:r>
          </a:p>
        </p:txBody>
      </p:sp>
    </p:spTree>
    <p:extLst>
      <p:ext uri="{BB962C8B-B14F-4D97-AF65-F5344CB8AC3E}">
        <p14:creationId xmlns:p14="http://schemas.microsoft.com/office/powerpoint/2010/main" val="1059671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A4AB9-C721-4EA0-89D8-96B1F89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0BABA-3B77-4896-9F2E-88A105E0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580B6-C58C-4BE5-8034-B776459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C23F5-E150-4842-AF62-65B98F3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8F0E-877B-4AA2-81A5-09006126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E71F8-9C38-4191-BA84-9AEAE1B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90130-72EB-4C27-83F6-F45C4EB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A35AE-E4AB-4706-B0D9-638E188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8A854-BBB8-4EB7-BCF0-8FFC54C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3AEF8-1E8E-43D5-90DF-7FC22E2E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研究问题与实现目标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451E6-71AD-4BFE-95EB-AE39A9C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A3782-F2EF-475A-AFAC-7A18E58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如何让自然语言任务得到可验证的业务结果？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FCE5E-B60D-4E78-9D5D-5C20F7B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33536-7E98-4840-A2B5-235E16D1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05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73207-977C-4596-89A1-EE9E192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问题一：事实从哪里来？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36CBB-B1F2-411A-A141-443863EF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受控导入、发布状态与来源绑定限定查询范围。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233E6-2C65-46C1-A22F-90B036E2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问题二：业务数字由谁产生？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4A419-EEE1-4C44-94A9-78243015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白名单工具调用 Python Service，语言层组织受约束的事实说明。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31869-EBE2-4D63-A6A5-40FEF6C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问题三：追问如何保持同一任务？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A2E0F-95CB-4F84-A1D4-FC68059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核对产品、数量、版本与时点后复用 Evidence。</a:t>
            </a:r>
          </a:p>
        </p:txBody>
      </p:sp>
    </p:spTree>
    <p:extLst>
      <p:ext uri="{BB962C8B-B14F-4D97-AF65-F5344CB8AC3E}">
        <p14:creationId xmlns:p14="http://schemas.microsoft.com/office/powerpoint/2010/main" val="650958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EBF9D-5F0F-4E10-AB69-04F642026ED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96500" y="5000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9A95E-1C73-4AFA-99B4-CC511FF10566}"/>
              </a:ext>
            </a:extLst>
          </p:cNvPr>
          <p:cNvCxnSpPr>
            <a:stCxn xmlns:a="http://schemas.openxmlformats.org/drawingml/2006/main" id="22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096500" y="3286125"/>
            <a:ext cx="238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35E0F-4B9B-42AB-B166-753AF9F94C1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048625" y="4572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CF663-9FDF-4FD5-B665-4FF03B11F48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786563" y="3286125"/>
            <a:ext cx="238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DF489-BF25-4DDA-8158-E7EAEDFBA59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28813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3C3C-6316-415A-AC7E-87465693A05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095500" y="2790825"/>
            <a:ext cx="47625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B5778-7B93-4963-B8EE-A752A441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6C5C2-93B4-4FE4-A399-0F0491E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1295A-2B3C-4231-B189-AE8708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44D16-9EF8-4293-B9EE-D8CB29D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946D1-41DC-46A8-B9D9-673FEFD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88B9C-5167-4BC9-B3FC-86C2EBB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4C09E-CE2C-4978-9C84-E4FE0BE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7802D-146D-4A6D-94B2-1A24346F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58360-4E11-4765-B387-3F1349D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4586F-143C-4F30-861A-D6C3D96A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图5  系统总览与职责分工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25437-1E56-44DA-A89E-8AD9B47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AF058-4D18-4E42-819D-1A08989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 Trial 如何完成从页面到事实再到回答的调用？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42FD1-60B5-4B14-9227-FBE3E44E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EFD58-0423-4FF1-85CA-77EDFD3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C6DE-FE2C-4F1C-8C9C-E8A5ECC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Vue 工作台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79F55-D9E4-4699-A90B-E460882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 FastAPI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会话所有权校验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5C7B1-4914-40B2-BE23-6260F32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Persistent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 / Orchestrator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FA486-ECA1-4985-8564-77C86EEF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回答与历史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79438-CC5F-4717-98DE-4FC01FC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2524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Tool Registry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白名单与参数校验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79401-0B35-4300-99B9-7398352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Published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BOM / 库存 / 采购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978E-929F-4A23-BD25-3DFF8FBC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816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独立 Demo SQLite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已发布合成事实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D66177-0990-43D9-B1ED-A0067A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其他入口（未混入本次链路）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企业：受控账面查询优先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旧生产路径：LangGraph PMC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162D7-9300-46B2-AC19-3260A2EF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本次模式：Trial 禁用模型出站；开发环境可选 LLM，旧路径单独保留。</a:t>
            </a:r>
          </a:p>
        </p:txBody>
      </p:sp>
    </p:spTree>
    <p:extLst>
      <p:ext uri="{BB962C8B-B14F-4D97-AF65-F5344CB8AC3E}">
        <p14:creationId xmlns:p14="http://schemas.microsoft.com/office/powerpoint/2010/main" val="1744599803"/>
      </p:ext>
    </p:extLst>
  </p:cSld>
</p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9" name="">
            <ns1:extLst>
              <ns1:ext uri="{FF2B5EF4-FFF2-40B4-BE49-F238E27FC236}">
                <ns2:creationId id="{30A8A071-107C-4187-99C4-866A3C9AD779}"/>
              </ns1:ext>
            </ns1:extLst>
          </ns0:cNvPr>
          <ns0:cNvCxnSpPr>
            <ns1:stCxn id="20" idx="2"/>
            <ns1:endCxn id="21" idx="0"/>
          </ns0:cNvCxnSpPr>
          <ns0:nvPr/>
        </ns0:nvCxnSpPr>
        <ns0:spPr>
          <ns1:xfrm>
            <ns1:off x="10096500" y="4905375"/>
            <ns1:ext cx="0" cy="428625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7" name="">
            <ns1:extLst>
              <ns1:ext uri="{FF2B5EF4-FFF2-40B4-BE49-F238E27FC236}">
                <ns2:creationId id="{D8391DC6-DA70-4D13-A6FC-91B7CD2D1049}"/>
              </ns1:ext>
            </ns1:extLst>
          </ns0:cNvPr>
          <ns0:cNvCxnSpPr>
            <ns1:stCxn id="19" idx="3"/>
            <ns1:endCxn id="20" idx="1"/>
          </ns0:cNvCxnSpPr>
          <ns0:nvPr/>
        </ns0:nvCxnSpPr>
        <ns0:spPr>
          <ns1:xfrm>
            <ns1:off x="7905750" y="4500563"/>
            <ns1:ext cx="90487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6" name="">
            <ns1:extLst>
              <ns1:ext uri="{FF2B5EF4-FFF2-40B4-BE49-F238E27FC236}">
                <ns2:creationId id="{06840E81-F1BB-48EA-87C3-7EB816A09422}"/>
              </ns1:ext>
            </ns1:extLst>
          </ns0:cNvPr>
          <ns0:cNvCxnSpPr>
            <ns1:stCxn id="17" idx="3"/>
            <ns1:endCxn id="20" idx="1"/>
          </ns0:cNvCxnSpPr>
          <ns0:nvPr/>
        </ns0:nvCxnSpPr>
        <ns0:spPr>
          <ns1:xfrm>
            <ns1:off x="7429500" y="2881313"/>
            <ns1:ext cx="1381125" cy="16192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5" name="">
            <ns1:extLst>
              <ns1:ext uri="{FF2B5EF4-FFF2-40B4-BE49-F238E27FC236}">
                <ns2:creationId id="{5DB2448F-AC26-4E7E-A9FF-5C546FAAEBAC}"/>
              </ns1:ext>
            </ns1:extLst>
          </ns0:cNvPr>
          <ns0:cNvCxnSpPr>
            <ns1:stCxn id="17" idx="2"/>
            <ns1:endCxn id="19" idx="0"/>
          </ns0:cNvCxnSpPr>
          <ns0:nvPr/>
        </ns0:nvCxnSpPr>
        <ns0:spPr>
          <ns1:xfrm>
            <ns1:off x="6619875" y="3286125"/>
            <ns1:ext cx="238125" cy="809625"/>
          </ns1:xfrm>
          <ns1:prstGeom prst="bentConnector4">
            <ns1:avLst>
              <ns1:gd name="adj1" fmla="val 0"/>
              <ns1:gd name="adj2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4" name="">
            <ns1:extLst>
              <ns1:ext uri="{FF2B5EF4-FFF2-40B4-BE49-F238E27FC236}">
                <ns2:creationId id="{2DA20368-AD3D-4A8E-869B-D6D2BD34AF66}"/>
              </ns1:ext>
            </ns1:extLst>
          </ns0:cNvPr>
          <ns0:cNvCxnSpPr>
            <ns1:stCxn id="17" idx="3"/>
            <ns1:endCxn id="18" idx="1"/>
          </ns0:cNvCxnSpPr>
          <ns0:nvPr/>
        </ns0:nvCxnSpPr>
        <ns0:spPr>
          <ns1:xfrm flipV="1">
            <ns1:off x="7429500" y="2595563"/>
            <ns1:ext cx="1381125" cy="2857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3" name="">
            <ns1:extLst>
              <ns1:ext uri="{FF2B5EF4-FFF2-40B4-BE49-F238E27FC236}">
                <ns2:creationId id="{902B61E6-774A-41CF-B243-1C055BDF7FF3}"/>
              </ns1:ext>
            </ns1:extLst>
          </ns0:cNvPr>
          <ns0:cNvCxnSpPr>
            <ns1:stCxn id="16" idx="3"/>
            <ns1:endCxn id="17" idx="1"/>
          </ns0:cNvCxnSpPr>
          <ns0:nvPr/>
        </ns0:nvCxnSpPr>
        <ns0:spPr>
          <ns1:xfrm>
            <ns1:off x="5191125" y="2881313"/>
            <ns1:ext cx="61912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2" name="">
            <ns1:extLst>
              <ns1:ext uri="{FF2B5EF4-FFF2-40B4-BE49-F238E27FC236}">
                <ns2:creationId id="{B27FA4D1-827B-45D9-8476-4EB609E9DEF4}"/>
              </ns1:ext>
            </ns1:extLst>
          </ns0:cNvPr>
          <ns0:cNvCxnSpPr>
            <ns1:stCxn id="15" idx="3"/>
            <ns1:endCxn id="16" idx="1"/>
          </ns0:cNvCxnSpPr>
          <ns0:nvPr/>
        </ns0:nvCxnSpPr>
        <ns0:spPr>
          <ns1:xfrm>
            <ns1:off x="2428875" y="2790825"/>
            <ns1:ext cx="523875" cy="90488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sp>
        <ns0:nvSpPr>
          <ns0:cNvPr id="35" name="">
            <ns1:extLst>
              <ns1:ext uri="{FF2B5EF4-FFF2-40B4-BE49-F238E27FC236}">
                <ns2:creationId id="{5242EC27-9712-4FB8-B6C3-2D21C257BB9D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142875"/>
            <ns1:ext cx="2381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53F73"/>
                </ns1:solidFill>
              </ns1:defRPr>
            </ns1:defPPr>
          </ns1:lstStyle>
          <ns1:p>
            <ns1:pPr>
              <ns1:defRPr sz="1800" b="1">
                <ns1:solidFill>
                  <ns1:srgbClr val="153F73"/>
                </ns1:solidFill>
              </ns1:defRPr>
            </ns1:pPr>
            <ns1:r>
              <ns1:rPr sz="1800" b="1">
                <ns1:solidFill>
                  <ns1:srgbClr val="153F73"/>
                </ns1:solidFill>
              </ns1:rPr>
              <ns1:t>PMC-Agent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FA54B03-EBFB-41C1-A5EA-1886407CDF63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研究背景及动机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1DEBD8E-95BD-4FA0-AA14-8FD6C577181F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85725"/>
            <ns1:ext cx="1952625" cy="400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2272ACC9-9275-4B51-A8F1-274E1D545967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模型方法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940102C-EF03-4BA4-A8B5-F6457D47E109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实验结果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757C093A-6DE8-40DC-B77C-F6850ED10283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结论与讨论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E44642A9-5584-43F4-BEDB-15F847B5782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90550"/>
            <ns1:ext cx="12192000" cy="38100"/>
          </ns1:xfrm>
          <ns1:prstGeom prst="rect">
            <ns1:avLst/>
          </ns1:prstGeom>
          <ns1:solidFill>
            <ns1:srgbClr val="D9E4EF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BAA26836-93E2-4C0B-A444-52E40D1E0D7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628650"/>
            <ns1:ext cx="838200" cy="762000"/>
          </ns1:xfrm>
          <ns1:prstGeom prst="rect">
            <ns1:avLst/>
          </ns1:prstGeom>
          <ns1:solidFill>
            <ns1:srgbClr val="153F73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4672DF9C-92FE-4C64-B2E5-44E20ED1C3A0}"/>
              </ns1:ext>
            </ns1:extLst>
          </ns0:cNvPr>
          <ns0:cNvSpPr>
            <ns1:spLocks noGrp="1"/>
          </ns0:cNvSpPr>
          <ns0:nvPr/>
        </ns0:nvSpPr>
        <ns0:spPr>
          <ns1:xfrm>
            <ns1:off x="133350" y="800100"/>
            <ns1:ext cx="6858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0">
                <ns1:solidFill>
                  <ns1:srgbClr val="FFFFFF"/>
                </ns1:solidFill>
              </ns1:defRPr>
            </ns1:defPPr>
          </ns1:lstStyle>
          <ns1:p>
            <ns1:pPr>
              <ns1:defRPr sz="3150" b="0">
                <ns1:solidFill>
                  <ns1:srgbClr val="FFFFFF"/>
                </ns1:solidFill>
              </ns1:defRPr>
            </ns1:pPr>
            <ns1:r>
              <ns1:rPr sz="3150" b="0">
                <ns1:solidFill>
                  <ns1:srgbClr val="FFFFFF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09341252-E0C3-4467-8000-1FCCB43280F5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819150"/>
            <ns1:ext cx="107632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53F73"/>
                </ns1:solidFill>
              </ns1:defRPr>
            </ns1:defPPr>
          </ns1:lstStyle>
          <ns1:p>
            <ns1:pPr>
              <ns1:defRPr sz="2700" b="1">
                <ns1:solidFill>
                  <ns1:srgbClr val="153F73"/>
                </ns1:solidFill>
              </ns1:defRPr>
            </ns1:pPr>
            <ns1:r>
              <ns1:rPr sz="2700" b="1">
                <ns1:solidFill>
                  <ns1:srgbClr val="153F73"/>
                </ns1:solidFill>
              </ns1:rPr>
              <ns1:t>图4  受控事实导入与发布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91C3014-181E-4936-99AF-AD358C1E3E2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381125"/>
            <ns1:ext cx="12192000" cy="19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8CF03A26-D1BB-45A7-8B88-D156799CC85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609725"/>
            <ns1:ext cx="1114425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72D40"/>
                </ns1:solidFill>
              </ns1:defRPr>
            </ns1:defPPr>
          </ns1:lstStyle>
          <ns1:p>
            <ns1:pPr>
              <ns1:defRPr sz="1800" b="1">
                <ns1:solidFill>
                  <ns1:srgbClr val="172D40"/>
                </ns1:solidFill>
              </ns1:defRPr>
            </ns1:pPr>
            <ns1:r>
              <ns1:rPr sz="1800" b="1">
                <ns1:solidFill>
                  <ns1:srgbClr val="172D40"/>
                </ns1:solidFill>
              </ns1:rPr>
              <ns1:t>原始 BOM 在什么条件下可以进入可查询事实？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4CDA6958-A18F-42C1-A66A-49DCC2F591AC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515100"/>
            <ns1:ext cx="57150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0">
                <ns1:solidFill>
                  <ns1:srgbClr val="627487"/>
                </ns1:solidFill>
              </ns1:defRPr>
            </ns1:defPPr>
          </ns1:lstStyle>
          <ns1:p>
            <ns1:pPr>
              <ns1:defRPr sz="1050" b="0">
                <ns1:solidFill>
                  <ns1:srgbClr val="627487"/>
                </ns1:solidFill>
              </ns1:defRPr>
            </ns1:pPr>
            <ns1:r>
              <ns1:rPr sz="1050" b="0">
                <ns1:solidFill>
                  <ns1:srgbClr val="627487"/>
                </ns1:solidFill>
              </ns1:rPr>
              <ns1:t>PMC-Agent 项目研究汇报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D80E1280-0858-4E31-81F9-A0438AB997A7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86525"/>
            <ns1:ext cx="1047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0">
                <ns1:solidFill>
                  <ns1:srgbClr val="627487"/>
                </ns1:solidFill>
              </ns1:defRPr>
            </ns1:defPPr>
          </ns1:lstStyle>
          <ns1:p>
            <ns1:pPr>
              <ns1:defRPr sz="1200" b="0">
                <ns1:solidFill>
                  <ns1:srgbClr val="627487"/>
                </ns1:solidFill>
              </ns1:defRPr>
            </ns1:pPr>
            <ns1:r>
              <ns1:rPr sz="1200" b="0">
                <ns1:solidFill>
                  <ns1:srgbClr val="627487"/>
                </ns1:solidFill>
              </ns1:rPr>
              <ns1:t>07 / 22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72C0E0F-AC2E-49FB-8D00-D0A0271809A2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476500"/>
            <ns1:ext cx="1905000" cy="628650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来源文件与映射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B7B5D788-18C7-4CBA-BB03-D97035F6E008}"/>
              </ns1:ext>
            </ns1:extLst>
          </ns0:cNvPr>
          <ns0:cNvSpPr>
            <ns1:spLocks noGrp="1"/>
          </ns0:cNvSpPr>
          <ns0:nvPr/>
        </ns0:nvSpPr>
        <ns0:spPr>
          <ns1:xfrm>
            <ns1:off x="2952750" y="2476500"/>
            <ns1:ext cx="2238375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stage_bom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暂存与逐行校验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06E4209-BD89-433A-B663-56361F5C0C58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2476500"/>
            <ns1:ext cx="1619250" cy="809625"/>
          </ns1:xfrm>
          <ns1:prstGeom prst="diamond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状态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D6C34CF8-BC5A-41C4-8D62-2D26BB9954ED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2190750"/>
            <ns1:ext cx="2571750" cy="809625"/>
          </ns1:xfrm>
          <ns1:prstGeom prst="rect">
            <ns1:avLst/>
          </ns1:prstGeom>
          <ns1:solidFill>
            <ns1:srgbClr val="FFF2EF"/>
          </ns1:solidFill>
          <ns1:ln w="14288">
            <ns1:solidFill>
              <ns1:srgbClr val="B44635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B44635"/>
                </ns1:solidFill>
              </ns1:defRPr>
            </ns1:defPPr>
          </ns1:lstStyle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INVALID</ns1:t>
            </ns1:r>
          </ns1:p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保留错误，不发布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9F959C8C-0BA6-4B8A-83E8-C279D40195C0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4095750"/>
            <ns1:ext cx="209550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待确认字段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人工确认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F9C76090-A788-4745-A086-3E8BDEC180B0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4095750"/>
            <ns1:ext cx="257175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READY_TO_PUBLISH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A090C82E-661A-4F76-9ECF-592A419CD112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5334000"/>
            <ns1:ext cx="2571750" cy="609600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publish_batch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原子发布及来源审计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A2A3FEEE-7E31-4626-B3F1-0136FA32CA1A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2143125"/>
            <ns1:ext cx="1238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B44635"/>
                </ns1:solidFill>
              </ns1:defRPr>
            </ns1:defPPr>
          </ns1:lstStyle>
          <ns1:p>
            <ns1:pPr>
              <ns1:defRPr sz="1425" b="0">
                <ns1:solidFill>
                  <ns1:srgbClr val="B44635"/>
                </ns1:solidFill>
              </ns1:defRPr>
            </ns1:pPr>
            <ns1:r>
              <ns1:rPr sz="1425" b="0">
                <ns1:solidFill>
                  <ns1:srgbClr val="B44635"/>
                </ns1:solidFill>
              </ns1:rPr>
              <ns1:t>有错误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35F56857-DFA3-4CA7-A8BF-B0920C67F6B6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3619500"/>
            <ns1:ext cx="15240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172D40"/>
                </ns1:solidFill>
              </ns1:defRPr>
            </ns1:defPPr>
          </ns1:lstStyle>
          <ns1:p>
            <ns1:pPr>
              <ns1:defRPr sz="1425" b="0">
                <ns1:solidFill>
                  <ns1:srgbClr val="172D40"/>
                </ns1:solidFill>
              </ns1:defRPr>
            </ns1:pPr>
            <ns1:r>
              <ns1:rPr sz="1425" b="0">
                <ns1:solidFill>
                  <ns1:srgbClr val="172D40"/>
                </ns1:solidFill>
              </ns1:rPr>
              <ns1:t>需确认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BF206872-3C58-4BF3-BD13-4CC4C19F9261}"/>
              </ns1:ext>
            </ns1:extLst>
          </ns0:cNvPr>
          <ns0:cNvSpPr>
            <ns1:spLocks noGrp="1"/>
          </ns0:cNvSpPr>
          <ns0:nvPr/>
        </ns0:nvSpPr>
        <ns0:spPr>
          <ns1:xfrm>
            <ns1:off x="7477125" y="3486150"/>
            <ns1:ext cx="15240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172D40"/>
                </ns1:solidFill>
              </ns1:defRPr>
            </ns1:defPPr>
          </ns1:lstStyle>
          <ns1:p>
            <ns1:pPr>
              <ns1:defRPr sz="1425" b="0">
                <ns1:solidFill>
                  <ns1:srgbClr val="172D40"/>
                </ns1:solidFill>
              </ns1:defRPr>
            </ns1:pPr>
            <ns1:r>
              <ns1:rPr sz="1425" b="0">
                <ns1:solidFill>
                  <ns1:srgbClr val="172D40"/>
                </ns1:solidFill>
              </ns1:rPr>
              <ns1:t>已满足条件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E6CEB169-1BB0-418B-BFAF-767968EDB69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238625"/>
            <ns1:ext cx="4572000" cy="1524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72D40"/>
                </ns1:solidFill>
              </ns1:defRPr>
            </ns1:defPPr>
          </ns1:lstStyle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确认不是统一必经步骤</ns1:t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只对待确认字段执行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Demo 由场景包幂等发布</ns1:t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不冒充企业人工导入过程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939E17E8-E917-4527-8AB4-B9AF700CD22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153150"/>
            <ns1:ext cx="11144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27487"/>
                </ns1:solidFill>
              </ns1:defRPr>
            </ns1:defPPr>
          </ns1:lstStyle>
          <ns1:p>
            <ns1:pPr>
              <ns1:defRPr sz="1350" b="0">
                <ns1:solidFill>
                  <ns1:srgbClr val="627487"/>
                </ns1:solidFill>
              </ns1:defRPr>
            </ns1:pPr>
            <ns1:r>
              <ns1:rPr sz="1350" b="0">
                <ns1:solidFill>
                  <ns1:srgbClr val="627487"/>
                </ns1:solidFill>
              </ns1:rPr>
              <ns1:t>图示为企业 BOM 导入路径。本次 Demo 初始化是独立场景发布路径。</ns1:t>
            </ns1:r>
          </ns1:p>
        </ns0:txBody>
      </ns0:sp>
    </ns0:spTree>
    <ns0:extLst>
      <ns0:ext uri="{BB962C8B-B14F-4D97-AF65-F5344CB8AC3E}">
        <ns3:creationId val="572544197"/>
      </ns0:ext>
    </ns0:extLst>
  </ns0:cSld>
</ns0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5B0D6-619B-4BD1-AF53-E70E217FEE4B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144000" y="4572000"/>
            <a:ext cx="1452563" cy="9286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DDA5C-BA9C-4835-8814-8D1406D65E3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5667375" y="4143375"/>
            <a:ext cx="3810000" cy="500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9DCF8-508C-470B-8A33-C92112E6B78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239250" y="2738438"/>
            <a:ext cx="1357313" cy="97631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30969-D366-46F0-8504-3BA35A952C7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286250" y="3286125"/>
            <a:ext cx="166688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D8411-F4AA-4A8E-8BBD-A029B2728CA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334000" y="2738438"/>
            <a:ext cx="11430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376CC-1A4E-42ED-9787-B9C5E8BC75D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2790825"/>
            <a:ext cx="57150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38F01-239F-4B6E-95B9-01C9A44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73A7A-FC75-4E6D-A7C3-4B92D3D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D132A-BB4C-41BA-AA5B-638B645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40390-89D0-4401-B679-88D565C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82D03-C27B-4B34-B0CE-0A85B7A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F255-6E88-4BC3-87A9-F057A68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C4A92-B0D5-4C6C-AD4C-56B9E55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9A64F-2C47-41F9-84EA-22A05EB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63742-890E-45A0-AA6F-63F60676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9141C-139D-46B7-800E-84E8850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图6  问题规划及产品上下文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FB949-722A-413C-909B-AFD4F63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CBE83-4298-442C-B869-5CD32DB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怎样避免产品歧义与上一轮条件污染？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3155B-BD5E-448F-B493-52E95E3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B2E01-12CA-4883-9B9C-E8CAF6B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08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A1A2-7791-4D58-AABE-A32B800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143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用户问题与历史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E666E-3981-488A-AE26-2BD48DB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95500" cy="809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入口模式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D41C-35C6-4A00-A1FC-B18EFE61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企业 / Review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权限目录精确解析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7240E-A629-4932-8CC0-A69C495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固定 Demo 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D0F34-5368-489A-93A5-1B53B54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任务与缺失参数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70CE6-A1E2-4B5C-8796-DD5CF38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澄清 / 拒绝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不执行工具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1A4E6-F492-4A7A-AB7A-773F53D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企业路径：明确编码优先，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多候选澄清，目录浏览不切换。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1D38A-183A-4674-AF37-410EB92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053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参数完整时调用工具</a:t>
            </a:r>
          </a:p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上下文解析失败返回说明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62BBC-C543-4E88-A54A-FFE503BC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企业产品切换与 Trial 固定场景是两种入口，不能拼成统一必经流程。</a:t>
            </a:r>
          </a:p>
        </p:txBody>
      </p:sp>
    </p:spTree>
    <p:extLst>
      <p:ext uri="{BB962C8B-B14F-4D97-AF65-F5344CB8AC3E}">
        <p14:creationId xmlns:p14="http://schemas.microsoft.com/office/powerpoint/2010/main" val="24896905"/>
      </p:ext>
    </p:extLst>
  </p:cSld>
</p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7" name="">
            <ns1:extLst>
              <ns1:ext uri="{FF2B5EF4-FFF2-40B4-BE49-F238E27FC236}">
                <ns2:creationId id="{129EB4F4-23C2-45AB-9D82-FCA8733C3A6E}"/>
              </ns1:ext>
            </ns1:extLst>
          </ns0:cNvPr>
          <ns0:cNvCxnSpPr>
            <ns1:stCxn id="19" idx="2"/>
            <ns1:endCxn id="21" idx="0"/>
          </ns0:cNvCxnSpPr>
          <ns0:nvPr/>
        </ns0:nvCxnSpPr>
        <ns0:spPr>
          <ns1:xfrm>
            <ns1:off x="5381625" y="5000625"/>
            <ns1:ext cx="0" cy="38100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6" name="">
            <ns1:extLst>
              <ns1:ext uri="{FF2B5EF4-FFF2-40B4-BE49-F238E27FC236}">
                <ns2:creationId id="{3E74FE93-45AE-459D-B342-DB287FADE777}"/>
              </ns1:ext>
            </ns1:extLst>
          </ns0:cNvPr>
          <ns0:cNvCxnSpPr>
            <ns1:stCxn id="19" idx="1"/>
            <ns1:endCxn id="20" idx="3"/>
          </ns0:cNvCxnSpPr>
          <ns0:nvPr/>
        </ns0:nvCxnSpPr>
        <ns0:spPr>
          <ns1:xfrm flipH="1" flipV="1">
            <ns1:off x="3238500" y="4524375"/>
            <ns1:ext cx="904875" cy="47625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5" name="">
            <ns1:extLst>
              <ns1:ext uri="{FF2B5EF4-FFF2-40B4-BE49-F238E27FC236}">
                <ns2:creationId id="{36A49E2F-A15F-4D75-96BE-19525DFB8419}"/>
              </ns1:ext>
            </ns1:extLst>
          </ns0:cNvPr>
          <ns0:cNvCxnSpPr>
            <ns1:stCxn id="18" idx="1"/>
            <ns1:endCxn id="19" idx="3"/>
          </ns0:cNvCxnSpPr>
          <ns0:nvPr/>
        </ns0:nvCxnSpPr>
        <ns0:spPr>
          <ns1:xfrm flipH="1">
            <ns1:off x="6619875" y="4572000"/>
            <ns1:ext cx="12382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4" name="">
            <ns1:extLst>
              <ns1:ext uri="{FF2B5EF4-FFF2-40B4-BE49-F238E27FC236}">
                <ns2:creationId id="{5D222569-B2EA-470A-8E18-24AE54D1F7A8}"/>
              </ns1:ext>
            </ns1:extLst>
          </ns0:cNvPr>
          <ns0:cNvCxnSpPr>
            <ns1:stCxn id="17" idx="2"/>
            <ns1:endCxn id="18" idx="0"/>
          </ns0:cNvCxnSpPr>
          <ns0:nvPr/>
        </ns0:nvCxnSpPr>
        <ns0:spPr>
          <ns1:xfrm>
            <ns1:off x="9429750" y="3143250"/>
            <ns1:ext cx="0" cy="1000125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3" name="">
            <ns1:extLst>
              <ns1:ext uri="{FF2B5EF4-FFF2-40B4-BE49-F238E27FC236}">
                <ns2:creationId id="{E7160ACB-B22A-44C5-993F-345CD0F1C758}"/>
              </ns1:ext>
            </ns1:extLst>
          </ns0:cNvPr>
          <ns0:cNvCxnSpPr>
            <ns1:stCxn id="16" idx="3"/>
            <ns1:endCxn id="17" idx="1"/>
          </ns0:cNvCxnSpPr>
          <ns0:nvPr/>
        </ns0:nvCxnSpPr>
        <ns0:spPr>
          <ns1:xfrm>
            <ns1:off x="6572250" y="2738438"/>
            <ns1:ext cx="128587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2" name="">
            <ns1:extLst>
              <ns1:ext uri="{FF2B5EF4-FFF2-40B4-BE49-F238E27FC236}">
                <ns2:creationId id="{359EF895-A1E3-4A04-866D-C0B45E74E57C}"/>
              </ns1:ext>
            </ns1:extLst>
          </ns0:cNvPr>
          <ns0:cNvCxnSpPr>
            <ns1:stCxn id="15" idx="3"/>
            <ns1:endCxn id="16" idx="1"/>
          </ns0:cNvCxnSpPr>
          <ns0:nvPr/>
        </ns0:nvCxnSpPr>
        <ns0:spPr>
          <ns1:xfrm>
            <ns1:off x="3143250" y="2738438"/>
            <ns1:ext cx="8572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sp>
        <ns0:nvSpPr>
          <ns0:cNvPr id="32" name="">
            <ns1:extLst>
              <ns1:ext uri="{FF2B5EF4-FFF2-40B4-BE49-F238E27FC236}">
                <ns2:creationId id="{8B736E26-4AC7-4187-BDD6-C78349426686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142875"/>
            <ns1:ext cx="2381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53F73"/>
                </ns1:solidFill>
              </ns1:defRPr>
            </ns1:defPPr>
          </ns1:lstStyle>
          <ns1:p>
            <ns1:pPr>
              <ns1:defRPr sz="1800" b="1">
                <ns1:solidFill>
                  <ns1:srgbClr val="153F73"/>
                </ns1:solidFill>
              </ns1:defRPr>
            </ns1:pPr>
            <ns1:r>
              <ns1:rPr sz="1800" b="1">
                <ns1:solidFill>
                  <ns1:srgbClr val="153F73"/>
                </ns1:solidFill>
              </ns1:rPr>
              <ns1:t>PMC-Agent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8227570-9B62-4088-A114-69E7DBD90D0E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研究背景及动机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2F30D1D-EA9C-48FB-A0B6-2709B92D8CEB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85725"/>
            <ns1:ext cx="1952625" cy="400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6DECF077-A266-41A7-879B-933E7FD96EAD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模型方法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7846E37-7CAE-4BE9-A096-A7A355718DE5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实验结果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A0EDDAC-E551-4617-BA31-B1539A32E19A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结论与讨论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DF6EB3A-5118-4560-8BEC-A3DE049EA18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90550"/>
            <ns1:ext cx="12192000" cy="38100"/>
          </ns1:xfrm>
          <ns1:prstGeom prst="rect">
            <ns1:avLst/>
          </ns1:prstGeom>
          <ns1:solidFill>
            <ns1:srgbClr val="D9E4EF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7A184A41-127D-4C2F-AFFD-1A01D97A076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628650"/>
            <ns1:ext cx="838200" cy="762000"/>
          </ns1:xfrm>
          <ns1:prstGeom prst="rect">
            <ns1:avLst/>
          </ns1:prstGeom>
          <ns1:solidFill>
            <ns1:srgbClr val="153F73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9981190F-8800-46AD-862D-92E3DFBFF9D0}"/>
              </ns1:ext>
            </ns1:extLst>
          </ns0:cNvPr>
          <ns0:cNvSpPr>
            <ns1:spLocks noGrp="1"/>
          </ns0:cNvSpPr>
          <ns0:nvPr/>
        </ns0:nvSpPr>
        <ns0:spPr>
          <ns1:xfrm>
            <ns1:off x="133350" y="800100"/>
            <ns1:ext cx="6858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0">
                <ns1:solidFill>
                  <ns1:srgbClr val="FFFFFF"/>
                </ns1:solidFill>
              </ns1:defRPr>
            </ns1:defPPr>
          </ns1:lstStyle>
          <ns1:p>
            <ns1:pPr>
              <ns1:defRPr sz="3150" b="0">
                <ns1:solidFill>
                  <ns1:srgbClr val="FFFFFF"/>
                </ns1:solidFill>
              </ns1:defRPr>
            </ns1:pPr>
            <ns1:r>
              <ns1:rPr sz="3150" b="0">
                <ns1:solidFill>
                  <ns1:srgbClr val="FFFFFF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9A8147D-C608-48F4-AB76-5D865383C88F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819150"/>
            <ns1:ext cx="107632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53F73"/>
                </ns1:solidFill>
              </ns1:defRPr>
            </ns1:defPPr>
          </ns1:lstStyle>
          <ns1:p>
            <ns1:pPr>
              <ns1:defRPr sz="2700" b="1">
                <ns1:solidFill>
                  <ns1:srgbClr val="153F73"/>
                </ns1:solidFill>
              </ns1:defRPr>
            </ns1:pPr>
            <ns1:r>
              <ns1:rPr sz="2700" b="1">
                <ns1:solidFill>
                  <ns1:srgbClr val="153F73"/>
                </ns1:solidFill>
              </ns1:rPr>
              <ns1:t>图7  物料需求与库存核对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D38274F7-7137-4014-BB2C-E2217EEF96E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381125"/>
            <ns1:ext cx="12192000" cy="19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BAE8F265-5C0B-4756-B87B-81C2F7A4825E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609725"/>
            <ns1:ext cx="1114425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72D40"/>
                </ns1:solidFill>
              </ns1:defRPr>
            </ns1:defPPr>
          </ns1:lstStyle>
          <ns1:p>
            <ns1:pPr>
              <ns1:defRPr sz="1800" b="1">
                <ns1:solidFill>
                  <ns1:srgbClr val="172D40"/>
                </ns1:solidFill>
              </ns1:defRPr>
            </ns1:pPr>
            <ns1:r>
              <ns1:rPr sz="1800" b="1">
                <ns1:solidFill>
                  <ns1:srgbClr val="172D40"/>
                </ns1:solidFill>
              </ns1:rPr>
              <ns1:t>多层 BOM 如何转化为需求、缺口和理论数量？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CF375DC3-144C-42F7-BFC1-88D8EC6B3E0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515100"/>
            <ns1:ext cx="57150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0">
                <ns1:solidFill>
                  <ns1:srgbClr val="627487"/>
                </ns1:solidFill>
              </ns1:defRPr>
            </ns1:defPPr>
          </ns1:lstStyle>
          <ns1:p>
            <ns1:pPr>
              <ns1:defRPr sz="1050" b="0">
                <ns1:solidFill>
                  <ns1:srgbClr val="627487"/>
                </ns1:solidFill>
              </ns1:defRPr>
            </ns1:pPr>
            <ns1:r>
              <ns1:rPr sz="1050" b="0">
                <ns1:solidFill>
                  <ns1:srgbClr val="627487"/>
                </ns1:solidFill>
              </ns1:rPr>
              <ns1:t>PMC-Agent 项目研究汇报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92CC806C-A4CB-45E0-AB6D-DC12AE6C94C2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86525"/>
            <ns1:ext cx="1047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0">
                <ns1:solidFill>
                  <ns1:srgbClr val="627487"/>
                </ns1:solidFill>
              </ns1:defRPr>
            </ns1:defPPr>
          </ns1:lstStyle>
          <ns1:p>
            <ns1:pPr>
              <ns1:defRPr sz="1200" b="0">
                <ns1:solidFill>
                  <ns1:srgbClr val="627487"/>
                </ns1:solidFill>
              </ns1:defRPr>
            </ns1:pPr>
            <ns1:r>
              <ns1:rPr sz="1200" b="0">
                <ns1:solidFill>
                  <ns1:srgbClr val="627487"/>
                </ns1:solidFill>
              </ns1:rPr>
              <ns1:t>09 / 22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4326EE1B-D3BE-44DC-889C-90BE8B536B2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333625"/>
            <ns1:ext cx="2619375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产品 / 版本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生效日 / 数量 / 时点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60F11AA-EF2D-4F4A-A223-7EAFEF355B71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2333625"/>
            <ns1:ext cx="257175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选择有效 BOM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walk 递归展开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2ED608D6-AC70-443C-A97D-B97C85029F95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2333625"/>
            <ns1:ext cx="314325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叶子用量汇总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显式单位换算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D6F17371-9164-4221-A270-28C5A27D6831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4143375"/>
            <ns1:ext cx="3143250" cy="857250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查询库存快照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校验可用量与来源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5A4013B-0682-4D22-A106-5F28C7BE6048}"/>
              </ns1:ext>
            </ns1:extLst>
          </ns0:cNvPr>
          <ns0:cNvSpPr>
            <ns1:spLocks noGrp="1"/>
          </ns0:cNvSpPr>
          <ns0:nvPr/>
        </ns0:nvSpPr>
        <ns0:spPr>
          <ns1:xfrm>
            <ns1:off x="4143375" y="4143375"/>
            <ns1:ext cx="2476500" cy="857250"/>
          </ns1:xfrm>
          <ns1:prstGeom prst="diamond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校验通过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/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5639BF5E-FDC8-4DFB-A8BB-FBBF78C93F7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095750"/>
            <ns1:ext cx="2714625" cy="857250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需求、缺口、齐套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理论上限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CC06B0A-C58A-4BBB-A793-FCA48CAACE2E}"/>
              </ns1:ext>
            </ns1:extLst>
          </ns0:cNvPr>
          <ns0:cNvSpPr>
            <ns1:spLocks noGrp="1"/>
          </ns0:cNvSpPr>
          <ns0:nvPr/>
        </ns0:nvSpPr>
        <ns0:spPr>
          <ns1:xfrm>
            <ns1:off x="4143375" y="5381625"/>
            <ns1:ext cx="2476500" cy="571500"/>
          </ns1:xfrm>
          <ns1:prstGeom prst="rect">
            <ns1:avLst/>
          </ns1:prstGeom>
          <ns1:solidFill>
            <ns1:srgbClr val="FFF2EF"/>
          </ns1:solidFill>
          <ns1:ln w="14288">
            <ns1:solidFill>
              <ns1:srgbClr val="B44635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B44635"/>
                </ns1:solidFill>
              </ns1:defRPr>
            </ns1:defPPr>
          </ns1:lstStyle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不完整 / 冲突</ns1:t>
            </ns1:r>
          </ns1:p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保留未知和警告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609A93B6-5583-4712-92EE-D471CF25E46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476625"/>
            <ns1:ext cx="70485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B44635"/>
                </ns1:solidFill>
              </ns1:defRPr>
            </ns1:defPPr>
          </ns1:lstStyle>
          <ns1:p>
            <ns1:pPr>
              <ns1:defRPr sz="1650" b="0">
                <ns1:solidFill>
                  <ns1:srgbClr val="B44635"/>
                </ns1:solidFill>
              </ns1:defRPr>
            </ns1:pPr>
            <ns1:r>
              <ns1:rPr sz="1650" b="0">
                <ns1:solidFill>
                  <ns1:srgbClr val="B44635"/>
                </ns1:solidFill>
              </ns1:rPr>
              <ns1:t>环路 / 深度 / 版本冲突：终止展开并返回 data_unavailable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B847F342-D7E0-4D22-8AAD-1D30D047B688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4248150"/>
            <ns1:ext cx="666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167D70"/>
                </ns1:solidFill>
              </ns1:defRPr>
            </ns1:defPPr>
          </ns1:lstStyle>
          <ns1:p>
            <ns1:pPr>
              <ns1:defRPr sz="1500" b="0">
                <ns1:solidFill>
                  <ns1:srgbClr val="167D70"/>
                </ns1:solidFill>
              </ns1:defRPr>
            </ns1:pPr>
            <ns1:r>
              <ns1:rPr sz="1500" b="0">
                <ns1:solidFill>
                  <ns1:srgbClr val="167D70"/>
                </ns1:solidFill>
              </ns1:rPr>
              <ns1:t>是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9306A507-CEB5-4E8D-A67D-9F13E1ABA80A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5238750"/>
            <ns1:ext cx="666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B44635"/>
                </ns1:solidFill>
              </ns1:defRPr>
            </ns1:defPPr>
          </ns1:lstStyle>
          <ns1:p>
            <ns1:pPr>
              <ns1:defRPr sz="1500" b="0">
                <ns1:solidFill>
                  <ns1:srgbClr val="B44635"/>
                </ns1:solidFill>
              </ns1:defRPr>
            </ns1:pPr>
            <ns1:r>
              <ns1:rPr sz="1500" b="0">
                <ns1:solidFill>
                  <ns1:srgbClr val="B44635"/>
                </ns1:solidFill>
              </ns1:rPr>
              <ns1:t>否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D0E312B2-F811-4D9A-9D12-F6B59AA43E63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153150"/>
            <ns1:ext cx="11144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27487"/>
                </ns1:solidFill>
              </ns1:defRPr>
            </ns1:defPPr>
          </ns1:lstStyle>
          <ns1:p>
            <ns1:pPr>
              <ns1:defRPr sz="1350" b="0">
                <ns1:solidFill>
                  <ns1:srgbClr val="627487"/>
                </ns1:solidFill>
              </ns1:defRPr>
            </ns1:pPr>
            <ns1:r>
              <ns1:rPr sz="1350" b="0">
                <ns1:solidFill>
                  <ns1:srgbClr val="627487"/>
                </ns1:solidFill>
              </ns1:rPr>
              <ns1:t>本次有生效日，进入多层路径；无生效日的直接子项备选路径见备注。</ns1:t>
            </ns1:r>
          </ns1:p>
        </ns0:txBody>
      </ns0:sp>
    </ns0:spTree>
    <ns0:extLst>
      <ns0:ext uri="{BB962C8B-B14F-4D97-AF65-F5344CB8AC3E}">
        <ns3:creationId val="596980737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8" name="">
            <ns1:extLst>
              <ns1:ext uri="{FF2B5EF4-FFF2-40B4-BE49-F238E27FC236}">
                <ns2:creationId id="{7254D2CE-CA5C-4B85-87B6-F7D8B8558AAE}"/>
              </ns1:ext>
            </ns1:extLst>
          </ns0:cNvPr>
          <ns0:cNvCxnSpPr>
            <ns1:stCxn id="16" idx="2"/>
            <ns1:endCxn id="27" idx="0"/>
          </ns0:cNvCxnSpPr>
          <ns0:nvPr/>
        </ns0:nvCxnSpPr>
        <ns0:spPr>
          <ns1:xfrm>
            <ns1:off x="4738688" y="3286125"/>
            <ns1:ext cx="947738" cy="2047875"/>
          </ns1:xfrm>
          <ns1:prstGeom prst="bentConnector4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6" name="">
            <ns1:extLst>
              <ns1:ext uri="{FF2B5EF4-FFF2-40B4-BE49-F238E27FC236}">
                <ns2:creationId id="{430D7731-FB84-4EE6-96E0-DD5AD427CB59}"/>
              </ns1:ext>
            </ns1:extLst>
          </ns0:cNvPr>
          <ns0:cNvCxnSpPr>
            <ns1:stCxn id="20" idx="0"/>
            <ns1:endCxn id="18" idx="2"/>
          </ns0:cNvCxnSpPr>
          <ns0:nvPr/>
        </ns0:nvCxnSpPr>
        <ns0:spPr>
          <ns1:xfrm flipH="1" flipV="1">
            <ns1:off x="10453688" y="3286125"/>
            <ns1:ext cx="214313" cy="1000125"/>
          </ns1:xfrm>
          <ns1:prstGeom prst="bentConnector4">
            <ns1:avLst>
              <ns1:gd name="adj1" fmla="val 0"/>
              <ns1:gd name="adj2" fmla="val 50000"/>
            </ns1:avLst>
          </ns1:prstGeom>
          <ns1:ln w="19050">
            <ns1:solidFill>
              <ns1:srgbClr val="B44635"/>
            </ns1:solidFill>
            <ns1:prstDash val="solid"/>
            <ns1:tailEnd type="triangle" w="sm" len="sm"/>
          </ns1:ln>
        </ns0:spPr>
      </ns0:cxnSp>
      <ns0:cxnSp>
        <ns0:nvCxnSpPr>
          <ns0:cNvPr id="25" name="">
            <ns1:extLst>
              <ns1:ext uri="{FF2B5EF4-FFF2-40B4-BE49-F238E27FC236}">
                <ns2:creationId id="{21982E47-B92C-43B4-8BFE-94C7434B4C99}"/>
              </ns1:ext>
            </ns1:extLst>
          </ns0:cNvPr>
          <ns0:cNvCxnSpPr>
            <ns1:stCxn id="19" idx="3"/>
            <ns1:endCxn id="20" idx="1"/>
          </ns0:cNvCxnSpPr>
          <ns0:nvPr/>
        </ns0:nvCxnSpPr>
        <ns0:spPr>
          <ns1:xfrm>
            <ns1:off x="9382125" y="4691063"/>
            <ns1:ext cx="23812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4" name="">
            <ns1:extLst>
              <ns1:ext uri="{FF2B5EF4-FFF2-40B4-BE49-F238E27FC236}">
                <ns2:creationId id="{53B01765-88AB-4BCE-9436-316D85A4D2F2}"/>
              </ns1:ext>
            </ns1:extLst>
          </ns0:cNvPr>
          <ns0:cNvCxnSpPr>
            <ns1:stCxn id="17" idx="2"/>
            <ns1:endCxn id="19" idx="0"/>
          </ns0:cNvCxnSpPr>
          <ns0:nvPr/>
        </ns0:nvCxnSpPr>
        <ns0:spPr>
          <ns1:xfrm>
            <ns1:off x="7905750" y="3286125"/>
            <ns1:ext cx="119063" cy="1000125"/>
          </ns1:xfrm>
          <ns1:prstGeom prst="bentConnector4">
            <ns1:avLst>
              <ns1:gd name="adj1" fmla="val 0"/>
              <ns1:gd name="adj2" fmla="val 50000"/>
            </ns1:avLst>
          </ns1:prstGeom>
          <ns1:ln w="19050">
            <ns1:solidFill>
              <ns1:srgbClr val="627487"/>
            </ns1:solidFill>
            <ns1:prstDash val="dash"/>
            <ns1:tailEnd type="triangle" w="sm" len="sm"/>
          </ns1:ln>
        </ns0:spPr>
      </ns0:cxnSp>
      <ns0:cxnSp>
        <ns0:nvCxnSpPr>
          <ns0:cNvPr id="23" name="">
            <ns1:extLst>
              <ns1:ext uri="{FF2B5EF4-FFF2-40B4-BE49-F238E27FC236}">
                <ns2:creationId id="{1BC94C0A-AC27-4A08-9A63-F63242AABE99}"/>
              </ns1:ext>
            </ns1:extLst>
          </ns0:cNvPr>
          <ns0:cNvCxnSpPr>
            <ns1:stCxn id="17" idx="3"/>
            <ns1:endCxn id="18" idx="1"/>
          </ns0:cNvCxnSpPr>
          <ns0:nvPr/>
        </ns0:nvCxnSpPr>
        <ns0:spPr>
          <ns1:xfrm>
            <ns1:off x="9048750" y="2881313"/>
            <ns1:ext cx="2857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2" name="">
            <ns1:extLst>
              <ns1:ext uri="{FF2B5EF4-FFF2-40B4-BE49-F238E27FC236}">
                <ns2:creationId id="{C716F53C-E026-4326-A01D-0F4DC4681B1C}"/>
              </ns1:ext>
            </ns1:extLst>
          </ns0:cNvPr>
          <ns0:cNvCxnSpPr>
            <ns1:stCxn id="16" idx="3"/>
            <ns1:endCxn id="17" idx="1"/>
          </ns0:cNvCxnSpPr>
          <ns0:nvPr/>
        </ns0:nvCxnSpPr>
        <ns0:spPr>
          <ns1:xfrm>
            <ns1:off x="6096000" y="2881313"/>
            <ns1:ext cx="6667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1" name="">
            <ns1:extLst>
              <ns1:ext uri="{FF2B5EF4-FFF2-40B4-BE49-F238E27FC236}">
                <ns2:creationId id="{87212062-E2B5-497F-9A79-B511704E71BD}"/>
              </ns1:ext>
            </ns1:extLst>
          </ns0:cNvPr>
          <ns0:cNvCxnSpPr>
            <ns1:stCxn id="15" idx="3"/>
            <ns1:endCxn id="16" idx="1"/>
          </ns0:cNvCxnSpPr>
          <ns0:nvPr/>
        </ns0:nvCxnSpPr>
        <ns0:spPr>
          <ns1:xfrm>
            <ns1:off x="2809875" y="2881313"/>
            <ns1:ext cx="57150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sp>
        <ns0:nvSpPr>
          <ns0:cNvPr id="31" name="">
            <ns1:extLst>
              <ns1:ext uri="{FF2B5EF4-FFF2-40B4-BE49-F238E27FC236}">
                <ns2:creationId id="{F7BBF50E-59A1-4A0A-8544-E657BDD6BC0E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142875"/>
            <ns1:ext cx="2381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53F73"/>
                </ns1:solidFill>
              </ns1:defRPr>
            </ns1:defPPr>
          </ns1:lstStyle>
          <ns1:p>
            <ns1:pPr>
              <ns1:defRPr sz="1800" b="1">
                <ns1:solidFill>
                  <ns1:srgbClr val="153F73"/>
                </ns1:solidFill>
              </ns1:defRPr>
            </ns1:pPr>
            <ns1:r>
              <ns1:rPr sz="1800" b="1">
                <ns1:solidFill>
                  <ns1:srgbClr val="153F73"/>
                </ns1:solidFill>
              </ns1:rPr>
              <ns1:t>PMC-Agent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73D060D-B5D1-4492-8F31-11BA9ACB8BA2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研究背景及动机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F13D033-6FA8-43ED-8EF5-DF3C3D63435D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85725"/>
            <ns1:ext cx="1952625" cy="400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1B14CE72-67F2-4B66-A00C-CFA540332BE9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模型方法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83AB19E-B212-42C0-8D83-09813A4A3878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实验结果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141CB6EF-65E4-4876-AC6F-2F8F6E2FDCB1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结论与讨论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F1D3BF2-8647-4ADB-9B87-5F5D762776D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90550"/>
            <ns1:ext cx="12192000" cy="38100"/>
          </ns1:xfrm>
          <ns1:prstGeom prst="rect">
            <ns1:avLst/>
          </ns1:prstGeom>
          <ns1:solidFill>
            <ns1:srgbClr val="D9E4EF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BAE73B9F-3996-4974-BEC1-31F49711E35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628650"/>
            <ns1:ext cx="838200" cy="762000"/>
          </ns1:xfrm>
          <ns1:prstGeom prst="rect">
            <ns1:avLst/>
          </ns1:prstGeom>
          <ns1:solidFill>
            <ns1:srgbClr val="153F73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C654718D-946B-4705-8214-56295A7ED8D1}"/>
              </ns1:ext>
            </ns1:extLst>
          </ns0:cNvPr>
          <ns0:cNvSpPr>
            <ns1:spLocks noGrp="1"/>
          </ns0:cNvSpPr>
          <ns0:nvPr/>
        </ns0:nvSpPr>
        <ns0:spPr>
          <ns1:xfrm>
            <ns1:off x="133350" y="800100"/>
            <ns1:ext cx="6858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0">
                <ns1:solidFill>
                  <ns1:srgbClr val="FFFFFF"/>
                </ns1:solidFill>
              </ns1:defRPr>
            </ns1:defPPr>
          </ns1:lstStyle>
          <ns1:p>
            <ns1:pPr>
              <ns1:defRPr sz="3150" b="0">
                <ns1:solidFill>
                  <ns1:srgbClr val="FFFFFF"/>
                </ns1:solidFill>
              </ns1:defRPr>
            </ns1:pPr>
            <ns1:r>
              <ns1:rPr sz="3150" b="0">
                <ns1:solidFill>
                  <ns1:srgbClr val="FFFFFF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61A314A-78E5-4B19-A01A-F3EFF7F93CA9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819150"/>
            <ns1:ext cx="107632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53F73"/>
                </ns1:solidFill>
              </ns1:defRPr>
            </ns1:defPPr>
          </ns1:lstStyle>
          <ns1:p>
            <ns1:pPr>
              <ns1:defRPr sz="2700" b="1">
                <ns1:solidFill>
                  <ns1:srgbClr val="153F73"/>
                </ns1:solidFill>
              </ns1:defRPr>
            </ns1:pPr>
            <ns1:r>
              <ns1:rPr sz="2700" b="1">
                <ns1:solidFill>
                  <ns1:srgbClr val="153F73"/>
                </ns1:solidFill>
              </ns1:rPr>
              <ns1:t>图8  证据校验与结果输出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ADEF1C48-9521-4EF8-BB61-F169518D228F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381125"/>
            <ns1:ext cx="12192000" cy="19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0396F883-526D-4BD3-866A-C9C46D050A9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609725"/>
            <ns1:ext cx="1114425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72D40"/>
                </ns1:solidFill>
              </ns1:defRPr>
            </ns1:defPPr>
          </ns1:lstStyle>
          <ns1:p>
            <ns1:pPr>
              <ns1:defRPr sz="1800" b="1">
                <ns1:solidFill>
                  <ns1:srgbClr val="172D40"/>
                </ns1:solidFill>
              </ns1:defRPr>
            </ns1:pPr>
            <ns1:r>
              <ns1:rPr sz="1800" b="1">
                <ns1:solidFill>
                  <ns1:srgbClr val="172D40"/>
                </ns1:solidFill>
              </ns1:rPr>
              <ns1:t>工具结果如何进入回答，语言层又能改动什么？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4BD9F06F-5C81-4AA2-80BD-C5F6F950389E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515100"/>
            <ns1:ext cx="57150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0">
                <ns1:solidFill>
                  <ns1:srgbClr val="627487"/>
                </ns1:solidFill>
              </ns1:defRPr>
            </ns1:defPPr>
          </ns1:lstStyle>
          <ns1:p>
            <ns1:pPr>
              <ns1:defRPr sz="1050" b="0">
                <ns1:solidFill>
                  <ns1:srgbClr val="627487"/>
                </ns1:solidFill>
              </ns1:defRPr>
            </ns1:pPr>
            <ns1:r>
              <ns1:rPr sz="1050" b="0">
                <ns1:solidFill>
                  <ns1:srgbClr val="627487"/>
                </ns1:solidFill>
              </ns1:rPr>
              <ns1:t>PMC-Agent 项目研究汇报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7A40197D-A55A-4477-B201-1EE2C8A143D0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86525"/>
            <ns1:ext cx="1047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0">
                <ns1:solidFill>
                  <ns1:srgbClr val="627487"/>
                </ns1:solidFill>
              </ns1:defRPr>
            </ns1:defPPr>
          </ns1:lstStyle>
          <ns1:p>
            <ns1:pPr>
              <ns1:defRPr sz="1200" b="0">
                <ns1:solidFill>
                  <ns1:srgbClr val="627487"/>
                </ns1:solidFill>
              </ns1:defRPr>
            </ns1:pPr>
            <ns1:r>
              <ns1:rPr sz="1200" b="0">
                <ns1:solidFill>
                  <ns1:srgbClr val="627487"/>
                </ns1:solidFill>
              </ns1:rPr>
              <ns1:t>10 / 22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BBA903B-E339-4BEF-9CB2-83371157560E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476500"/>
            <ns1:ext cx="228600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Tool 调用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结构化返回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42FBAF78-0D74-496B-AEA7-16CE255E3D60}"/>
              </ns1:ext>
            </ns1:extLst>
          </ns0:cNvPr>
          <ns0:cNvSpPr>
            <ns1:spLocks noGrp="1"/>
          </ns0:cNvSpPr>
          <ns0:nvPr/>
        </ns0:nvSpPr>
        <ns0:spPr>
          <ns1:xfrm>
            <ns1:off x="3381375" y="2476500"/>
            <ns1:ext cx="2714625" cy="809625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EvidenceCollector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查询 / 数据 / 来源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CC93CF1E-FC87-4834-98AF-FC6658E6AF83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2476500"/>
            <ns1:ext cx="228600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Python 事实说明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formatter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E848B0F6-D23A-47AD-8B52-BD6A8E762E2C}"/>
              </ns1:ext>
            </ns1:extLst>
          </ns0:cNvPr>
          <ns0:cNvSpPr>
            <ns1:spLocks noGrp="1"/>
          </ns0:cNvSpPr>
          <ns0:nvPr/>
        </ns0:nvSpPr>
        <ns0:spPr>
          <ns1:xfrm>
            <ns1:off x="9334500" y="2476500"/>
            <ns1:ext cx="2238375" cy="809625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业务回答
本次 Trial 用规则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/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833D5FC6-2BA9-47B7-A9F4-AD3E251F77E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4286250"/>
            <ns1:ext cx="2714625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可选 LLM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仅选择 statement_ids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1E33220E-4AA6-449F-9389-0912D0E4E3F1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4286250"/>
            <ns1:ext cx="2095500" cy="809625"/>
          </ns1:xfrm>
          <ns1:prstGeom prst="rect">
            <ns1:avLst/>
          </ns1:prstGeom>
          <ns1:solidFill>
            <ns1:srgbClr val="FFF2EF"/>
          </ns1:solidFill>
          <ns1:ln w="14288">
            <ns1:solidFill>
              <ns1:srgbClr val="B44635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B44635"/>
                </ns1:solidFill>
              </ns1:defRPr>
            </ns1:defPPr>
          </ns1:lstStyle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引用集校验
通过组合，失败回退</ns1:t>
            </ns1:r>
          </ns1:p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/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94549F0A-D506-468C-A5C5-673EB47C7247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5334000"/>
            <ns1:ext cx="3381375" cy="619125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展示投影与持久会话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来源可查、完整性不变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B4608A11-ACCC-4773-A65F-EB90A6D2015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191000"/>
            <ns1:ext cx="504825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72D40"/>
                </ns1:solidFill>
              </ns1:defRPr>
            </ns1:defPPr>
          </ns1:lstStyle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工具异常也收集失败证据</ns1:t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不补写库存或成功结果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043D4ABA-02AF-42E0-AB00-FFCC332049C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153150"/>
            <ns1:ext cx="11144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27487"/>
                </ns1:solidFill>
              </ns1:defRPr>
            </ns1:defPPr>
          </ns1:lstStyle>
          <ns1:p>
            <ns1:pPr>
              <ns1:defRPr sz="1350" b="0">
                <ns1:solidFill>
                  <ns1:srgbClr val="627487"/>
                </ns1:solidFill>
              </ns1:defRPr>
            </ns1:pPr>
            <ns1:r>
              <ns1:rPr sz="1350" b="0">
                <ns1:solidFill>
                  <ns1:srgbClr val="627487"/>
                </ns1:solidFill>
              </ns1:rPr>
              <ns1:t>蓝实线为主路径，灰虚线为开发可选模式，红线表示失败或回退。</ns1:t>
            </ns1:r>
          </ns1:p>
        </ns0:txBody>
      </ns0:sp>
    </ns0:spTree>
    <ns0:extLst>
      <ns0:ext uri="{BB962C8B-B14F-4D97-AF65-F5344CB8AC3E}">
        <ns3:creationId val="686966291"/>
      </ns0:ext>
    </ns0:extLst>
  </ns0:cSld>
</ns0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1E9EB-D209-4428-905A-ADDD06DCE25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239125" y="5048250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8D03D-C294-465E-9F0D-16CD2C04E18E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1738313" y="3190875"/>
            <a:ext cx="10953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1B692-233F-40E3-B00F-D8E4AE6FD9B6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2833688" y="2809875"/>
            <a:ext cx="3738563" cy="1428750"/>
          </a:xfrm>
          <a:prstGeom xmlns:a="http://schemas.openxmlformats.org/drawingml/2006/main" prst="bentConnector4">
            <a:avLst>
              <a:gd name="adj1" fmla="val 6115"/>
              <a:gd name="adj2" fmla="val 84000"/>
            </a:avLst>
          </a:prstGeom>
          <a:ln xmlns:a="http://schemas.openxmlformats.org/drawingml/2006/main" w="19050">
            <a:solidFill>
              <a:srgbClr val="B4463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ABB9-87B0-487C-B35C-01329F83F22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191500" y="3333750"/>
            <a:ext cx="476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7D70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2B985-3D3D-446C-805D-9FF64E90370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67375" y="2786063"/>
            <a:ext cx="904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57CC6-4C74-4140-9EF6-810B51ECFCA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52750" y="2786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03B33-9B27-4D1E-B7BB-FE474A3C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9C372-EA54-43CE-BECE-DC4BAD49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3CE5-7822-4828-8732-4B3D172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3B19E-1E2C-4E6D-AD08-CCC3451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7F759-62D5-4C1D-9AE4-B41767C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7635-AA78-44D2-9639-EA90BBE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61E6-346F-4E1E-BF69-8A2D8142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0A720-ABD4-4C80-BFBD-D0BAA9F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75D95-93B8-4D88-B05F-B97749B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FB098-3EED-4F4D-8A6D-C22C756A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图9  连续追问及证据复用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878B4-5795-447F-B5E0-FA86CCC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C59D2-398F-47C0-B10F-87A9640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“为什么不能生产”是否需要再次计算库存？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9E038-D402-4AAE-90FD-8D7A8C5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31C91-7B52-4818-BEEF-579DF26D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50B54-F5E1-4B0E-B4D3-DF8BFBD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上一轮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持久化结果与引用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F25F-CF39-4A7B-93C3-D5B0591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追问识别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BD56E-A021-4F1B-B7ED-4BED286F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32385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匹配任务？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对象 / 版本 / 数量 / 时点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19BBE-0689-4C73-B8EA-7C0C83F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复用历史 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标明非最新重查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C5E8C-F094-4239-876F-F82B9D4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524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未匹配 / 明确刷新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进入正常规划与校验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0C277-146A-4B01-806A-D74F05D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保存本轮回答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保留 reused_from_turn_id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09EF1-3528-42EC-BCE2-66BAEF7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7D70"/>
                </a:solidFill>
              </a:defRPr>
            </a:pPr>
            <a:r>
              <a:rPr sz="1650" b="0">
                <a:solidFill>
                  <a:srgbClr val="167D70"/>
                </a:solidFill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62225-5061-46BA-B9FA-72EDE5C0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4635"/>
                </a:solidFill>
              </a:defRPr>
            </a:pPr>
            <a:r>
              <a:rPr sz="1650" b="0">
                <a:solidFill>
                  <a:srgbClr val="B44635"/>
                </a:solidFill>
              </a:rPr>
              <a:t>否 / 刷新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E8CF3-5A52-406A-8599-2F1083A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原因追问实测不重复执行工具；改变数量后按新任务重新计算。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944809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32262-D32B-4A9C-BAFE-7AA5FEC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0AB9-A938-4749-A9C8-CB924AE0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8BB7F-CF6C-4A56-8138-F57ECEA6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E734-C721-40C9-BE89-5B79FA1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E581F-5E21-4EBC-A0C8-D6EE3D6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A56AD-47C9-4519-A4BB-383CCE10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1D84D-600A-4308-9D58-2C54A0D9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1C37-7470-4F52-87B8-659A62A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D73DD-78EF-4697-9944-B678BBE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73163-9FA5-418F-9424-96F236FA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完整案例：100台不足，50台齐套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1FC86-39C1-4B97-A75E-8D7E0C2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D46AF-4739-4ADA-9311-E76897A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同一数据版本下，任务修改与原因追问得到什么结果？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A3C0-96B6-4B3D-9BC5-D8311E6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EC3CB-A881-4746-8D70-DF4FDFB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12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FCAFE-602C-4659-9423-0144218E2ABA}"/>
              </a:ext>
            </a:extLst>
          </p:cNvPr>
          <p:cNvGraphicFramePr/>
          <p:nvPr/>
        </p:nvGraphicFramePr>
        <p:xfrm>
          <a:off xmlns:a="http://schemas.openxmlformats.org/drawingml/2006/main" x="523875" y="2238375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实际响应与业务含义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生产100台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4项叶子物料不足，保留缺口与来源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为什么不能生产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复用第1轮证据，不重新查询库存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生产50台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4项物料均齐套，结果与新数量绑定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展开来源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查看 BOM / 库存来源及快照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后续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100台采购建议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4项采购建议，合成成本1560.00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002DD-5A04-4096-A868-A5F169E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齐套口径不考虑设备、工时与工单审批；采购建议不等于实际下单。</a:t>
            </a:r>
          </a:p>
        </p:txBody>
      </p:sp>
    </p:spTree>
    <p:extLst>
      <p:ext uri="{BB962C8B-B14F-4D97-AF65-F5344CB8AC3E}">
        <p14:creationId xmlns:p14="http://schemas.microsoft.com/office/powerpoint/2010/main" val="1377591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C54F8-C7B2-4529-800B-F45BDA9D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A8E7E-56A7-4C77-83BD-C87272A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FCB71-0B46-496D-BA47-2FEFB0AE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602FA-D527-4A24-A001-491665B4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F0A0B-CFE4-421B-B94A-C98211E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0811A-80CB-4F76-88AE-5E262392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A31F9-4363-454A-B741-1D6608D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DB1AC-990A-46B4-9CE4-0265AAF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DF6F9-866A-4B0D-BAFA-4A7015B0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C4EB-BCE5-4EF8-9775-AE4E06A1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实验设置与版本绑定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81CB4-7CD3-4B4C-B638-5FE7850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A57F0-564B-43F1-BAC6-EFB6D818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这些结果在哪个环境、模式和数据时点下产生？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9E8E9-C5F6-46E9-AED6-91C4787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4142-10FA-43F0-AEC9-1385A9E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13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AAA2F-521A-4764-B7C3-2377ACA0F65B}"/>
              </a:ext>
            </a:extLst>
          </p:cNvPr>
          <p:cNvGraphicFramePr/>
          <p:nvPr/>
        </p:nvGraphicFramePr>
        <p:xfrm>
          <a:off xmlns:a="http://schemas.openxmlformats.org/drawingml/2006/main" x="523875" y="2143125"/>
          <a:ext xmlns:a="http://schemas.openxmlformats.org/drawingml/2006/main" cx="111442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72125"/>
                <a:gridCol w="5572125"/>
              </a:tblGrid>
              <a:tr h="5102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设置项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本次取值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代码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HEAD 95a526b + 当前未提交修改，关键源码 SHA 归档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模式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当前 Vue 独立编译 + Trial FastAPI，规则理解，rule_fallback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产品与BOM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DEMO-PMC-01 / V01，全部为合成数据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业务时点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生效日2026-10-02，库存2026-10-02 00:00 UTC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采购计划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开工日2026-10-20，合成价格为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复测日期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2026-10-12，本机 Edge，独立 SQLite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25AA7-19AC-4338-A6C4-D5E4D208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完整前端构建仍被测试 TypeScript 错误阻断；本次单独 Vite 编译成功。</a:t>
            </a:r>
          </a:p>
        </p:txBody>
      </p:sp>
    </p:spTree>
    <p:extLst>
      <p:ext uri="{BB962C8B-B14F-4D97-AF65-F5344CB8AC3E}">
        <p14:creationId xmlns:p14="http://schemas.microsoft.com/office/powerpoint/2010/main" val="1074101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7DED7-00D7-4027-AB64-894CF8E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642B8-2034-4611-B5BE-A435CED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380D5-D732-4962-A386-0F2150E5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5991-DFD0-421E-840C-B19D1DC4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85922-6380-48E8-9BCA-FDCDAE6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3E0B-ED23-4864-9FAB-E1C609F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EF574-493E-4E00-A7FA-0B28EB9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8CE5-9873-4B62-B002-2F7E820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2C519-A62C-4713-BCB3-F7A80C6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FD7EA-C889-49BF-B3E0-E854EC3C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数量边界：四种物料同时限制75台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A7B4-E62A-4504-9596-878E1853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B6788-2CDC-4395-B050-246958D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75台与76台的分界能否由原始用量和库存复算？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89B7-7190-47D9-9BB0-A2F771A8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AEA11-E594-4829-B3E6-780C4EC8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767B3-209D-4C0A-BC65-803FEC625702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8239125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7825"/>
                <a:gridCol w="1647825"/>
                <a:gridCol w="1647825"/>
                <a:gridCol w="1647825"/>
                <a:gridCol w="1647825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叶子物料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用量 件/台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可用库存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100台缺口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上限 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演示主板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演示芯片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演示电机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演示紧固件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5792C-805E-40F8-9025-EBF6AB2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实跑边界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52EF5-8E79-4AF2-9018-901EE00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50台：齐套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75台：齐套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76台：不足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100台：不足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8245C-C156-4174-B142-3F93CB53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需求 = 单台用量 × 目标数量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缺口 = max(需求 − 可用库存, 0)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理论上限 = min floor(各物料库存 ÷ 单台用量)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2478F-17F6-49A3-A0D2-E486C3A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只有数据完整、单位可比且快照一致时，系统才给出理论上限。</a:t>
            </a:r>
          </a:p>
        </p:txBody>
      </p:sp>
    </p:spTree>
    <p:extLst>
      <p:ext uri="{BB962C8B-B14F-4D97-AF65-F5344CB8AC3E}">
        <p14:creationId xmlns:p14="http://schemas.microsoft.com/office/powerpoint/2010/main" val="6105149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E6F3F-0284-4422-86C7-8E450D4E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F0002-25D6-488A-8844-D16F5E1F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6CE76-E9A5-4CC2-91D8-479E56EB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C5BFB-4F5C-4B35-AA80-2131474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AA73B-3DB2-4AA2-B53A-9EB0645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5EB93-F2E2-41DB-9300-85A53C1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A6319-FBF2-43CC-B8C0-3A731BAB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D6E0-0B13-4C19-B40E-AB1A029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E7BED-1943-4A9F-B00D-7A0090B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C5A6-F75A-4A37-B6B5-FF4A1B01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异常与交互：失败不产生替代数字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929E0-6373-47E6-B437-E9E66E4C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E6F16-9DD4-47EA-9539-4D77F380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非法数量和证据追问如何影响工具调用？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53383-DE42-4040-906D-864B4F78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2522C-F157-46E0-B527-FC32B76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15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2173-EBDD-47D2-8CAA-F04139E62247}"/>
              </a:ext>
            </a:extLst>
          </p:cNvPr>
          <p:cNvGraphicFramePr/>
          <p:nvPr/>
        </p:nvGraphicFramePr>
        <p:xfrm>
          <a:off xmlns:a="http://schemas.openxmlformats.org/drawingml/2006/main" x="523875" y="228600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情形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核验方式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可支持结论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真实HTTP响应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needs_input，不执行事实计算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原因追问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 reused_from_turn_id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复用100台证据，completed_steps为空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 / 76 边界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+专项测试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切换数量触发新计算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会话所有权拒绝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 test_remote_trial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跨账号读取受阻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网络错误 / UI恢复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历史验收文档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本次未专项复测，需另验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B0C3D-5B18-4792-9AF7-9EAE10F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本次专项：37 passed。软件测试计数不代表业务准确率。</a:t>
            </a:r>
          </a:p>
        </p:txBody>
      </p:sp>
    </p:spTree>
    <p:extLst>
      <p:ext uri="{BB962C8B-B14F-4D97-AF65-F5344CB8AC3E}">
        <p14:creationId xmlns:p14="http://schemas.microsoft.com/office/powerpoint/2010/main" val="20679395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81A67-3A69-4148-8E6F-C8D3282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7931-BC18-4025-8C42-D19E5BE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4C89-35A6-4F14-AF48-6988A7F5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9583-B1C5-451D-B9DF-1317CEB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C2A41-B9EA-4BCF-820C-4699ABC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93B0C-D79D-4067-A224-4CF57DB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3928D-7292-4514-BA92-F271906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5FC06-8C4A-49F0-BCD4-8C41D4C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1FDFA-A313-4FCB-960E-48EA64B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47448-9ED8-49E2-8415-A69CC60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验收覆盖与尚缺的效果比较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E441B-4100-4B2D-B54A-EDFED7F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9FB4-F325-48DE-92B1-CE36164C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当前证据足以支持哪些结论，哪些比较仍无法开展？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F0F72-7D13-45E5-8B9D-53E46FE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6A86F-83BD-4F3E-A6EA-86CF1717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109E8-1030-40B4-AE23-655B272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本次已核验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81BC0-CB7D-4244-B77A-3118670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同版本连续问答和来源展开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50 / 75 / 76 / 100 数量边界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0数量拒绝与证据复用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采购规则、价格与总成本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三个专项测试文件：37项通过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9403A-E0C5-43DA-9174-904209A8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A07E2-D3D0-414C-9E59-DC58BFC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仍缺对比证据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36862-1A0C-4DEC-8489-4E48604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没有人工或普通问答基线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未测真实业务决策准确率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未测现场节省时间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未测大样本延迟与并发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未重新跑当前完整软件测试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CC53A-54AE-416B-966C-D0D5031B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因此本页使用验收覆盖，不画无基线的提升率或对比柱状图。</a:t>
            </a:r>
          </a:p>
        </p:txBody>
      </p:sp>
    </p:spTree>
    <p:extLst>
      <p:ext uri="{BB962C8B-B14F-4D97-AF65-F5344CB8AC3E}">
        <p14:creationId xmlns:p14="http://schemas.microsoft.com/office/powerpoint/2010/main" val="2589837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F8F1C-3458-4D22-ADF1-99AE0A21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66BD-591C-4F50-8249-FE202FCD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96AD0-E2A1-41E8-8FEC-6FCD4991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28388-2465-4CCE-AFA1-3D6076D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323B2-A453-407F-92BF-0B56847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730DA-9E23-43A8-9E54-77F0642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4C346-6BFC-4D17-ABA0-DF545E1B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ACB64-3C87-403E-948A-08C5C15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7BAB-7E31-4BB8-AC0F-786B698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347BB-53F7-41F5-84E5-693BE11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当前系统截图：100台缺料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E6952-6DF2-4C70-BAA6-39181340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CB7DD-13EC-4F46-9B50-B8610D3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页面是否展示与真实响应一致的缺口？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EEFC-0830-4CCE-8D9A-157BD48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B2573-3AB3-4E22-9304-9F54D09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17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1C15A-27DE-4C5C-B817-D2C3D6BC5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eb0619bfb43f1"/>
          <a:stretch xmlns:a="http://schemas.openxmlformats.org/drawingml/2006/main"/>
        </p:blipFill>
        <p:spPr>
          <a:xfrm xmlns:a="http://schemas.openxmlformats.org/drawingml/2006/main">
            <a:off x="1147505" y="2171700"/>
            <a:ext cx="4658240" cy="36671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3A7DF-62C5-408F-99FE-FA3FD5792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491c2cba340b6"/>
          <a:stretch xmlns:a="http://schemas.openxmlformats.org/drawingml/2006/main"/>
        </p:blipFill>
        <p:spPr>
          <a:xfrm xmlns:a="http://schemas.openxmlformats.org/drawingml/2006/main">
            <a:off x="6572250" y="2343758"/>
            <a:ext cx="5095875" cy="336110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271A1-CEA8-44CC-838C-B0139986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2026-10-12，当前工作区，Trial规则模式，DEMO-PMC-01/V01合成数据。</a:t>
            </a:r>
          </a:p>
        </p:txBody>
      </p:sp>
    </p:spTree>
    <p:extLst>
      <p:ext uri="{BB962C8B-B14F-4D97-AF65-F5344CB8AC3E}">
        <p14:creationId xmlns:p14="http://schemas.microsoft.com/office/powerpoint/2010/main" val="1860840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55BB3-B8F3-4860-A165-88E0CE03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410B5-A87B-4A54-B524-702C8BD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4EA05-23E8-46CC-BCA3-E28AF29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3ED6C-620D-40D5-ABF1-FF64A70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46791-48B0-47C5-A303-587F4AE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E4B74-5663-4895-AE85-1EB900CD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97B4-A78D-4546-825C-60757EB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1475C-D53A-4836-AB91-7F3745D2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AA1F-D89A-4ADE-82C7-C97174D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E41F1-37E3-488B-8C1E-632C7DB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当前系统截图：追问与50台齐套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A8EB6-14E6-42D9-BFE1-D4ACBB64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4E215-D3A6-4600-868E-FA6756C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从解释原因到修改数量，页面是否同步新任务？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E1282-F889-4C41-887A-3C4D7FF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37A3-D115-4800-B1D9-BE72E87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18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22A4D-177C-48CF-93F8-AE99A80A6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c50360bb7421b"/>
          <a:stretch xmlns:a="http://schemas.openxmlformats.org/drawingml/2006/main"/>
        </p:blipFill>
        <p:spPr>
          <a:xfrm xmlns:a="http://schemas.openxmlformats.org/drawingml/2006/main">
            <a:off x="476250" y="2556950"/>
            <a:ext cx="5619750" cy="2706126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EBB70-120F-48B7-B701-476611BEA7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39057378b4a02"/>
          <a:stretch xmlns:a="http://schemas.openxmlformats.org/drawingml/2006/main"/>
        </p:blipFill>
        <p:spPr>
          <a:xfrm xmlns:a="http://schemas.openxmlformats.org/drawingml/2006/main">
            <a:off x="6381750" y="2124915"/>
            <a:ext cx="5334000" cy="360829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74A62-C29C-4445-998A-BFF503E5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73"/>
                </a:solidFill>
              </a:defRPr>
            </a:pPr>
            <a:r>
              <a:rPr sz="1575" b="1">
                <a:solidFill>
                  <a:srgbClr val="153F73"/>
                </a:solidFill>
              </a:rPr>
              <a:t>原因追问：说明“不是最新库存重查”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DBC87-C4BB-4C31-8C57-1157BED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388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7D70"/>
                </a:solidFill>
              </a:defRPr>
            </a:pPr>
            <a:r>
              <a:rPr sz="1575" b="1">
                <a:solidFill>
                  <a:srgbClr val="167D70"/>
                </a:solidFill>
              </a:rPr>
              <a:t>50台：主板50/75，其余物料缺口均0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C8BD7-EA11-4645-97E9-EEF2A49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同一会话、同一数据版本。两幅图仅裁剪原始截图，未改动业务结果。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10105860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98931-53FD-4471-B301-F1D44592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29887-FAC9-46A6-AD70-ADC64BE3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28285-2A2D-4841-AC7D-E14B56C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F7BD-5F0F-47A1-B83F-683B202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06EA-97DD-41B2-8703-17DCBBD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39D02-BBE3-4537-9A0B-8C125D6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79A5F-C7F9-4DA7-9CE0-5A84360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0F9FE-2E6D-4D9E-9AAC-D2FB4C9D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EDC6B-8275-43F9-90F5-4829D24E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12CD9-4498-4875-97DF-F58D546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当前系统截图：来源与适用条件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E349-53D7-46A9-BAA6-EF9959E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C5771-1E1B-4DA7-8FB2-5F4EECF1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结论能否定位到具体事实文件、版本和库存时点？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9F05B-7FB3-4657-9BAD-D569BEB7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2B24-23ED-4AD9-B3EE-ACD6AE98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19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2B8AE-487E-4DDD-A1E6-76A25E399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d7616d5a47cf"/>
          <a:stretch xmlns:a="http://schemas.openxmlformats.org/drawingml/2006/main"/>
        </p:blipFill>
        <p:spPr>
          <a:xfrm xmlns:a="http://schemas.openxmlformats.org/drawingml/2006/main">
            <a:off x="523875" y="2312811"/>
            <a:ext cx="4953000" cy="3375378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1929F-C11D-48FE-866C-E839325F3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87938b6bc4a40"/>
          <a:stretch xmlns:a="http://schemas.openxmlformats.org/drawingml/2006/main"/>
        </p:blipFill>
        <p:spPr>
          <a:xfrm xmlns:a="http://schemas.openxmlformats.org/drawingml/2006/main">
            <a:off x="6000750" y="2323394"/>
            <a:ext cx="5524500" cy="2782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52A8-6A98-4AC3-B6D1-3CB000BA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BOM版本 V01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库存快照 2026-10-02 00:00 UTC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来源保留批次和文件校验摘要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1B16F-2B1A-4B0D-BE51-284E5C9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Trial规则模式，合成事实。来源页字段“未提供”保持原样，未补写。</a:t>
            </a:r>
          </a:p>
        </p:txBody>
      </p:sp>
    </p:spTree>
    <p:extLst>
      <p:ext uri="{BB962C8B-B14F-4D97-AF65-F5344CB8AC3E}">
        <p14:creationId xmlns:p14="http://schemas.microsoft.com/office/powerpoint/2010/main" val="9415403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CBFB5-C5B7-4595-A0AC-EC1321C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5C221-5966-4C28-B757-02949A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ECF5-8F12-4D15-B09B-ADEF1B8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970A9-5809-4B66-8286-26F91A89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8FCE3-C849-46D5-AB45-35E16660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B42B9-20C5-465B-9468-94E7A0F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11AA1-C12E-4107-BB39-1EDA48E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EE76D-F46C-4484-9211-76A9D2F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3E36A-B581-4828-A2DA-EB1E411F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287D7-3BD6-4A44-A709-EE6C5FC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能力边界：数量核对与业务放行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D93F1-14C3-4831-8839-64C2FC7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D6152-C48E-48EE-8E33-CF494814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系统的计算结果能否直接用于排产、采购或交期承诺？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83A22-4185-42EA-BEF7-D50DCD2A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0D9F1-2F01-487A-A0A6-006410A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20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61235-5272-40FC-9F94-BDF93E30C031}"/>
              </a:ext>
            </a:extLst>
          </p:cNvPr>
          <p:cNvGraphicFramePr/>
          <p:nvPr/>
        </p:nvGraphicFramePr>
        <p:xfrm>
          <a:off xmlns:a="http://schemas.openxmlformats.org/drawingml/2006/main" x="523875" y="2381250"/>
          <a:ext xmlns:a="http://schemas.openxmlformats.org/drawingml/2006/main" cx="111442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可提供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必要条件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不可据此承诺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BOM与物料需求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已发布版本、用量与单位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BOM工程正确性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库存齐套与理论上限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完整权威可用量与一致快照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设备工时、工单放行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采购数量与合成成本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MOQ、倍数、价格与日期完整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实际订单、供应商交期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历史原因和来源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同一任务绑定的证据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实时ERP同步与最新库存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CEF0A-3501-465C-B588-843981D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1560.00 CNY 为合成采购测算：30×20 +100×2 +50×15 +200×0.05。</a:t>
            </a:r>
          </a:p>
        </p:txBody>
      </p:sp>
    </p:spTree>
    <p:extLst>
      <p:ext uri="{BB962C8B-B14F-4D97-AF65-F5344CB8AC3E}">
        <p14:creationId xmlns:p14="http://schemas.microsoft.com/office/powerpoint/2010/main" val="5433203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459EC-A210-492E-9536-51516272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E24A-A829-4062-9FA9-0D0B467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EBF1B-8B88-44C5-959C-8AAD1216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BF92-F629-41CD-8364-DAFA8A67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37464-DBF5-47B5-A8DC-39A9CAF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A0DCE-C998-43C9-B4E9-4DE0C86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0854-AAED-4883-8DC7-8BF47DA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D8540-0FBE-4428-93AD-6760F94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3B23-4EF7-46A4-B68F-78EFCB3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7A1D8-C0DF-489B-BDF4-18175A2C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局限与后续验证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76806-AC37-41B6-B508-377B08B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E071F-DE98-4F93-9CF3-E2D3A30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当前演示与真实生产部署之间还缺哪些证据？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513A-BE74-4EB8-80FE-E2ED78F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D3E24-2763-4DD3-848E-E50A139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E0655-42A8-43E9-9246-48F6E91B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数据与实验局限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3DF71-E342-4A29-995C-E3102FC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本次只复测固定合成场景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库存为版本化快照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缺少真实设备与工时约束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没有真实基线和用户效果数据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36AFF-3266-4EA0-9109-C97AC6C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B1A05-A027-4B2A-8A2F-6241548C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工程与后续工作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044DF-1E08-48A9-AC1F-91BD083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完整前端构建仍有类型错误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修复后重新完成全量验收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扩大任务集并加入缺失数据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建立人工/普通问答统一比较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独立验证现场权限与交付流程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D5FB8-3226-497E-BF6F-68F1CAA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外部供应风险预测、自动下单与实时 ERP 接入不作为当前已实现成果。</a:t>
            </a:r>
          </a:p>
        </p:txBody>
      </p:sp>
    </p:spTree>
    <p:extLst>
      <p:ext uri="{BB962C8B-B14F-4D97-AF65-F5344CB8AC3E}">
        <p14:creationId xmlns:p14="http://schemas.microsoft.com/office/powerpoint/2010/main" val="96407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3EC74-C2B1-42DC-9186-757AF88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F9FA-C027-468E-8AF6-5C7B302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AA62B-C247-43D7-9784-E4E8116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DAF16-D1D0-411E-90F5-D6D7671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7CCC8-073B-487F-AADC-266F6DF7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FC707-0EAB-4BB3-BA7A-3748AEF1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97EED-BD69-4141-9BCA-73FB452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F5CAC-DD6A-43E5-85D2-43A3DCC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BCE3C-CF9F-4918-9437-998214C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CBBE1-31FC-4102-B56D-B10617A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结论与致谢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82ED8-75AA-46AF-B3E7-158B6A1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EE87D-B457-40A0-A557-EC3858E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本次可验证的项目贡献是什么？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8140D-13DA-4ACD-A6EC-15618F4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814B8-7697-42FB-999A-417683EC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3CA5C-5AD8-48DC-8075-D737104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F73"/>
                </a:solidFill>
              </a:defRPr>
            </a:pPr>
            <a:r>
              <a:rPr sz="3225" b="1">
                <a:solidFill>
                  <a:srgbClr val="153F73"/>
                </a:solidFill>
              </a:rPr>
              <a:t>可核查的物料计划辅助流程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FC4CF-46BF-4852-BDA0-DE56BDA5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受控事实限定数据范围，Python 计算业务数量。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连续追问核对任务绑定，Evidence 支撑原因与来源查询。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合成案例复测支持数量边界和采购规则，真实业务效果仍待验证。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6F28B-6484-4973-96FE-ACAFC2C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73"/>
                </a:solidFill>
              </a:defRPr>
            </a:pPr>
            <a:r>
              <a:rPr sz="2550" b="1">
                <a:solidFill>
                  <a:srgbClr val="153F73"/>
                </a:solidFill>
              </a:rPr>
              <a:t>感谢聆听，欢迎批评指正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1182859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2026-10-12T02:53:03.6140000Z</dcterms:created>
  <dcterms:modified xsi:type="dcterms:W3CDTF">2026-10-12T02:53:03.6140000Z</dcterms:modified>
</coreProperties>
</file>